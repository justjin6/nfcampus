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ucky Bones" charset="1" panose="00000800000000000000"/>
      <p:regular r:id="rId18"/>
    </p:embeddedFont>
    <p:embeddedFont>
      <p:font typeface="Luckiest Guy" charset="1" panose="02000506000000020004"/>
      <p:regular r:id="rId19"/>
    </p:embeddedFont>
    <p:embeddedFont>
      <p:font typeface="Comic Sans" charset="1" panose="03000702030302020204"/>
      <p:regular r:id="rId20"/>
    </p:embeddedFont>
    <p:embeddedFont>
      <p:font typeface="Alice Bold" charset="1" panose="00000500000000000000"/>
      <p:regular r:id="rId21"/>
    </p:embeddedFont>
    <p:embeddedFont>
      <p:font typeface="Inter Bold" charset="1" panose="020B0802030000000004"/>
      <p:regular r:id="rId22"/>
    </p:embeddedFont>
    <p:embeddedFont>
      <p:font typeface="Canva Sans Bold" charset="1" panose="020B0803030501040103"/>
      <p:regular r:id="rId23"/>
    </p:embeddedFont>
    <p:embeddedFont>
      <p:font typeface="Comic Sans Bold" charset="1" panose="03000902030302020204"/>
      <p:regular r:id="rId24"/>
    </p:embeddedFont>
    <p:embeddedFont>
      <p:font typeface="Arial Bold" charset="1" panose="020B0704020202020204"/>
      <p:regular r:id="rId25"/>
    </p:embeddedFont>
    <p:embeddedFont>
      <p:font typeface="Arial" charset="1" panose="020B0604020202020204"/>
      <p:regular r:id="rId26"/>
    </p:embeddedFont>
    <p:embeddedFont>
      <p:font typeface="Canva Sans" charset="1" panose="020B0503030501040103"/>
      <p:regular r:id="rId27"/>
    </p:embeddedFont>
    <p:embeddedFont>
      <p:font typeface="ITC Benguiat Condensed Bold" charset="1" panose="020308060503060207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8C4FF"/>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028700"/>
            <a:ext cx="16230082" cy="8229600"/>
            <a:chOff x="0" y="0"/>
            <a:chExt cx="47097642" cy="23881256"/>
          </a:xfrm>
        </p:grpSpPr>
        <p:sp>
          <p:nvSpPr>
            <p:cNvPr name="Freeform 24" id="24"/>
            <p:cNvSpPr/>
            <p:nvPr/>
          </p:nvSpPr>
          <p:spPr>
            <a:xfrm flipH="false" flipV="false" rot="0">
              <a:off x="72390" y="72390"/>
              <a:ext cx="46952861" cy="23736476"/>
            </a:xfrm>
            <a:custGeom>
              <a:avLst/>
              <a:gdLst/>
              <a:ahLst/>
              <a:cxnLst/>
              <a:rect r="r" b="b" t="t" l="l"/>
              <a:pathLst>
                <a:path h="23736476" w="46952861">
                  <a:moveTo>
                    <a:pt x="0" y="0"/>
                  </a:moveTo>
                  <a:lnTo>
                    <a:pt x="46952861" y="0"/>
                  </a:lnTo>
                  <a:lnTo>
                    <a:pt x="46952861" y="23736476"/>
                  </a:lnTo>
                  <a:lnTo>
                    <a:pt x="0" y="23736476"/>
                  </a:lnTo>
                  <a:lnTo>
                    <a:pt x="0" y="0"/>
                  </a:lnTo>
                  <a:close/>
                </a:path>
              </a:pathLst>
            </a:custGeom>
            <a:solidFill>
              <a:srgbClr val="FFFFFF"/>
            </a:solidFill>
          </p:spPr>
        </p:sp>
        <p:sp>
          <p:nvSpPr>
            <p:cNvPr name="Freeform 25" id="25"/>
            <p:cNvSpPr/>
            <p:nvPr/>
          </p:nvSpPr>
          <p:spPr>
            <a:xfrm flipH="false" flipV="false" rot="0">
              <a:off x="0" y="0"/>
              <a:ext cx="47097643" cy="23881257"/>
            </a:xfrm>
            <a:custGeom>
              <a:avLst/>
              <a:gdLst/>
              <a:ahLst/>
              <a:cxnLst/>
              <a:rect r="r" b="b" t="t" l="l"/>
              <a:pathLst>
                <a:path h="23881257" w="47097643">
                  <a:moveTo>
                    <a:pt x="46952861" y="23736477"/>
                  </a:moveTo>
                  <a:lnTo>
                    <a:pt x="47097643" y="23736477"/>
                  </a:lnTo>
                  <a:lnTo>
                    <a:pt x="47097643" y="23881257"/>
                  </a:lnTo>
                  <a:lnTo>
                    <a:pt x="46952861" y="23881257"/>
                  </a:lnTo>
                  <a:lnTo>
                    <a:pt x="46952861" y="23736477"/>
                  </a:lnTo>
                  <a:close/>
                  <a:moveTo>
                    <a:pt x="0" y="144780"/>
                  </a:moveTo>
                  <a:lnTo>
                    <a:pt x="144780" y="144780"/>
                  </a:lnTo>
                  <a:lnTo>
                    <a:pt x="144780" y="23736477"/>
                  </a:lnTo>
                  <a:lnTo>
                    <a:pt x="0" y="23736477"/>
                  </a:lnTo>
                  <a:lnTo>
                    <a:pt x="0" y="144780"/>
                  </a:lnTo>
                  <a:close/>
                  <a:moveTo>
                    <a:pt x="0" y="23736477"/>
                  </a:moveTo>
                  <a:lnTo>
                    <a:pt x="144780" y="23736477"/>
                  </a:lnTo>
                  <a:lnTo>
                    <a:pt x="144780" y="23881257"/>
                  </a:lnTo>
                  <a:lnTo>
                    <a:pt x="0" y="23881257"/>
                  </a:lnTo>
                  <a:lnTo>
                    <a:pt x="0" y="23736477"/>
                  </a:lnTo>
                  <a:close/>
                  <a:moveTo>
                    <a:pt x="46952861" y="144780"/>
                  </a:moveTo>
                  <a:lnTo>
                    <a:pt x="47097643" y="144780"/>
                  </a:lnTo>
                  <a:lnTo>
                    <a:pt x="47097643" y="23736477"/>
                  </a:lnTo>
                  <a:lnTo>
                    <a:pt x="46952861" y="23736477"/>
                  </a:lnTo>
                  <a:lnTo>
                    <a:pt x="46952861" y="144780"/>
                  </a:lnTo>
                  <a:close/>
                  <a:moveTo>
                    <a:pt x="144780" y="23736477"/>
                  </a:moveTo>
                  <a:lnTo>
                    <a:pt x="46952861" y="23736477"/>
                  </a:lnTo>
                  <a:lnTo>
                    <a:pt x="46952861" y="23881257"/>
                  </a:lnTo>
                  <a:lnTo>
                    <a:pt x="144780" y="23881257"/>
                  </a:lnTo>
                  <a:lnTo>
                    <a:pt x="144780" y="23736477"/>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6" id="26"/>
          <p:cNvGrpSpPr/>
          <p:nvPr/>
        </p:nvGrpSpPr>
        <p:grpSpPr>
          <a:xfrm rot="0">
            <a:off x="4069229" y="1415323"/>
            <a:ext cx="10149543" cy="1269572"/>
            <a:chOff x="0" y="0"/>
            <a:chExt cx="13532724" cy="1692763"/>
          </a:xfrm>
        </p:grpSpPr>
        <p:sp>
          <p:nvSpPr>
            <p:cNvPr name="Freeform 27" id="27"/>
            <p:cNvSpPr/>
            <p:nvPr/>
          </p:nvSpPr>
          <p:spPr>
            <a:xfrm flipH="false" flipV="false" rot="0">
              <a:off x="0" y="103481"/>
              <a:ext cx="5983180" cy="1589282"/>
            </a:xfrm>
            <a:custGeom>
              <a:avLst/>
              <a:gdLst/>
              <a:ahLst/>
              <a:cxnLst/>
              <a:rect r="r" b="b" t="t" l="l"/>
              <a:pathLst>
                <a:path h="1589282" w="5983180">
                  <a:moveTo>
                    <a:pt x="0" y="0"/>
                  </a:moveTo>
                  <a:lnTo>
                    <a:pt x="5983180" y="0"/>
                  </a:lnTo>
                  <a:lnTo>
                    <a:pt x="5983180" y="1589282"/>
                  </a:lnTo>
                  <a:lnTo>
                    <a:pt x="0" y="1589282"/>
                  </a:lnTo>
                  <a:lnTo>
                    <a:pt x="0" y="0"/>
                  </a:lnTo>
                  <a:close/>
                </a:path>
              </a:pathLst>
            </a:custGeom>
            <a:blipFill>
              <a:blip r:embed="rId4"/>
              <a:stretch>
                <a:fillRect l="0" t="0" r="0" b="0"/>
              </a:stretch>
            </a:blipFill>
          </p:spPr>
        </p:sp>
        <p:sp>
          <p:nvSpPr>
            <p:cNvPr name="Freeform 28" id="28"/>
            <p:cNvSpPr/>
            <p:nvPr/>
          </p:nvSpPr>
          <p:spPr>
            <a:xfrm flipH="false" flipV="false" rot="0">
              <a:off x="6656042" y="0"/>
              <a:ext cx="6876682" cy="1692763"/>
            </a:xfrm>
            <a:custGeom>
              <a:avLst/>
              <a:gdLst/>
              <a:ahLst/>
              <a:cxnLst/>
              <a:rect r="r" b="b" t="t" l="l"/>
              <a:pathLst>
                <a:path h="1692763" w="6876682">
                  <a:moveTo>
                    <a:pt x="0" y="0"/>
                  </a:moveTo>
                  <a:lnTo>
                    <a:pt x="6876682" y="0"/>
                  </a:lnTo>
                  <a:lnTo>
                    <a:pt x="6876682" y="1692763"/>
                  </a:lnTo>
                  <a:lnTo>
                    <a:pt x="0" y="1692763"/>
                  </a:lnTo>
                  <a:lnTo>
                    <a:pt x="0" y="0"/>
                  </a:lnTo>
                  <a:close/>
                </a:path>
              </a:pathLst>
            </a:custGeom>
            <a:blipFill>
              <a:blip r:embed="rId5"/>
              <a:stretch>
                <a:fillRect l="0" t="-60173" r="0" b="-65289"/>
              </a:stretch>
            </a:blipFill>
          </p:spPr>
        </p:sp>
      </p:grpSp>
      <p:sp>
        <p:nvSpPr>
          <p:cNvPr name="TextBox 29" id="29"/>
          <p:cNvSpPr txBox="true"/>
          <p:nvPr/>
        </p:nvSpPr>
        <p:spPr>
          <a:xfrm rot="0">
            <a:off x="3053357" y="4915865"/>
            <a:ext cx="12181286" cy="727075"/>
          </a:xfrm>
          <a:prstGeom prst="rect">
            <a:avLst/>
          </a:prstGeom>
        </p:spPr>
        <p:txBody>
          <a:bodyPr anchor="t" rtlCol="false" tIns="0" lIns="0" bIns="0" rIns="0">
            <a:spAutoFit/>
          </a:bodyPr>
          <a:lstStyle/>
          <a:p>
            <a:pPr algn="ctr">
              <a:lnSpc>
                <a:spcPts val="5750"/>
              </a:lnSpc>
            </a:pPr>
            <a:r>
              <a:rPr lang="en-US" sz="5000">
                <a:solidFill>
                  <a:srgbClr val="000000"/>
                </a:solidFill>
                <a:latin typeface="Lucky Bones"/>
                <a:ea typeface="Lucky Bones"/>
                <a:cs typeface="Lucky Bones"/>
                <a:sym typeface="Lucky Bones"/>
              </a:rPr>
              <a:t>Computing Group Project</a:t>
            </a:r>
          </a:p>
        </p:txBody>
      </p:sp>
      <p:sp>
        <p:nvSpPr>
          <p:cNvPr name="TextBox 30" id="30"/>
          <p:cNvSpPr txBox="true"/>
          <p:nvPr/>
        </p:nvSpPr>
        <p:spPr>
          <a:xfrm rot="0">
            <a:off x="5018370" y="3043670"/>
            <a:ext cx="8426971" cy="2581275"/>
          </a:xfrm>
          <a:prstGeom prst="rect">
            <a:avLst/>
          </a:prstGeom>
        </p:spPr>
        <p:txBody>
          <a:bodyPr anchor="t" rtlCol="false" tIns="0" lIns="0" bIns="0" rIns="0">
            <a:spAutoFit/>
          </a:bodyPr>
          <a:lstStyle/>
          <a:p>
            <a:pPr algn="ctr">
              <a:lnSpc>
                <a:spcPts val="21000"/>
              </a:lnSpc>
            </a:pPr>
            <a:r>
              <a:rPr lang="en-US" sz="15000">
                <a:solidFill>
                  <a:srgbClr val="000000"/>
                </a:solidFill>
                <a:latin typeface="Luckiest Guy"/>
                <a:ea typeface="Luckiest Guy"/>
                <a:cs typeface="Luckiest Guy"/>
                <a:sym typeface="Luckiest Guy"/>
              </a:rPr>
              <a:t>MAL2020</a:t>
            </a:r>
          </a:p>
        </p:txBody>
      </p:sp>
      <p:sp>
        <p:nvSpPr>
          <p:cNvPr name="TextBox 31" id="31"/>
          <p:cNvSpPr txBox="true"/>
          <p:nvPr/>
        </p:nvSpPr>
        <p:spPr>
          <a:xfrm rot="0">
            <a:off x="5075856" y="3304020"/>
            <a:ext cx="8136288" cy="2209800"/>
          </a:xfrm>
          <a:prstGeom prst="rect">
            <a:avLst/>
          </a:prstGeom>
        </p:spPr>
        <p:txBody>
          <a:bodyPr anchor="t" rtlCol="false" tIns="0" lIns="0" bIns="0" rIns="0">
            <a:spAutoFit/>
          </a:bodyPr>
          <a:lstStyle/>
          <a:p>
            <a:pPr algn="ctr">
              <a:lnSpc>
                <a:spcPts val="17250"/>
              </a:lnSpc>
            </a:pPr>
            <a:r>
              <a:rPr lang="en-US" sz="15000">
                <a:solidFill>
                  <a:srgbClr val="FFDE85"/>
                </a:solidFill>
                <a:latin typeface="Luckiest Guy"/>
                <a:ea typeface="Luckiest Guy"/>
                <a:cs typeface="Luckiest Guy"/>
                <a:sym typeface="Luckiest Guy"/>
              </a:rPr>
              <a:t>M</a:t>
            </a:r>
            <a:r>
              <a:rPr lang="en-US" sz="15000">
                <a:solidFill>
                  <a:srgbClr val="FCB1D4"/>
                </a:solidFill>
                <a:latin typeface="Luckiest Guy"/>
                <a:ea typeface="Luckiest Guy"/>
                <a:cs typeface="Luckiest Guy"/>
                <a:sym typeface="Luckiest Guy"/>
              </a:rPr>
              <a:t>A</a:t>
            </a:r>
            <a:r>
              <a:rPr lang="en-US" sz="15000">
                <a:solidFill>
                  <a:srgbClr val="D8C4FF"/>
                </a:solidFill>
                <a:latin typeface="Luckiest Guy"/>
                <a:ea typeface="Luckiest Guy"/>
                <a:cs typeface="Luckiest Guy"/>
                <a:sym typeface="Luckiest Guy"/>
              </a:rPr>
              <a:t>L</a:t>
            </a:r>
            <a:r>
              <a:rPr lang="en-US" sz="15000">
                <a:solidFill>
                  <a:srgbClr val="ABE5D8"/>
                </a:solidFill>
                <a:latin typeface="Luckiest Guy"/>
                <a:ea typeface="Luckiest Guy"/>
                <a:cs typeface="Luckiest Guy"/>
                <a:sym typeface="Luckiest Guy"/>
              </a:rPr>
              <a:t>2</a:t>
            </a:r>
            <a:r>
              <a:rPr lang="en-US" sz="15000">
                <a:solidFill>
                  <a:srgbClr val="B6E0FF"/>
                </a:solidFill>
                <a:latin typeface="Luckiest Guy"/>
                <a:ea typeface="Luckiest Guy"/>
                <a:cs typeface="Luckiest Guy"/>
                <a:sym typeface="Luckiest Guy"/>
              </a:rPr>
              <a:t>0</a:t>
            </a:r>
            <a:r>
              <a:rPr lang="en-US" sz="15000">
                <a:solidFill>
                  <a:srgbClr val="ABE5D8"/>
                </a:solidFill>
                <a:latin typeface="Luckiest Guy"/>
                <a:ea typeface="Luckiest Guy"/>
                <a:cs typeface="Luckiest Guy"/>
                <a:sym typeface="Luckiest Guy"/>
              </a:rPr>
              <a:t>2</a:t>
            </a:r>
            <a:r>
              <a:rPr lang="en-US" sz="15000">
                <a:solidFill>
                  <a:srgbClr val="B6E0FF"/>
                </a:solidFill>
                <a:latin typeface="Luckiest Guy"/>
                <a:ea typeface="Luckiest Guy"/>
                <a:cs typeface="Luckiest Guy"/>
                <a:sym typeface="Luckiest Guy"/>
              </a:rPr>
              <a:t>0</a:t>
            </a:r>
          </a:p>
        </p:txBody>
      </p:sp>
      <p:sp>
        <p:nvSpPr>
          <p:cNvPr name="TextBox 32" id="32"/>
          <p:cNvSpPr txBox="true"/>
          <p:nvPr/>
        </p:nvSpPr>
        <p:spPr>
          <a:xfrm rot="0">
            <a:off x="4064607" y="5910783"/>
            <a:ext cx="10158787" cy="577850"/>
          </a:xfrm>
          <a:prstGeom prst="rect">
            <a:avLst/>
          </a:prstGeom>
        </p:spPr>
        <p:txBody>
          <a:bodyPr anchor="t" rtlCol="false" tIns="0" lIns="0" bIns="0" rIns="0">
            <a:spAutoFit/>
          </a:bodyPr>
          <a:lstStyle/>
          <a:p>
            <a:pPr algn="ctr">
              <a:lnSpc>
                <a:spcPts val="4599"/>
              </a:lnSpc>
            </a:pPr>
            <a:r>
              <a:rPr lang="en-US" sz="3999">
                <a:solidFill>
                  <a:srgbClr val="000000"/>
                </a:solidFill>
                <a:latin typeface="Comic Sans"/>
                <a:ea typeface="Comic Sans"/>
                <a:cs typeface="Comic Sans"/>
                <a:sym typeface="Comic Sans"/>
              </a:rPr>
              <a:t>Project Title: NFCampus - Android</a:t>
            </a:r>
          </a:p>
        </p:txBody>
      </p:sp>
      <p:sp>
        <p:nvSpPr>
          <p:cNvPr name="TextBox 33" id="33"/>
          <p:cNvSpPr txBox="true"/>
          <p:nvPr/>
        </p:nvSpPr>
        <p:spPr>
          <a:xfrm rot="0">
            <a:off x="6863690" y="6820865"/>
            <a:ext cx="4324307" cy="587375"/>
          </a:xfrm>
          <a:prstGeom prst="rect">
            <a:avLst/>
          </a:prstGeom>
        </p:spPr>
        <p:txBody>
          <a:bodyPr anchor="t" rtlCol="false" tIns="0" lIns="0" bIns="0" rIns="0">
            <a:spAutoFit/>
          </a:bodyPr>
          <a:lstStyle/>
          <a:p>
            <a:pPr algn="ctr">
              <a:lnSpc>
                <a:spcPts val="4599"/>
              </a:lnSpc>
            </a:pPr>
            <a:r>
              <a:rPr lang="en-US" sz="3999">
                <a:solidFill>
                  <a:srgbClr val="000000"/>
                </a:solidFill>
                <a:latin typeface="Alice Bold"/>
                <a:ea typeface="Alice Bold"/>
                <a:cs typeface="Alice Bold"/>
                <a:sym typeface="Alice Bold"/>
              </a:rPr>
              <a:t>Group Member:</a:t>
            </a:r>
          </a:p>
        </p:txBody>
      </p:sp>
      <p:grpSp>
        <p:nvGrpSpPr>
          <p:cNvPr name="Group 34" id="34"/>
          <p:cNvGrpSpPr/>
          <p:nvPr/>
        </p:nvGrpSpPr>
        <p:grpSpPr>
          <a:xfrm rot="0">
            <a:off x="4446387" y="7593978"/>
            <a:ext cx="9395225" cy="1403350"/>
            <a:chOff x="0" y="0"/>
            <a:chExt cx="12526967" cy="1871133"/>
          </a:xfrm>
        </p:grpSpPr>
        <p:sp>
          <p:nvSpPr>
            <p:cNvPr name="TextBox 35" id="35"/>
            <p:cNvSpPr txBox="true"/>
            <p:nvPr/>
          </p:nvSpPr>
          <p:spPr>
            <a:xfrm rot="0">
              <a:off x="0" y="28575"/>
              <a:ext cx="5765743" cy="779992"/>
            </a:xfrm>
            <a:prstGeom prst="rect">
              <a:avLst/>
            </a:prstGeom>
          </p:spPr>
          <p:txBody>
            <a:bodyPr anchor="t" rtlCol="false" tIns="0" lIns="0" bIns="0" rIns="0">
              <a:spAutoFit/>
            </a:bodyPr>
            <a:lstStyle/>
            <a:p>
              <a:pPr algn="ctr">
                <a:lnSpc>
                  <a:spcPts val="4599"/>
                </a:lnSpc>
              </a:pPr>
              <a:r>
                <a:rPr lang="en-US" sz="3999">
                  <a:solidFill>
                    <a:srgbClr val="000000"/>
                  </a:solidFill>
                  <a:latin typeface="Comic Sans"/>
                  <a:ea typeface="Comic Sans"/>
                  <a:cs typeface="Comic Sans"/>
                  <a:sym typeface="Comic Sans"/>
                </a:rPr>
                <a:t>Eu Jin Yang</a:t>
              </a:r>
            </a:p>
          </p:txBody>
        </p:sp>
        <p:sp>
          <p:nvSpPr>
            <p:cNvPr name="TextBox 36" id="36"/>
            <p:cNvSpPr txBox="true"/>
            <p:nvPr/>
          </p:nvSpPr>
          <p:spPr>
            <a:xfrm rot="0">
              <a:off x="6761224" y="28575"/>
              <a:ext cx="5765743" cy="779992"/>
            </a:xfrm>
            <a:prstGeom prst="rect">
              <a:avLst/>
            </a:prstGeom>
          </p:spPr>
          <p:txBody>
            <a:bodyPr anchor="t" rtlCol="false" tIns="0" lIns="0" bIns="0" rIns="0">
              <a:spAutoFit/>
            </a:bodyPr>
            <a:lstStyle/>
            <a:p>
              <a:pPr algn="ctr">
                <a:lnSpc>
                  <a:spcPts val="4599"/>
                </a:lnSpc>
              </a:pPr>
              <a:r>
                <a:rPr lang="en-US" sz="3999">
                  <a:solidFill>
                    <a:srgbClr val="000000"/>
                  </a:solidFill>
                  <a:latin typeface="Comic Sans"/>
                  <a:ea typeface="Comic Sans"/>
                  <a:cs typeface="Comic Sans"/>
                  <a:sym typeface="Comic Sans"/>
                </a:rPr>
                <a:t>Yong Ken</a:t>
              </a:r>
            </a:p>
          </p:txBody>
        </p:sp>
        <p:sp>
          <p:nvSpPr>
            <p:cNvPr name="TextBox 37" id="37"/>
            <p:cNvSpPr txBox="true"/>
            <p:nvPr/>
          </p:nvSpPr>
          <p:spPr>
            <a:xfrm rot="0">
              <a:off x="0" y="1091142"/>
              <a:ext cx="5765743" cy="779992"/>
            </a:xfrm>
            <a:prstGeom prst="rect">
              <a:avLst/>
            </a:prstGeom>
          </p:spPr>
          <p:txBody>
            <a:bodyPr anchor="t" rtlCol="false" tIns="0" lIns="0" bIns="0" rIns="0">
              <a:spAutoFit/>
            </a:bodyPr>
            <a:lstStyle/>
            <a:p>
              <a:pPr algn="ctr">
                <a:lnSpc>
                  <a:spcPts val="4599"/>
                </a:lnSpc>
              </a:pPr>
              <a:r>
                <a:rPr lang="en-US" sz="3999">
                  <a:solidFill>
                    <a:srgbClr val="000000"/>
                  </a:solidFill>
                  <a:latin typeface="Comic Sans"/>
                  <a:ea typeface="Comic Sans"/>
                  <a:cs typeface="Comic Sans"/>
                  <a:sym typeface="Comic Sans"/>
                </a:rPr>
                <a:t>Ng Kean Chun</a:t>
              </a:r>
            </a:p>
          </p:txBody>
        </p:sp>
        <p:sp>
          <p:nvSpPr>
            <p:cNvPr name="TextBox 38" id="38"/>
            <p:cNvSpPr txBox="true"/>
            <p:nvPr/>
          </p:nvSpPr>
          <p:spPr>
            <a:xfrm rot="0">
              <a:off x="6761224" y="1091142"/>
              <a:ext cx="5765743" cy="779992"/>
            </a:xfrm>
            <a:prstGeom prst="rect">
              <a:avLst/>
            </a:prstGeom>
          </p:spPr>
          <p:txBody>
            <a:bodyPr anchor="t" rtlCol="false" tIns="0" lIns="0" bIns="0" rIns="0">
              <a:spAutoFit/>
            </a:bodyPr>
            <a:lstStyle/>
            <a:p>
              <a:pPr algn="ctr">
                <a:lnSpc>
                  <a:spcPts val="4599"/>
                </a:lnSpc>
              </a:pPr>
              <a:r>
                <a:rPr lang="en-US" sz="3999">
                  <a:solidFill>
                    <a:srgbClr val="000000"/>
                  </a:solidFill>
                  <a:latin typeface="Comic Sans"/>
                  <a:ea typeface="Comic Sans"/>
                  <a:cs typeface="Comic Sans"/>
                  <a:sym typeface="Comic Sans"/>
                </a:rPr>
                <a:t>Teoh Yi Shan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8C4FF"/>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028700"/>
            <a:ext cx="16230082" cy="8229600"/>
            <a:chOff x="0" y="0"/>
            <a:chExt cx="47097642" cy="23881256"/>
          </a:xfrm>
        </p:grpSpPr>
        <p:sp>
          <p:nvSpPr>
            <p:cNvPr name="Freeform 24" id="24"/>
            <p:cNvSpPr/>
            <p:nvPr/>
          </p:nvSpPr>
          <p:spPr>
            <a:xfrm flipH="false" flipV="false" rot="0">
              <a:off x="72390" y="72390"/>
              <a:ext cx="46952861" cy="23736476"/>
            </a:xfrm>
            <a:custGeom>
              <a:avLst/>
              <a:gdLst/>
              <a:ahLst/>
              <a:cxnLst/>
              <a:rect r="r" b="b" t="t" l="l"/>
              <a:pathLst>
                <a:path h="23736476" w="46952861">
                  <a:moveTo>
                    <a:pt x="0" y="0"/>
                  </a:moveTo>
                  <a:lnTo>
                    <a:pt x="46952861" y="0"/>
                  </a:lnTo>
                  <a:lnTo>
                    <a:pt x="46952861" y="23736476"/>
                  </a:lnTo>
                  <a:lnTo>
                    <a:pt x="0" y="23736476"/>
                  </a:lnTo>
                  <a:lnTo>
                    <a:pt x="0" y="0"/>
                  </a:lnTo>
                  <a:close/>
                </a:path>
              </a:pathLst>
            </a:custGeom>
            <a:solidFill>
              <a:srgbClr val="D8C4FF"/>
            </a:solidFill>
          </p:spPr>
        </p:sp>
        <p:sp>
          <p:nvSpPr>
            <p:cNvPr name="Freeform 25" id="25"/>
            <p:cNvSpPr/>
            <p:nvPr/>
          </p:nvSpPr>
          <p:spPr>
            <a:xfrm flipH="false" flipV="false" rot="0">
              <a:off x="0" y="0"/>
              <a:ext cx="47097643" cy="23881257"/>
            </a:xfrm>
            <a:custGeom>
              <a:avLst/>
              <a:gdLst/>
              <a:ahLst/>
              <a:cxnLst/>
              <a:rect r="r" b="b" t="t" l="l"/>
              <a:pathLst>
                <a:path h="23881257" w="47097643">
                  <a:moveTo>
                    <a:pt x="46952861" y="23736477"/>
                  </a:moveTo>
                  <a:lnTo>
                    <a:pt x="47097643" y="23736477"/>
                  </a:lnTo>
                  <a:lnTo>
                    <a:pt x="47097643" y="23881257"/>
                  </a:lnTo>
                  <a:lnTo>
                    <a:pt x="46952861" y="23881257"/>
                  </a:lnTo>
                  <a:lnTo>
                    <a:pt x="46952861" y="23736477"/>
                  </a:lnTo>
                  <a:close/>
                  <a:moveTo>
                    <a:pt x="0" y="144780"/>
                  </a:moveTo>
                  <a:lnTo>
                    <a:pt x="144780" y="144780"/>
                  </a:lnTo>
                  <a:lnTo>
                    <a:pt x="144780" y="23736477"/>
                  </a:lnTo>
                  <a:lnTo>
                    <a:pt x="0" y="23736477"/>
                  </a:lnTo>
                  <a:lnTo>
                    <a:pt x="0" y="144780"/>
                  </a:lnTo>
                  <a:close/>
                  <a:moveTo>
                    <a:pt x="0" y="23736477"/>
                  </a:moveTo>
                  <a:lnTo>
                    <a:pt x="144780" y="23736477"/>
                  </a:lnTo>
                  <a:lnTo>
                    <a:pt x="144780" y="23881257"/>
                  </a:lnTo>
                  <a:lnTo>
                    <a:pt x="0" y="23881257"/>
                  </a:lnTo>
                  <a:lnTo>
                    <a:pt x="0" y="23736477"/>
                  </a:lnTo>
                  <a:close/>
                  <a:moveTo>
                    <a:pt x="46952861" y="144780"/>
                  </a:moveTo>
                  <a:lnTo>
                    <a:pt x="47097643" y="144780"/>
                  </a:lnTo>
                  <a:lnTo>
                    <a:pt x="47097643" y="23736477"/>
                  </a:lnTo>
                  <a:lnTo>
                    <a:pt x="46952861" y="23736477"/>
                  </a:lnTo>
                  <a:lnTo>
                    <a:pt x="46952861" y="144780"/>
                  </a:lnTo>
                  <a:close/>
                  <a:moveTo>
                    <a:pt x="144780" y="23736477"/>
                  </a:moveTo>
                  <a:lnTo>
                    <a:pt x="46952861" y="23736477"/>
                  </a:lnTo>
                  <a:lnTo>
                    <a:pt x="46952861" y="23881257"/>
                  </a:lnTo>
                  <a:lnTo>
                    <a:pt x="144780" y="23881257"/>
                  </a:lnTo>
                  <a:lnTo>
                    <a:pt x="144780" y="23736477"/>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6" id="26"/>
          <p:cNvGrpSpPr/>
          <p:nvPr/>
        </p:nvGrpSpPr>
        <p:grpSpPr>
          <a:xfrm rot="0">
            <a:off x="1028700" y="1028700"/>
            <a:ext cx="16230082" cy="3128947"/>
            <a:chOff x="0" y="0"/>
            <a:chExt cx="47097642" cy="9079807"/>
          </a:xfrm>
        </p:grpSpPr>
        <p:sp>
          <p:nvSpPr>
            <p:cNvPr name="Freeform 27" id="27"/>
            <p:cNvSpPr/>
            <p:nvPr/>
          </p:nvSpPr>
          <p:spPr>
            <a:xfrm flipH="false" flipV="false" rot="0">
              <a:off x="72390" y="72390"/>
              <a:ext cx="46952861" cy="8935028"/>
            </a:xfrm>
            <a:custGeom>
              <a:avLst/>
              <a:gdLst/>
              <a:ahLst/>
              <a:cxnLst/>
              <a:rect r="r" b="b" t="t" l="l"/>
              <a:pathLst>
                <a:path h="8935028" w="46952861">
                  <a:moveTo>
                    <a:pt x="0" y="0"/>
                  </a:moveTo>
                  <a:lnTo>
                    <a:pt x="46952861" y="0"/>
                  </a:lnTo>
                  <a:lnTo>
                    <a:pt x="46952861" y="8935028"/>
                  </a:lnTo>
                  <a:lnTo>
                    <a:pt x="0" y="8935028"/>
                  </a:lnTo>
                  <a:lnTo>
                    <a:pt x="0" y="0"/>
                  </a:lnTo>
                  <a:close/>
                </a:path>
              </a:pathLst>
            </a:custGeom>
            <a:solidFill>
              <a:srgbClr val="FFDE85"/>
            </a:solidFill>
          </p:spPr>
        </p:sp>
        <p:sp>
          <p:nvSpPr>
            <p:cNvPr name="Freeform 28" id="28"/>
            <p:cNvSpPr/>
            <p:nvPr/>
          </p:nvSpPr>
          <p:spPr>
            <a:xfrm flipH="false" flipV="false" rot="0">
              <a:off x="0" y="0"/>
              <a:ext cx="47097643" cy="9079807"/>
            </a:xfrm>
            <a:custGeom>
              <a:avLst/>
              <a:gdLst/>
              <a:ahLst/>
              <a:cxnLst/>
              <a:rect r="r" b="b" t="t" l="l"/>
              <a:pathLst>
                <a:path h="9079807" w="47097643">
                  <a:moveTo>
                    <a:pt x="46952861" y="8935027"/>
                  </a:moveTo>
                  <a:lnTo>
                    <a:pt x="47097643" y="8935027"/>
                  </a:lnTo>
                  <a:lnTo>
                    <a:pt x="47097643" y="9079807"/>
                  </a:lnTo>
                  <a:lnTo>
                    <a:pt x="46952861" y="9079807"/>
                  </a:lnTo>
                  <a:lnTo>
                    <a:pt x="46952861" y="8935027"/>
                  </a:lnTo>
                  <a:close/>
                  <a:moveTo>
                    <a:pt x="0" y="144780"/>
                  </a:moveTo>
                  <a:lnTo>
                    <a:pt x="144780" y="144780"/>
                  </a:lnTo>
                  <a:lnTo>
                    <a:pt x="144780" y="8935027"/>
                  </a:lnTo>
                  <a:lnTo>
                    <a:pt x="0" y="8935027"/>
                  </a:lnTo>
                  <a:lnTo>
                    <a:pt x="0" y="144780"/>
                  </a:lnTo>
                  <a:close/>
                  <a:moveTo>
                    <a:pt x="0" y="8935027"/>
                  </a:moveTo>
                  <a:lnTo>
                    <a:pt x="144780" y="8935027"/>
                  </a:lnTo>
                  <a:lnTo>
                    <a:pt x="144780" y="9079807"/>
                  </a:lnTo>
                  <a:lnTo>
                    <a:pt x="0" y="9079807"/>
                  </a:lnTo>
                  <a:lnTo>
                    <a:pt x="0" y="8935027"/>
                  </a:lnTo>
                  <a:close/>
                  <a:moveTo>
                    <a:pt x="46952861" y="144780"/>
                  </a:moveTo>
                  <a:lnTo>
                    <a:pt x="47097643" y="144780"/>
                  </a:lnTo>
                  <a:lnTo>
                    <a:pt x="47097643" y="8935027"/>
                  </a:lnTo>
                  <a:lnTo>
                    <a:pt x="46952861" y="8935027"/>
                  </a:lnTo>
                  <a:lnTo>
                    <a:pt x="46952861" y="144780"/>
                  </a:lnTo>
                  <a:close/>
                  <a:moveTo>
                    <a:pt x="144780" y="8935027"/>
                  </a:moveTo>
                  <a:lnTo>
                    <a:pt x="46952861" y="8935027"/>
                  </a:lnTo>
                  <a:lnTo>
                    <a:pt x="46952861" y="9079807"/>
                  </a:lnTo>
                  <a:lnTo>
                    <a:pt x="144780" y="9079807"/>
                  </a:lnTo>
                  <a:lnTo>
                    <a:pt x="144780" y="8935027"/>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sp>
        <p:nvSpPr>
          <p:cNvPr name="TextBox 29" id="29"/>
          <p:cNvSpPr txBox="true"/>
          <p:nvPr/>
        </p:nvSpPr>
        <p:spPr>
          <a:xfrm rot="0">
            <a:off x="1642759" y="1282846"/>
            <a:ext cx="15307281" cy="6432455"/>
          </a:xfrm>
          <a:prstGeom prst="rect">
            <a:avLst/>
          </a:prstGeom>
        </p:spPr>
        <p:txBody>
          <a:bodyPr anchor="t" rtlCol="false" tIns="0" lIns="0" bIns="0" rIns="0">
            <a:spAutoFit/>
          </a:bodyPr>
          <a:lstStyle/>
          <a:p>
            <a:pPr algn="ctr">
              <a:lnSpc>
                <a:spcPts val="25623"/>
              </a:lnSpc>
            </a:pPr>
            <a:r>
              <a:rPr lang="en-US" sz="18302">
                <a:solidFill>
                  <a:srgbClr val="000000"/>
                </a:solidFill>
                <a:latin typeface="Luckiest Guy"/>
                <a:ea typeface="Luckiest Guy"/>
                <a:cs typeface="Luckiest Guy"/>
                <a:sym typeface="Luckiest Guy"/>
              </a:rPr>
              <a:t>BACKGROUND</a:t>
            </a:r>
          </a:p>
        </p:txBody>
      </p:sp>
      <p:sp>
        <p:nvSpPr>
          <p:cNvPr name="TextBox 30" id="30"/>
          <p:cNvSpPr txBox="true"/>
          <p:nvPr/>
        </p:nvSpPr>
        <p:spPr>
          <a:xfrm rot="0">
            <a:off x="1490359" y="1149751"/>
            <a:ext cx="15307281" cy="3145098"/>
          </a:xfrm>
          <a:prstGeom prst="rect">
            <a:avLst/>
          </a:prstGeom>
        </p:spPr>
        <p:txBody>
          <a:bodyPr anchor="t" rtlCol="false" tIns="0" lIns="0" bIns="0" rIns="0">
            <a:spAutoFit/>
          </a:bodyPr>
          <a:lstStyle/>
          <a:p>
            <a:pPr algn="ctr">
              <a:lnSpc>
                <a:spcPts val="25623"/>
              </a:lnSpc>
            </a:pPr>
            <a:r>
              <a:rPr lang="en-US" sz="18302">
                <a:solidFill>
                  <a:srgbClr val="99DAFF"/>
                </a:solidFill>
                <a:latin typeface="Luckiest Guy"/>
                <a:ea typeface="Luckiest Guy"/>
                <a:cs typeface="Luckiest Guy"/>
                <a:sym typeface="Luckiest Guy"/>
              </a:rPr>
              <a:t>B</a:t>
            </a:r>
            <a:r>
              <a:rPr lang="en-US" sz="18302">
                <a:solidFill>
                  <a:srgbClr val="ABE5D8"/>
                </a:solidFill>
                <a:latin typeface="Luckiest Guy"/>
                <a:ea typeface="Luckiest Guy"/>
                <a:cs typeface="Luckiest Guy"/>
                <a:sym typeface="Luckiest Guy"/>
              </a:rPr>
              <a:t>A</a:t>
            </a:r>
            <a:r>
              <a:rPr lang="en-US" sz="18302">
                <a:solidFill>
                  <a:srgbClr val="E2A9F1"/>
                </a:solidFill>
                <a:latin typeface="Luckiest Guy"/>
                <a:ea typeface="Luckiest Guy"/>
                <a:cs typeface="Luckiest Guy"/>
                <a:sym typeface="Luckiest Guy"/>
              </a:rPr>
              <a:t>C</a:t>
            </a:r>
            <a:r>
              <a:rPr lang="en-US" sz="18302">
                <a:solidFill>
                  <a:srgbClr val="99DAFF"/>
                </a:solidFill>
                <a:latin typeface="Luckiest Guy"/>
                <a:ea typeface="Luckiest Guy"/>
                <a:cs typeface="Luckiest Guy"/>
                <a:sym typeface="Luckiest Guy"/>
              </a:rPr>
              <a:t>K</a:t>
            </a:r>
            <a:r>
              <a:rPr lang="en-US" sz="18302">
                <a:solidFill>
                  <a:srgbClr val="ABE5D8"/>
                </a:solidFill>
                <a:latin typeface="Luckiest Guy"/>
                <a:ea typeface="Luckiest Guy"/>
                <a:cs typeface="Luckiest Guy"/>
                <a:sym typeface="Luckiest Guy"/>
              </a:rPr>
              <a:t>G</a:t>
            </a:r>
            <a:r>
              <a:rPr lang="en-US" sz="18302">
                <a:solidFill>
                  <a:srgbClr val="E2A9F1"/>
                </a:solidFill>
                <a:latin typeface="Luckiest Guy"/>
                <a:ea typeface="Luckiest Guy"/>
                <a:cs typeface="Luckiest Guy"/>
                <a:sym typeface="Luckiest Guy"/>
              </a:rPr>
              <a:t>R</a:t>
            </a:r>
            <a:r>
              <a:rPr lang="en-US" sz="18302">
                <a:solidFill>
                  <a:srgbClr val="B6E0FF"/>
                </a:solidFill>
                <a:latin typeface="Luckiest Guy"/>
                <a:ea typeface="Luckiest Guy"/>
                <a:cs typeface="Luckiest Guy"/>
                <a:sym typeface="Luckiest Guy"/>
              </a:rPr>
              <a:t>O</a:t>
            </a:r>
            <a:r>
              <a:rPr lang="en-US" sz="18302">
                <a:solidFill>
                  <a:srgbClr val="ABE5D8"/>
                </a:solidFill>
                <a:latin typeface="Luckiest Guy"/>
                <a:ea typeface="Luckiest Guy"/>
                <a:cs typeface="Luckiest Guy"/>
                <a:sym typeface="Luckiest Guy"/>
              </a:rPr>
              <a:t>U</a:t>
            </a:r>
            <a:r>
              <a:rPr lang="en-US" sz="18302">
                <a:solidFill>
                  <a:srgbClr val="99DAFF"/>
                </a:solidFill>
                <a:latin typeface="Luckiest Guy"/>
                <a:ea typeface="Luckiest Guy"/>
                <a:cs typeface="Luckiest Guy"/>
                <a:sym typeface="Luckiest Guy"/>
              </a:rPr>
              <a:t>N</a:t>
            </a:r>
            <a:r>
              <a:rPr lang="en-US" sz="18302">
                <a:solidFill>
                  <a:srgbClr val="E2A9F1"/>
                </a:solidFill>
                <a:latin typeface="Luckiest Guy"/>
                <a:ea typeface="Luckiest Guy"/>
                <a:cs typeface="Luckiest Guy"/>
                <a:sym typeface="Luckiest Guy"/>
              </a:rPr>
              <a:t>D</a:t>
            </a:r>
          </a:p>
        </p:txBody>
      </p:sp>
      <p:sp>
        <p:nvSpPr>
          <p:cNvPr name="TextBox 31" id="31"/>
          <p:cNvSpPr txBox="true"/>
          <p:nvPr/>
        </p:nvSpPr>
        <p:spPr>
          <a:xfrm rot="0">
            <a:off x="1776774" y="4252210"/>
            <a:ext cx="14733933" cy="4794250"/>
          </a:xfrm>
          <a:prstGeom prst="rect">
            <a:avLst/>
          </a:prstGeom>
        </p:spPr>
        <p:txBody>
          <a:bodyPr anchor="t" rtlCol="false" tIns="0" lIns="0" bIns="0" rIns="0">
            <a:spAutoFit/>
          </a:bodyPr>
          <a:lstStyle/>
          <a:p>
            <a:pPr algn="just">
              <a:lnSpc>
                <a:spcPts val="3499"/>
              </a:lnSpc>
            </a:pPr>
            <a:r>
              <a:rPr lang="en-US" sz="2499">
                <a:solidFill>
                  <a:srgbClr val="000000"/>
                </a:solidFill>
                <a:latin typeface="Comic Sans"/>
                <a:ea typeface="Comic Sans"/>
                <a:cs typeface="Comic Sans"/>
                <a:sym typeface="Comic Sans"/>
              </a:rPr>
              <a:t>Our college currently uses RFID cards for campus access, but the system identifies the card instead of the person. When cards are forgotten, lost, or damaged, students and staff get locked out, leading to delays and missed classes. Biometrics could address this issue, but they are costly and raise privacy concerns.</a:t>
            </a:r>
          </a:p>
          <a:p>
            <a:pPr algn="just">
              <a:lnSpc>
                <a:spcPts val="3499"/>
              </a:lnSpc>
            </a:pPr>
          </a:p>
          <a:p>
            <a:pPr algn="just">
              <a:lnSpc>
                <a:spcPts val="3499"/>
              </a:lnSpc>
            </a:pPr>
            <a:r>
              <a:rPr lang="en-US" sz="2499">
                <a:solidFill>
                  <a:srgbClr val="000000"/>
                </a:solidFill>
                <a:latin typeface="Comic Sans"/>
                <a:ea typeface="Comic Sans"/>
                <a:cs typeface="Comic Sans"/>
                <a:sym typeface="Comic Sans"/>
              </a:rPr>
              <a:t>Due to these limitations, the current access system faces several problems:</a:t>
            </a:r>
          </a:p>
          <a:p>
            <a:pPr algn="just" marL="539748" indent="-269874" lvl="1">
              <a:lnSpc>
                <a:spcPts val="3499"/>
              </a:lnSpc>
              <a:buFont typeface="Arial"/>
              <a:buChar char="•"/>
            </a:pPr>
            <a:r>
              <a:rPr lang="en-US" sz="2499">
                <a:solidFill>
                  <a:srgbClr val="000000"/>
                </a:solidFill>
                <a:latin typeface="Comic Sans"/>
                <a:ea typeface="Comic Sans"/>
                <a:cs typeface="Comic Sans"/>
                <a:sym typeface="Comic Sans"/>
              </a:rPr>
              <a:t>The system depends entirely on a physical card.</a:t>
            </a:r>
          </a:p>
          <a:p>
            <a:pPr algn="just" marL="539748" indent="-269874" lvl="1">
              <a:lnSpc>
                <a:spcPts val="3499"/>
              </a:lnSpc>
              <a:buFont typeface="Arial"/>
              <a:buChar char="•"/>
            </a:pPr>
            <a:r>
              <a:rPr lang="en-US" sz="2499">
                <a:solidFill>
                  <a:srgbClr val="000000"/>
                </a:solidFill>
                <a:latin typeface="Comic Sans"/>
                <a:ea typeface="Comic Sans"/>
                <a:cs typeface="Comic Sans"/>
                <a:sym typeface="Comic Sans"/>
              </a:rPr>
              <a:t>Users frequently experience lockouts due to forgotten, misplaced, or damaged cards.</a:t>
            </a:r>
          </a:p>
          <a:p>
            <a:pPr algn="just" marL="539748" indent="-269874" lvl="1">
              <a:lnSpc>
                <a:spcPts val="3499"/>
              </a:lnSpc>
              <a:buFont typeface="Arial"/>
              <a:buChar char="•"/>
            </a:pPr>
            <a:r>
              <a:rPr lang="en-US" sz="2499">
                <a:solidFill>
                  <a:srgbClr val="000000"/>
                </a:solidFill>
                <a:latin typeface="Comic Sans"/>
                <a:ea typeface="Comic Sans"/>
                <a:cs typeface="Comic Sans"/>
                <a:sym typeface="Comic Sans"/>
              </a:rPr>
              <a:t>These issues often result in missed classes, exams, and interruptions to campus activities.</a:t>
            </a:r>
          </a:p>
          <a:p>
            <a:pPr algn="just" marL="539748" indent="-269874" lvl="1">
              <a:lnSpc>
                <a:spcPts val="3499"/>
              </a:lnSpc>
              <a:buFont typeface="Arial"/>
              <a:buChar char="•"/>
            </a:pPr>
            <a:r>
              <a:rPr lang="en-US" sz="2499">
                <a:solidFill>
                  <a:srgbClr val="000000"/>
                </a:solidFill>
                <a:latin typeface="Comic Sans"/>
                <a:ea typeface="Comic Sans"/>
                <a:cs typeface="Comic Sans"/>
                <a:sym typeface="Comic Sans"/>
              </a:rPr>
              <a:t>Biometrics, while secure, come with high costs and privacy risks.</a:t>
            </a:r>
          </a:p>
          <a:p>
            <a:pPr algn="just" marL="539748" indent="-269874" lvl="1">
              <a:lnSpc>
                <a:spcPts val="3499"/>
              </a:lnSpc>
              <a:spcBef>
                <a:spcPct val="0"/>
              </a:spcBef>
              <a:buFont typeface="Arial"/>
              <a:buChar char="•"/>
            </a:pPr>
            <a:r>
              <a:rPr lang="en-US" sz="2499">
                <a:solidFill>
                  <a:srgbClr val="000000"/>
                </a:solidFill>
                <a:latin typeface="Comic Sans"/>
                <a:ea typeface="Comic Sans"/>
                <a:cs typeface="Comic Sans"/>
                <a:sym typeface="Comic Sans"/>
              </a:rPr>
              <a:t>Using NFC on smartphones provides a more practical, secure, and user-friendly alternative.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6E0FF"/>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681024" y="1389474"/>
            <a:ext cx="16945885" cy="8229600"/>
            <a:chOff x="0" y="0"/>
            <a:chExt cx="49174811" cy="23881256"/>
          </a:xfrm>
        </p:grpSpPr>
        <p:sp>
          <p:nvSpPr>
            <p:cNvPr name="Freeform 24" id="24"/>
            <p:cNvSpPr/>
            <p:nvPr/>
          </p:nvSpPr>
          <p:spPr>
            <a:xfrm flipH="false" flipV="false" rot="0">
              <a:off x="72390" y="72390"/>
              <a:ext cx="49030033" cy="23736476"/>
            </a:xfrm>
            <a:custGeom>
              <a:avLst/>
              <a:gdLst/>
              <a:ahLst/>
              <a:cxnLst/>
              <a:rect r="r" b="b" t="t" l="l"/>
              <a:pathLst>
                <a:path h="23736476" w="49030033">
                  <a:moveTo>
                    <a:pt x="0" y="0"/>
                  </a:moveTo>
                  <a:lnTo>
                    <a:pt x="49030033" y="0"/>
                  </a:lnTo>
                  <a:lnTo>
                    <a:pt x="49030033" y="23736476"/>
                  </a:lnTo>
                  <a:lnTo>
                    <a:pt x="0" y="23736476"/>
                  </a:lnTo>
                  <a:lnTo>
                    <a:pt x="0" y="0"/>
                  </a:lnTo>
                  <a:close/>
                </a:path>
              </a:pathLst>
            </a:custGeom>
            <a:solidFill>
              <a:srgbClr val="D8C4FF"/>
            </a:solidFill>
          </p:spPr>
        </p:sp>
        <p:sp>
          <p:nvSpPr>
            <p:cNvPr name="Freeform 25" id="25"/>
            <p:cNvSpPr/>
            <p:nvPr/>
          </p:nvSpPr>
          <p:spPr>
            <a:xfrm flipH="false" flipV="false" rot="0">
              <a:off x="0" y="0"/>
              <a:ext cx="49174812" cy="23881257"/>
            </a:xfrm>
            <a:custGeom>
              <a:avLst/>
              <a:gdLst/>
              <a:ahLst/>
              <a:cxnLst/>
              <a:rect r="r" b="b" t="t" l="l"/>
              <a:pathLst>
                <a:path h="23881257" w="49174812">
                  <a:moveTo>
                    <a:pt x="49030031" y="23736477"/>
                  </a:moveTo>
                  <a:lnTo>
                    <a:pt x="49174812" y="23736477"/>
                  </a:lnTo>
                  <a:lnTo>
                    <a:pt x="49174812" y="23881257"/>
                  </a:lnTo>
                  <a:lnTo>
                    <a:pt x="49030031" y="23881257"/>
                  </a:lnTo>
                  <a:lnTo>
                    <a:pt x="49030031" y="23736477"/>
                  </a:lnTo>
                  <a:close/>
                  <a:moveTo>
                    <a:pt x="0" y="144780"/>
                  </a:moveTo>
                  <a:lnTo>
                    <a:pt x="144780" y="144780"/>
                  </a:lnTo>
                  <a:lnTo>
                    <a:pt x="144780" y="23736477"/>
                  </a:lnTo>
                  <a:lnTo>
                    <a:pt x="0" y="23736477"/>
                  </a:lnTo>
                  <a:lnTo>
                    <a:pt x="0" y="144780"/>
                  </a:lnTo>
                  <a:close/>
                  <a:moveTo>
                    <a:pt x="0" y="23736477"/>
                  </a:moveTo>
                  <a:lnTo>
                    <a:pt x="144780" y="23736477"/>
                  </a:lnTo>
                  <a:lnTo>
                    <a:pt x="144780" y="23881257"/>
                  </a:lnTo>
                  <a:lnTo>
                    <a:pt x="0" y="23881257"/>
                  </a:lnTo>
                  <a:lnTo>
                    <a:pt x="0" y="23736477"/>
                  </a:lnTo>
                  <a:close/>
                  <a:moveTo>
                    <a:pt x="49030031" y="144780"/>
                  </a:moveTo>
                  <a:lnTo>
                    <a:pt x="49174812" y="144780"/>
                  </a:lnTo>
                  <a:lnTo>
                    <a:pt x="49174812" y="23736477"/>
                  </a:lnTo>
                  <a:lnTo>
                    <a:pt x="49030031" y="23736477"/>
                  </a:lnTo>
                  <a:lnTo>
                    <a:pt x="49030031" y="144780"/>
                  </a:lnTo>
                  <a:close/>
                  <a:moveTo>
                    <a:pt x="144780" y="23736477"/>
                  </a:moveTo>
                  <a:lnTo>
                    <a:pt x="49030031" y="23736477"/>
                  </a:lnTo>
                  <a:lnTo>
                    <a:pt x="49030031" y="23881257"/>
                  </a:lnTo>
                  <a:lnTo>
                    <a:pt x="144780" y="23881257"/>
                  </a:lnTo>
                  <a:lnTo>
                    <a:pt x="144780" y="23736477"/>
                  </a:lnTo>
                  <a:close/>
                  <a:moveTo>
                    <a:pt x="49030031" y="0"/>
                  </a:moveTo>
                  <a:lnTo>
                    <a:pt x="49174812" y="0"/>
                  </a:lnTo>
                  <a:lnTo>
                    <a:pt x="49174812" y="144780"/>
                  </a:lnTo>
                  <a:lnTo>
                    <a:pt x="49030031" y="144780"/>
                  </a:lnTo>
                  <a:lnTo>
                    <a:pt x="49030031" y="0"/>
                  </a:lnTo>
                  <a:close/>
                  <a:moveTo>
                    <a:pt x="0" y="0"/>
                  </a:moveTo>
                  <a:lnTo>
                    <a:pt x="144780" y="0"/>
                  </a:lnTo>
                  <a:lnTo>
                    <a:pt x="144780" y="144780"/>
                  </a:lnTo>
                  <a:lnTo>
                    <a:pt x="0" y="144780"/>
                  </a:lnTo>
                  <a:lnTo>
                    <a:pt x="0" y="0"/>
                  </a:lnTo>
                  <a:close/>
                  <a:moveTo>
                    <a:pt x="144780" y="0"/>
                  </a:moveTo>
                  <a:lnTo>
                    <a:pt x="49030031" y="0"/>
                  </a:lnTo>
                  <a:lnTo>
                    <a:pt x="49030031" y="144780"/>
                  </a:lnTo>
                  <a:lnTo>
                    <a:pt x="144780" y="144780"/>
                  </a:lnTo>
                  <a:lnTo>
                    <a:pt x="144780" y="0"/>
                  </a:lnTo>
                  <a:close/>
                </a:path>
              </a:pathLst>
            </a:custGeom>
            <a:solidFill>
              <a:srgbClr val="000000"/>
            </a:solidFill>
          </p:spPr>
        </p:sp>
      </p:grpSp>
      <p:grpSp>
        <p:nvGrpSpPr>
          <p:cNvPr name="Group 26" id="26"/>
          <p:cNvGrpSpPr/>
          <p:nvPr/>
        </p:nvGrpSpPr>
        <p:grpSpPr>
          <a:xfrm rot="0">
            <a:off x="681024" y="1028700"/>
            <a:ext cx="16945885" cy="1857037"/>
            <a:chOff x="0" y="0"/>
            <a:chExt cx="49174811" cy="5388886"/>
          </a:xfrm>
        </p:grpSpPr>
        <p:sp>
          <p:nvSpPr>
            <p:cNvPr name="Freeform 27" id="27"/>
            <p:cNvSpPr/>
            <p:nvPr/>
          </p:nvSpPr>
          <p:spPr>
            <a:xfrm flipH="false" flipV="false" rot="0">
              <a:off x="72390" y="72390"/>
              <a:ext cx="49030033" cy="5244106"/>
            </a:xfrm>
            <a:custGeom>
              <a:avLst/>
              <a:gdLst/>
              <a:ahLst/>
              <a:cxnLst/>
              <a:rect r="r" b="b" t="t" l="l"/>
              <a:pathLst>
                <a:path h="5244106" w="49030033">
                  <a:moveTo>
                    <a:pt x="0" y="0"/>
                  </a:moveTo>
                  <a:lnTo>
                    <a:pt x="49030033" y="0"/>
                  </a:lnTo>
                  <a:lnTo>
                    <a:pt x="49030033" y="5244106"/>
                  </a:lnTo>
                  <a:lnTo>
                    <a:pt x="0" y="5244106"/>
                  </a:lnTo>
                  <a:lnTo>
                    <a:pt x="0" y="0"/>
                  </a:lnTo>
                  <a:close/>
                </a:path>
              </a:pathLst>
            </a:custGeom>
            <a:solidFill>
              <a:srgbClr val="FCB1D4"/>
            </a:solidFill>
          </p:spPr>
        </p:sp>
        <p:sp>
          <p:nvSpPr>
            <p:cNvPr name="Freeform 28" id="28"/>
            <p:cNvSpPr/>
            <p:nvPr/>
          </p:nvSpPr>
          <p:spPr>
            <a:xfrm flipH="false" flipV="false" rot="0">
              <a:off x="0" y="0"/>
              <a:ext cx="49174812" cy="5388886"/>
            </a:xfrm>
            <a:custGeom>
              <a:avLst/>
              <a:gdLst/>
              <a:ahLst/>
              <a:cxnLst/>
              <a:rect r="r" b="b" t="t" l="l"/>
              <a:pathLst>
                <a:path h="5388886" w="49174812">
                  <a:moveTo>
                    <a:pt x="49030031" y="5244106"/>
                  </a:moveTo>
                  <a:lnTo>
                    <a:pt x="49174812" y="5244106"/>
                  </a:lnTo>
                  <a:lnTo>
                    <a:pt x="49174812" y="5388886"/>
                  </a:lnTo>
                  <a:lnTo>
                    <a:pt x="49030031" y="5388886"/>
                  </a:lnTo>
                  <a:lnTo>
                    <a:pt x="49030031" y="5244106"/>
                  </a:lnTo>
                  <a:close/>
                  <a:moveTo>
                    <a:pt x="0" y="144780"/>
                  </a:moveTo>
                  <a:lnTo>
                    <a:pt x="144780" y="144780"/>
                  </a:lnTo>
                  <a:lnTo>
                    <a:pt x="144780" y="5244106"/>
                  </a:lnTo>
                  <a:lnTo>
                    <a:pt x="0" y="5244106"/>
                  </a:lnTo>
                  <a:lnTo>
                    <a:pt x="0" y="144780"/>
                  </a:lnTo>
                  <a:close/>
                  <a:moveTo>
                    <a:pt x="0" y="5244106"/>
                  </a:moveTo>
                  <a:lnTo>
                    <a:pt x="144780" y="5244106"/>
                  </a:lnTo>
                  <a:lnTo>
                    <a:pt x="144780" y="5388886"/>
                  </a:lnTo>
                  <a:lnTo>
                    <a:pt x="0" y="5388886"/>
                  </a:lnTo>
                  <a:lnTo>
                    <a:pt x="0" y="5244106"/>
                  </a:lnTo>
                  <a:close/>
                  <a:moveTo>
                    <a:pt x="49030031" y="144780"/>
                  </a:moveTo>
                  <a:lnTo>
                    <a:pt x="49174812" y="144780"/>
                  </a:lnTo>
                  <a:lnTo>
                    <a:pt x="49174812" y="5244106"/>
                  </a:lnTo>
                  <a:lnTo>
                    <a:pt x="49030031" y="5244106"/>
                  </a:lnTo>
                  <a:lnTo>
                    <a:pt x="49030031" y="144780"/>
                  </a:lnTo>
                  <a:close/>
                  <a:moveTo>
                    <a:pt x="144780" y="5244106"/>
                  </a:moveTo>
                  <a:lnTo>
                    <a:pt x="49030031" y="5244106"/>
                  </a:lnTo>
                  <a:lnTo>
                    <a:pt x="49030031" y="5388886"/>
                  </a:lnTo>
                  <a:lnTo>
                    <a:pt x="144780" y="5388886"/>
                  </a:lnTo>
                  <a:lnTo>
                    <a:pt x="144780" y="5244106"/>
                  </a:lnTo>
                  <a:close/>
                  <a:moveTo>
                    <a:pt x="49030031" y="0"/>
                  </a:moveTo>
                  <a:lnTo>
                    <a:pt x="49174812" y="0"/>
                  </a:lnTo>
                  <a:lnTo>
                    <a:pt x="49174812" y="144780"/>
                  </a:lnTo>
                  <a:lnTo>
                    <a:pt x="49030031" y="144780"/>
                  </a:lnTo>
                  <a:lnTo>
                    <a:pt x="49030031" y="0"/>
                  </a:lnTo>
                  <a:close/>
                  <a:moveTo>
                    <a:pt x="0" y="0"/>
                  </a:moveTo>
                  <a:lnTo>
                    <a:pt x="144780" y="0"/>
                  </a:lnTo>
                  <a:lnTo>
                    <a:pt x="144780" y="144780"/>
                  </a:lnTo>
                  <a:lnTo>
                    <a:pt x="0" y="144780"/>
                  </a:lnTo>
                  <a:lnTo>
                    <a:pt x="0" y="0"/>
                  </a:lnTo>
                  <a:close/>
                  <a:moveTo>
                    <a:pt x="144780" y="0"/>
                  </a:moveTo>
                  <a:lnTo>
                    <a:pt x="49030031" y="0"/>
                  </a:lnTo>
                  <a:lnTo>
                    <a:pt x="49030031" y="144780"/>
                  </a:lnTo>
                  <a:lnTo>
                    <a:pt x="144780" y="144780"/>
                  </a:lnTo>
                  <a:lnTo>
                    <a:pt x="144780" y="0"/>
                  </a:lnTo>
                  <a:close/>
                </a:path>
              </a:pathLst>
            </a:custGeom>
            <a:solidFill>
              <a:srgbClr val="000000"/>
            </a:solidFill>
          </p:spPr>
        </p:sp>
      </p:grpSp>
      <p:sp>
        <p:nvSpPr>
          <p:cNvPr name="TextBox 29" id="29"/>
          <p:cNvSpPr txBox="true"/>
          <p:nvPr/>
        </p:nvSpPr>
        <p:spPr>
          <a:xfrm rot="0">
            <a:off x="3403029" y="822944"/>
            <a:ext cx="11481943" cy="2360451"/>
          </a:xfrm>
          <a:prstGeom prst="rect">
            <a:avLst/>
          </a:prstGeom>
        </p:spPr>
        <p:txBody>
          <a:bodyPr anchor="t" rtlCol="false" tIns="0" lIns="0" bIns="0" rIns="0">
            <a:spAutoFit/>
          </a:bodyPr>
          <a:lstStyle/>
          <a:p>
            <a:pPr algn="ctr">
              <a:lnSpc>
                <a:spcPts val="19219"/>
              </a:lnSpc>
            </a:pPr>
            <a:r>
              <a:rPr lang="en-US" sz="13728">
                <a:solidFill>
                  <a:srgbClr val="000000"/>
                </a:solidFill>
                <a:latin typeface="Luckiest Guy"/>
                <a:ea typeface="Luckiest Guy"/>
                <a:cs typeface="Luckiest Guy"/>
                <a:sym typeface="Luckiest Guy"/>
              </a:rPr>
              <a:t>OBJECTIVE</a:t>
            </a:r>
          </a:p>
        </p:txBody>
      </p:sp>
      <p:grpSp>
        <p:nvGrpSpPr>
          <p:cNvPr name="Group 30" id="30"/>
          <p:cNvGrpSpPr/>
          <p:nvPr/>
        </p:nvGrpSpPr>
        <p:grpSpPr>
          <a:xfrm rot="0">
            <a:off x="1028700" y="3084088"/>
            <a:ext cx="16030691" cy="1194194"/>
            <a:chOff x="0" y="0"/>
            <a:chExt cx="46519034" cy="3465400"/>
          </a:xfrm>
        </p:grpSpPr>
        <p:sp>
          <p:nvSpPr>
            <p:cNvPr name="Freeform 31" id="31"/>
            <p:cNvSpPr/>
            <p:nvPr/>
          </p:nvSpPr>
          <p:spPr>
            <a:xfrm flipH="false" flipV="false" rot="0">
              <a:off x="72390" y="72390"/>
              <a:ext cx="46374254" cy="3320620"/>
            </a:xfrm>
            <a:custGeom>
              <a:avLst/>
              <a:gdLst/>
              <a:ahLst/>
              <a:cxnLst/>
              <a:rect r="r" b="b" t="t" l="l"/>
              <a:pathLst>
                <a:path h="3320620" w="46374254">
                  <a:moveTo>
                    <a:pt x="0" y="0"/>
                  </a:moveTo>
                  <a:lnTo>
                    <a:pt x="46374254" y="0"/>
                  </a:lnTo>
                  <a:lnTo>
                    <a:pt x="46374254" y="3320620"/>
                  </a:lnTo>
                  <a:lnTo>
                    <a:pt x="0" y="3320620"/>
                  </a:lnTo>
                  <a:lnTo>
                    <a:pt x="0" y="0"/>
                  </a:lnTo>
                  <a:close/>
                </a:path>
              </a:pathLst>
            </a:custGeom>
            <a:solidFill>
              <a:srgbClr val="FFFFFF"/>
            </a:solidFill>
          </p:spPr>
        </p:sp>
        <p:sp>
          <p:nvSpPr>
            <p:cNvPr name="Freeform 32" id="32"/>
            <p:cNvSpPr/>
            <p:nvPr/>
          </p:nvSpPr>
          <p:spPr>
            <a:xfrm flipH="false" flipV="false" rot="0">
              <a:off x="0" y="0"/>
              <a:ext cx="46519033" cy="3465400"/>
            </a:xfrm>
            <a:custGeom>
              <a:avLst/>
              <a:gdLst/>
              <a:ahLst/>
              <a:cxnLst/>
              <a:rect r="r" b="b" t="t" l="l"/>
              <a:pathLst>
                <a:path h="3465400" w="46519033">
                  <a:moveTo>
                    <a:pt x="46374255" y="3320620"/>
                  </a:moveTo>
                  <a:lnTo>
                    <a:pt x="46519033" y="3320620"/>
                  </a:lnTo>
                  <a:lnTo>
                    <a:pt x="46519033" y="3465400"/>
                  </a:lnTo>
                  <a:lnTo>
                    <a:pt x="46374255" y="3465400"/>
                  </a:lnTo>
                  <a:lnTo>
                    <a:pt x="46374255" y="3320620"/>
                  </a:lnTo>
                  <a:close/>
                  <a:moveTo>
                    <a:pt x="0" y="144780"/>
                  </a:moveTo>
                  <a:lnTo>
                    <a:pt x="144780" y="144780"/>
                  </a:lnTo>
                  <a:lnTo>
                    <a:pt x="144780" y="3320620"/>
                  </a:lnTo>
                  <a:lnTo>
                    <a:pt x="0" y="3320620"/>
                  </a:lnTo>
                  <a:lnTo>
                    <a:pt x="0" y="144780"/>
                  </a:lnTo>
                  <a:close/>
                  <a:moveTo>
                    <a:pt x="0" y="3320620"/>
                  </a:moveTo>
                  <a:lnTo>
                    <a:pt x="144780" y="3320620"/>
                  </a:lnTo>
                  <a:lnTo>
                    <a:pt x="144780" y="3465400"/>
                  </a:lnTo>
                  <a:lnTo>
                    <a:pt x="0" y="3465400"/>
                  </a:lnTo>
                  <a:lnTo>
                    <a:pt x="0" y="3320620"/>
                  </a:lnTo>
                  <a:close/>
                  <a:moveTo>
                    <a:pt x="46374255" y="144780"/>
                  </a:moveTo>
                  <a:lnTo>
                    <a:pt x="46519033" y="144780"/>
                  </a:lnTo>
                  <a:lnTo>
                    <a:pt x="46519033" y="3320620"/>
                  </a:lnTo>
                  <a:lnTo>
                    <a:pt x="46374255" y="3320620"/>
                  </a:lnTo>
                  <a:lnTo>
                    <a:pt x="46374255" y="144780"/>
                  </a:lnTo>
                  <a:close/>
                  <a:moveTo>
                    <a:pt x="144780" y="3320620"/>
                  </a:moveTo>
                  <a:lnTo>
                    <a:pt x="46374255" y="3320620"/>
                  </a:lnTo>
                  <a:lnTo>
                    <a:pt x="46374255" y="3465400"/>
                  </a:lnTo>
                  <a:lnTo>
                    <a:pt x="144780" y="3465400"/>
                  </a:lnTo>
                  <a:lnTo>
                    <a:pt x="144780" y="3320620"/>
                  </a:lnTo>
                  <a:close/>
                  <a:moveTo>
                    <a:pt x="46374255" y="0"/>
                  </a:moveTo>
                  <a:lnTo>
                    <a:pt x="46519033" y="0"/>
                  </a:lnTo>
                  <a:lnTo>
                    <a:pt x="46519033" y="144780"/>
                  </a:lnTo>
                  <a:lnTo>
                    <a:pt x="46374255" y="144780"/>
                  </a:lnTo>
                  <a:lnTo>
                    <a:pt x="46374255" y="0"/>
                  </a:lnTo>
                  <a:close/>
                  <a:moveTo>
                    <a:pt x="0" y="0"/>
                  </a:moveTo>
                  <a:lnTo>
                    <a:pt x="144780" y="0"/>
                  </a:lnTo>
                  <a:lnTo>
                    <a:pt x="144780" y="144780"/>
                  </a:lnTo>
                  <a:lnTo>
                    <a:pt x="0" y="144780"/>
                  </a:lnTo>
                  <a:lnTo>
                    <a:pt x="0" y="0"/>
                  </a:lnTo>
                  <a:close/>
                  <a:moveTo>
                    <a:pt x="144780" y="0"/>
                  </a:moveTo>
                  <a:lnTo>
                    <a:pt x="46374255" y="0"/>
                  </a:lnTo>
                  <a:lnTo>
                    <a:pt x="46374255" y="144780"/>
                  </a:lnTo>
                  <a:lnTo>
                    <a:pt x="144780" y="144780"/>
                  </a:lnTo>
                  <a:lnTo>
                    <a:pt x="144780" y="0"/>
                  </a:lnTo>
                  <a:close/>
                </a:path>
              </a:pathLst>
            </a:custGeom>
            <a:solidFill>
              <a:srgbClr val="000000"/>
            </a:solidFill>
          </p:spPr>
        </p:sp>
      </p:grpSp>
      <p:sp>
        <p:nvSpPr>
          <p:cNvPr name="TextBox 33" id="33"/>
          <p:cNvSpPr txBox="true"/>
          <p:nvPr/>
        </p:nvSpPr>
        <p:spPr>
          <a:xfrm rot="0">
            <a:off x="3137691" y="803894"/>
            <a:ext cx="12012101" cy="2483171"/>
          </a:xfrm>
          <a:prstGeom prst="rect">
            <a:avLst/>
          </a:prstGeom>
        </p:spPr>
        <p:txBody>
          <a:bodyPr anchor="t" rtlCol="false" tIns="0" lIns="0" bIns="0" rIns="0">
            <a:spAutoFit/>
          </a:bodyPr>
          <a:lstStyle/>
          <a:p>
            <a:pPr algn="ctr">
              <a:lnSpc>
                <a:spcPts val="20107"/>
              </a:lnSpc>
            </a:pPr>
            <a:r>
              <a:rPr lang="en-US" sz="14362">
                <a:gradFill>
                  <a:gsLst>
                    <a:gs pos="0">
                      <a:srgbClr val="7B2D9F">
                        <a:alpha val="100000"/>
                      </a:srgbClr>
                    </a:gs>
                    <a:gs pos="100000">
                      <a:srgbClr val="FDD82E">
                        <a:alpha val="100000"/>
                      </a:srgbClr>
                    </a:gs>
                  </a:gsLst>
                  <a:lin ang="5400000"/>
                </a:gradFill>
                <a:latin typeface="Luckiest Guy"/>
                <a:ea typeface="Luckiest Guy"/>
                <a:cs typeface="Luckiest Guy"/>
                <a:sym typeface="Luckiest Guy"/>
              </a:rPr>
              <a:t>OBJECTIVE</a:t>
            </a:r>
          </a:p>
        </p:txBody>
      </p:sp>
      <p:sp>
        <p:nvSpPr>
          <p:cNvPr name="TextBox 34" id="34"/>
          <p:cNvSpPr txBox="true"/>
          <p:nvPr/>
        </p:nvSpPr>
        <p:spPr>
          <a:xfrm rot="0">
            <a:off x="1519873" y="3277753"/>
            <a:ext cx="14645062" cy="808355"/>
          </a:xfrm>
          <a:prstGeom prst="rect">
            <a:avLst/>
          </a:prstGeom>
        </p:spPr>
        <p:txBody>
          <a:bodyPr anchor="t" rtlCol="false" tIns="0" lIns="0" bIns="0" rIns="0">
            <a:spAutoFit/>
          </a:bodyPr>
          <a:lstStyle/>
          <a:p>
            <a:pPr algn="ctr">
              <a:lnSpc>
                <a:spcPts val="3219"/>
              </a:lnSpc>
              <a:spcBef>
                <a:spcPct val="0"/>
              </a:spcBef>
            </a:pPr>
            <a:r>
              <a:rPr lang="en-US" sz="2799">
                <a:solidFill>
                  <a:srgbClr val="000000"/>
                </a:solidFill>
                <a:latin typeface="Comic Sans"/>
                <a:ea typeface="Comic Sans"/>
                <a:cs typeface="Comic Sans"/>
                <a:sym typeface="Comic Sans"/>
              </a:rPr>
              <a:t>Primary Goal: To create a secure, smartphone-based authentication system that acts as a digital backup for college access cards.</a:t>
            </a:r>
          </a:p>
        </p:txBody>
      </p:sp>
      <p:grpSp>
        <p:nvGrpSpPr>
          <p:cNvPr name="Group 35" id="35"/>
          <p:cNvGrpSpPr/>
          <p:nvPr/>
        </p:nvGrpSpPr>
        <p:grpSpPr>
          <a:xfrm rot="0">
            <a:off x="6567554" y="4625800"/>
            <a:ext cx="5468848" cy="2302799"/>
            <a:chOff x="0" y="0"/>
            <a:chExt cx="15831984" cy="6666464"/>
          </a:xfrm>
        </p:grpSpPr>
        <p:sp>
          <p:nvSpPr>
            <p:cNvPr name="Freeform 36" id="36"/>
            <p:cNvSpPr/>
            <p:nvPr/>
          </p:nvSpPr>
          <p:spPr>
            <a:xfrm flipH="false" flipV="false" rot="0">
              <a:off x="72390" y="72390"/>
              <a:ext cx="15687205" cy="6521684"/>
            </a:xfrm>
            <a:custGeom>
              <a:avLst/>
              <a:gdLst/>
              <a:ahLst/>
              <a:cxnLst/>
              <a:rect r="r" b="b" t="t" l="l"/>
              <a:pathLst>
                <a:path h="6521684" w="15687205">
                  <a:moveTo>
                    <a:pt x="0" y="0"/>
                  </a:moveTo>
                  <a:lnTo>
                    <a:pt x="15687205" y="0"/>
                  </a:lnTo>
                  <a:lnTo>
                    <a:pt x="15687205" y="6521684"/>
                  </a:lnTo>
                  <a:lnTo>
                    <a:pt x="0" y="6521684"/>
                  </a:lnTo>
                  <a:lnTo>
                    <a:pt x="0" y="0"/>
                  </a:lnTo>
                  <a:close/>
                </a:path>
              </a:pathLst>
            </a:custGeom>
            <a:solidFill>
              <a:srgbClr val="FFFFFF"/>
            </a:solidFill>
          </p:spPr>
        </p:sp>
        <p:sp>
          <p:nvSpPr>
            <p:cNvPr name="Freeform 37" id="37"/>
            <p:cNvSpPr/>
            <p:nvPr/>
          </p:nvSpPr>
          <p:spPr>
            <a:xfrm flipH="false" flipV="false" rot="0">
              <a:off x="0" y="0"/>
              <a:ext cx="15831984" cy="6666464"/>
            </a:xfrm>
            <a:custGeom>
              <a:avLst/>
              <a:gdLst/>
              <a:ahLst/>
              <a:cxnLst/>
              <a:rect r="r" b="b" t="t" l="l"/>
              <a:pathLst>
                <a:path h="6666464" w="15831984">
                  <a:moveTo>
                    <a:pt x="15687204" y="6521684"/>
                  </a:moveTo>
                  <a:lnTo>
                    <a:pt x="15831984" y="6521684"/>
                  </a:lnTo>
                  <a:lnTo>
                    <a:pt x="15831984" y="6666464"/>
                  </a:lnTo>
                  <a:lnTo>
                    <a:pt x="15687204" y="6666464"/>
                  </a:lnTo>
                  <a:lnTo>
                    <a:pt x="15687204" y="6521684"/>
                  </a:lnTo>
                  <a:close/>
                  <a:moveTo>
                    <a:pt x="0" y="144780"/>
                  </a:moveTo>
                  <a:lnTo>
                    <a:pt x="144780" y="144780"/>
                  </a:lnTo>
                  <a:lnTo>
                    <a:pt x="144780" y="6521684"/>
                  </a:lnTo>
                  <a:lnTo>
                    <a:pt x="0" y="6521684"/>
                  </a:lnTo>
                  <a:lnTo>
                    <a:pt x="0" y="144780"/>
                  </a:lnTo>
                  <a:close/>
                  <a:moveTo>
                    <a:pt x="0" y="6521684"/>
                  </a:moveTo>
                  <a:lnTo>
                    <a:pt x="144780" y="6521684"/>
                  </a:lnTo>
                  <a:lnTo>
                    <a:pt x="144780" y="6666464"/>
                  </a:lnTo>
                  <a:lnTo>
                    <a:pt x="0" y="6666464"/>
                  </a:lnTo>
                  <a:lnTo>
                    <a:pt x="0" y="6521684"/>
                  </a:lnTo>
                  <a:close/>
                  <a:moveTo>
                    <a:pt x="15687204" y="144780"/>
                  </a:moveTo>
                  <a:lnTo>
                    <a:pt x="15831984" y="144780"/>
                  </a:lnTo>
                  <a:lnTo>
                    <a:pt x="15831984" y="6521684"/>
                  </a:lnTo>
                  <a:lnTo>
                    <a:pt x="15687204" y="6521684"/>
                  </a:lnTo>
                  <a:lnTo>
                    <a:pt x="15687204" y="144780"/>
                  </a:lnTo>
                  <a:close/>
                  <a:moveTo>
                    <a:pt x="144780" y="6521684"/>
                  </a:moveTo>
                  <a:lnTo>
                    <a:pt x="15687204" y="6521684"/>
                  </a:lnTo>
                  <a:lnTo>
                    <a:pt x="15687204" y="6666464"/>
                  </a:lnTo>
                  <a:lnTo>
                    <a:pt x="144780" y="6666464"/>
                  </a:lnTo>
                  <a:lnTo>
                    <a:pt x="144780" y="6521684"/>
                  </a:lnTo>
                  <a:close/>
                  <a:moveTo>
                    <a:pt x="15687204" y="0"/>
                  </a:moveTo>
                  <a:lnTo>
                    <a:pt x="15831984" y="0"/>
                  </a:lnTo>
                  <a:lnTo>
                    <a:pt x="15831984" y="144780"/>
                  </a:lnTo>
                  <a:lnTo>
                    <a:pt x="15687204" y="144780"/>
                  </a:lnTo>
                  <a:lnTo>
                    <a:pt x="15687204" y="0"/>
                  </a:lnTo>
                  <a:close/>
                  <a:moveTo>
                    <a:pt x="0" y="0"/>
                  </a:moveTo>
                  <a:lnTo>
                    <a:pt x="144780" y="0"/>
                  </a:lnTo>
                  <a:lnTo>
                    <a:pt x="144780" y="144780"/>
                  </a:lnTo>
                  <a:lnTo>
                    <a:pt x="0" y="144780"/>
                  </a:lnTo>
                  <a:lnTo>
                    <a:pt x="0" y="0"/>
                  </a:lnTo>
                  <a:close/>
                  <a:moveTo>
                    <a:pt x="144780" y="0"/>
                  </a:moveTo>
                  <a:lnTo>
                    <a:pt x="15687204" y="0"/>
                  </a:lnTo>
                  <a:lnTo>
                    <a:pt x="15687204" y="144780"/>
                  </a:lnTo>
                  <a:lnTo>
                    <a:pt x="144780" y="144780"/>
                  </a:lnTo>
                  <a:lnTo>
                    <a:pt x="144780" y="0"/>
                  </a:lnTo>
                  <a:close/>
                </a:path>
              </a:pathLst>
            </a:custGeom>
            <a:solidFill>
              <a:srgbClr val="000000"/>
            </a:solidFill>
          </p:spPr>
        </p:sp>
      </p:grpSp>
      <p:grpSp>
        <p:nvGrpSpPr>
          <p:cNvPr name="Group 38" id="38"/>
          <p:cNvGrpSpPr/>
          <p:nvPr/>
        </p:nvGrpSpPr>
        <p:grpSpPr>
          <a:xfrm rot="0">
            <a:off x="12216551" y="4499847"/>
            <a:ext cx="5336840" cy="2627712"/>
            <a:chOff x="0" y="0"/>
            <a:chExt cx="15831984" cy="7795231"/>
          </a:xfrm>
        </p:grpSpPr>
        <p:sp>
          <p:nvSpPr>
            <p:cNvPr name="Freeform 39" id="39"/>
            <p:cNvSpPr/>
            <p:nvPr/>
          </p:nvSpPr>
          <p:spPr>
            <a:xfrm flipH="false" flipV="false" rot="0">
              <a:off x="72390" y="72390"/>
              <a:ext cx="15687205" cy="7650451"/>
            </a:xfrm>
            <a:custGeom>
              <a:avLst/>
              <a:gdLst/>
              <a:ahLst/>
              <a:cxnLst/>
              <a:rect r="r" b="b" t="t" l="l"/>
              <a:pathLst>
                <a:path h="7650451" w="15687205">
                  <a:moveTo>
                    <a:pt x="0" y="0"/>
                  </a:moveTo>
                  <a:lnTo>
                    <a:pt x="15687205" y="0"/>
                  </a:lnTo>
                  <a:lnTo>
                    <a:pt x="15687205" y="7650451"/>
                  </a:lnTo>
                  <a:lnTo>
                    <a:pt x="0" y="7650451"/>
                  </a:lnTo>
                  <a:lnTo>
                    <a:pt x="0" y="0"/>
                  </a:lnTo>
                  <a:close/>
                </a:path>
              </a:pathLst>
            </a:custGeom>
            <a:solidFill>
              <a:srgbClr val="FFFFFF"/>
            </a:solidFill>
          </p:spPr>
        </p:sp>
        <p:sp>
          <p:nvSpPr>
            <p:cNvPr name="Freeform 40" id="40"/>
            <p:cNvSpPr/>
            <p:nvPr/>
          </p:nvSpPr>
          <p:spPr>
            <a:xfrm flipH="false" flipV="false" rot="0">
              <a:off x="0" y="0"/>
              <a:ext cx="15831984" cy="7795231"/>
            </a:xfrm>
            <a:custGeom>
              <a:avLst/>
              <a:gdLst/>
              <a:ahLst/>
              <a:cxnLst/>
              <a:rect r="r" b="b" t="t" l="l"/>
              <a:pathLst>
                <a:path h="7795231" w="15831984">
                  <a:moveTo>
                    <a:pt x="15687204" y="7650451"/>
                  </a:moveTo>
                  <a:lnTo>
                    <a:pt x="15831984" y="7650451"/>
                  </a:lnTo>
                  <a:lnTo>
                    <a:pt x="15831984" y="7795231"/>
                  </a:lnTo>
                  <a:lnTo>
                    <a:pt x="15687204" y="7795231"/>
                  </a:lnTo>
                  <a:lnTo>
                    <a:pt x="15687204" y="7650451"/>
                  </a:lnTo>
                  <a:close/>
                  <a:moveTo>
                    <a:pt x="0" y="144780"/>
                  </a:moveTo>
                  <a:lnTo>
                    <a:pt x="144780" y="144780"/>
                  </a:lnTo>
                  <a:lnTo>
                    <a:pt x="144780" y="7650451"/>
                  </a:lnTo>
                  <a:lnTo>
                    <a:pt x="0" y="7650451"/>
                  </a:lnTo>
                  <a:lnTo>
                    <a:pt x="0" y="144780"/>
                  </a:lnTo>
                  <a:close/>
                  <a:moveTo>
                    <a:pt x="0" y="7650451"/>
                  </a:moveTo>
                  <a:lnTo>
                    <a:pt x="144780" y="7650451"/>
                  </a:lnTo>
                  <a:lnTo>
                    <a:pt x="144780" y="7795231"/>
                  </a:lnTo>
                  <a:lnTo>
                    <a:pt x="0" y="7795231"/>
                  </a:lnTo>
                  <a:lnTo>
                    <a:pt x="0" y="7650451"/>
                  </a:lnTo>
                  <a:close/>
                  <a:moveTo>
                    <a:pt x="15687204" y="144780"/>
                  </a:moveTo>
                  <a:lnTo>
                    <a:pt x="15831984" y="144780"/>
                  </a:lnTo>
                  <a:lnTo>
                    <a:pt x="15831984" y="7650451"/>
                  </a:lnTo>
                  <a:lnTo>
                    <a:pt x="15687204" y="7650451"/>
                  </a:lnTo>
                  <a:lnTo>
                    <a:pt x="15687204" y="144780"/>
                  </a:lnTo>
                  <a:close/>
                  <a:moveTo>
                    <a:pt x="144780" y="7650451"/>
                  </a:moveTo>
                  <a:lnTo>
                    <a:pt x="15687204" y="7650451"/>
                  </a:lnTo>
                  <a:lnTo>
                    <a:pt x="15687204" y="7795231"/>
                  </a:lnTo>
                  <a:lnTo>
                    <a:pt x="144780" y="7795231"/>
                  </a:lnTo>
                  <a:lnTo>
                    <a:pt x="144780" y="7650451"/>
                  </a:lnTo>
                  <a:close/>
                  <a:moveTo>
                    <a:pt x="15687204" y="0"/>
                  </a:moveTo>
                  <a:lnTo>
                    <a:pt x="15831984" y="0"/>
                  </a:lnTo>
                  <a:lnTo>
                    <a:pt x="15831984" y="144780"/>
                  </a:lnTo>
                  <a:lnTo>
                    <a:pt x="15687204" y="144780"/>
                  </a:lnTo>
                  <a:lnTo>
                    <a:pt x="15687204" y="0"/>
                  </a:lnTo>
                  <a:close/>
                  <a:moveTo>
                    <a:pt x="0" y="0"/>
                  </a:moveTo>
                  <a:lnTo>
                    <a:pt x="144780" y="0"/>
                  </a:lnTo>
                  <a:lnTo>
                    <a:pt x="144780" y="144780"/>
                  </a:lnTo>
                  <a:lnTo>
                    <a:pt x="0" y="144780"/>
                  </a:lnTo>
                  <a:lnTo>
                    <a:pt x="0" y="0"/>
                  </a:lnTo>
                  <a:close/>
                  <a:moveTo>
                    <a:pt x="144780" y="0"/>
                  </a:moveTo>
                  <a:lnTo>
                    <a:pt x="15687204" y="0"/>
                  </a:lnTo>
                  <a:lnTo>
                    <a:pt x="15687204" y="144780"/>
                  </a:lnTo>
                  <a:lnTo>
                    <a:pt x="144780" y="144780"/>
                  </a:lnTo>
                  <a:lnTo>
                    <a:pt x="144780" y="0"/>
                  </a:lnTo>
                  <a:close/>
                </a:path>
              </a:pathLst>
            </a:custGeom>
            <a:solidFill>
              <a:srgbClr val="000000"/>
            </a:solidFill>
          </p:spPr>
        </p:sp>
      </p:grpSp>
      <p:grpSp>
        <p:nvGrpSpPr>
          <p:cNvPr name="Group 41" id="41"/>
          <p:cNvGrpSpPr/>
          <p:nvPr/>
        </p:nvGrpSpPr>
        <p:grpSpPr>
          <a:xfrm rot="0">
            <a:off x="1970508" y="7276117"/>
            <a:ext cx="7288442" cy="2103122"/>
            <a:chOff x="0" y="0"/>
            <a:chExt cx="20502174" cy="5916019"/>
          </a:xfrm>
        </p:grpSpPr>
        <p:sp>
          <p:nvSpPr>
            <p:cNvPr name="Freeform 42" id="42"/>
            <p:cNvSpPr/>
            <p:nvPr/>
          </p:nvSpPr>
          <p:spPr>
            <a:xfrm flipH="false" flipV="false" rot="0">
              <a:off x="72390" y="72390"/>
              <a:ext cx="20357394" cy="5771240"/>
            </a:xfrm>
            <a:custGeom>
              <a:avLst/>
              <a:gdLst/>
              <a:ahLst/>
              <a:cxnLst/>
              <a:rect r="r" b="b" t="t" l="l"/>
              <a:pathLst>
                <a:path h="5771240" w="20357394">
                  <a:moveTo>
                    <a:pt x="0" y="0"/>
                  </a:moveTo>
                  <a:lnTo>
                    <a:pt x="20357394" y="0"/>
                  </a:lnTo>
                  <a:lnTo>
                    <a:pt x="20357394" y="5771240"/>
                  </a:lnTo>
                  <a:lnTo>
                    <a:pt x="0" y="5771240"/>
                  </a:lnTo>
                  <a:lnTo>
                    <a:pt x="0" y="0"/>
                  </a:lnTo>
                  <a:close/>
                </a:path>
              </a:pathLst>
            </a:custGeom>
            <a:solidFill>
              <a:srgbClr val="FFFFFF"/>
            </a:solidFill>
          </p:spPr>
        </p:sp>
        <p:sp>
          <p:nvSpPr>
            <p:cNvPr name="Freeform 43" id="43"/>
            <p:cNvSpPr/>
            <p:nvPr/>
          </p:nvSpPr>
          <p:spPr>
            <a:xfrm flipH="false" flipV="false" rot="0">
              <a:off x="0" y="0"/>
              <a:ext cx="20502173" cy="5916020"/>
            </a:xfrm>
            <a:custGeom>
              <a:avLst/>
              <a:gdLst/>
              <a:ahLst/>
              <a:cxnLst/>
              <a:rect r="r" b="b" t="t" l="l"/>
              <a:pathLst>
                <a:path h="5916020" w="20502173">
                  <a:moveTo>
                    <a:pt x="20357395" y="5771240"/>
                  </a:moveTo>
                  <a:lnTo>
                    <a:pt x="20502173" y="5771240"/>
                  </a:lnTo>
                  <a:lnTo>
                    <a:pt x="20502173" y="5916020"/>
                  </a:lnTo>
                  <a:lnTo>
                    <a:pt x="20357395" y="5916020"/>
                  </a:lnTo>
                  <a:lnTo>
                    <a:pt x="20357395" y="5771240"/>
                  </a:lnTo>
                  <a:close/>
                  <a:moveTo>
                    <a:pt x="0" y="144780"/>
                  </a:moveTo>
                  <a:lnTo>
                    <a:pt x="144780" y="144780"/>
                  </a:lnTo>
                  <a:lnTo>
                    <a:pt x="144780" y="5771240"/>
                  </a:lnTo>
                  <a:lnTo>
                    <a:pt x="0" y="5771240"/>
                  </a:lnTo>
                  <a:lnTo>
                    <a:pt x="0" y="144780"/>
                  </a:lnTo>
                  <a:close/>
                  <a:moveTo>
                    <a:pt x="0" y="5771240"/>
                  </a:moveTo>
                  <a:lnTo>
                    <a:pt x="144780" y="5771240"/>
                  </a:lnTo>
                  <a:lnTo>
                    <a:pt x="144780" y="5916020"/>
                  </a:lnTo>
                  <a:lnTo>
                    <a:pt x="0" y="5916020"/>
                  </a:lnTo>
                  <a:lnTo>
                    <a:pt x="0" y="5771240"/>
                  </a:lnTo>
                  <a:close/>
                  <a:moveTo>
                    <a:pt x="20357395" y="144780"/>
                  </a:moveTo>
                  <a:lnTo>
                    <a:pt x="20502173" y="144780"/>
                  </a:lnTo>
                  <a:lnTo>
                    <a:pt x="20502173" y="5771240"/>
                  </a:lnTo>
                  <a:lnTo>
                    <a:pt x="20357395" y="5771240"/>
                  </a:lnTo>
                  <a:lnTo>
                    <a:pt x="20357395" y="144780"/>
                  </a:lnTo>
                  <a:close/>
                  <a:moveTo>
                    <a:pt x="144780" y="5771240"/>
                  </a:moveTo>
                  <a:lnTo>
                    <a:pt x="20357395" y="5771240"/>
                  </a:lnTo>
                  <a:lnTo>
                    <a:pt x="20357395" y="5916020"/>
                  </a:lnTo>
                  <a:lnTo>
                    <a:pt x="144780" y="5916020"/>
                  </a:lnTo>
                  <a:lnTo>
                    <a:pt x="144780" y="5771240"/>
                  </a:lnTo>
                  <a:close/>
                  <a:moveTo>
                    <a:pt x="20357395" y="0"/>
                  </a:moveTo>
                  <a:lnTo>
                    <a:pt x="20502173" y="0"/>
                  </a:lnTo>
                  <a:lnTo>
                    <a:pt x="20502173" y="144780"/>
                  </a:lnTo>
                  <a:lnTo>
                    <a:pt x="20357395" y="144780"/>
                  </a:lnTo>
                  <a:lnTo>
                    <a:pt x="20357395" y="0"/>
                  </a:lnTo>
                  <a:close/>
                  <a:moveTo>
                    <a:pt x="0" y="0"/>
                  </a:moveTo>
                  <a:lnTo>
                    <a:pt x="144780" y="0"/>
                  </a:lnTo>
                  <a:lnTo>
                    <a:pt x="144780" y="144780"/>
                  </a:lnTo>
                  <a:lnTo>
                    <a:pt x="0" y="144780"/>
                  </a:lnTo>
                  <a:lnTo>
                    <a:pt x="0" y="0"/>
                  </a:lnTo>
                  <a:close/>
                  <a:moveTo>
                    <a:pt x="144780" y="0"/>
                  </a:moveTo>
                  <a:lnTo>
                    <a:pt x="20357395" y="0"/>
                  </a:lnTo>
                  <a:lnTo>
                    <a:pt x="20357395" y="144780"/>
                  </a:lnTo>
                  <a:lnTo>
                    <a:pt x="144780" y="144780"/>
                  </a:lnTo>
                  <a:lnTo>
                    <a:pt x="144780" y="0"/>
                  </a:lnTo>
                  <a:close/>
                </a:path>
              </a:pathLst>
            </a:custGeom>
            <a:solidFill>
              <a:srgbClr val="000000"/>
            </a:solidFill>
          </p:spPr>
        </p:sp>
      </p:grpSp>
      <p:grpSp>
        <p:nvGrpSpPr>
          <p:cNvPr name="Group 44" id="44"/>
          <p:cNvGrpSpPr/>
          <p:nvPr/>
        </p:nvGrpSpPr>
        <p:grpSpPr>
          <a:xfrm rot="0">
            <a:off x="10389933" y="7328092"/>
            <a:ext cx="5192579" cy="1999173"/>
            <a:chOff x="0" y="0"/>
            <a:chExt cx="15232054" cy="5864428"/>
          </a:xfrm>
        </p:grpSpPr>
        <p:sp>
          <p:nvSpPr>
            <p:cNvPr name="Freeform 45" id="45"/>
            <p:cNvSpPr/>
            <p:nvPr/>
          </p:nvSpPr>
          <p:spPr>
            <a:xfrm flipH="false" flipV="false" rot="0">
              <a:off x="72390" y="72390"/>
              <a:ext cx="15087274" cy="5719648"/>
            </a:xfrm>
            <a:custGeom>
              <a:avLst/>
              <a:gdLst/>
              <a:ahLst/>
              <a:cxnLst/>
              <a:rect r="r" b="b" t="t" l="l"/>
              <a:pathLst>
                <a:path h="5719648" w="15087274">
                  <a:moveTo>
                    <a:pt x="0" y="0"/>
                  </a:moveTo>
                  <a:lnTo>
                    <a:pt x="15087274" y="0"/>
                  </a:lnTo>
                  <a:lnTo>
                    <a:pt x="15087274" y="5719648"/>
                  </a:lnTo>
                  <a:lnTo>
                    <a:pt x="0" y="5719648"/>
                  </a:lnTo>
                  <a:lnTo>
                    <a:pt x="0" y="0"/>
                  </a:lnTo>
                  <a:close/>
                </a:path>
              </a:pathLst>
            </a:custGeom>
            <a:solidFill>
              <a:srgbClr val="FFFFFF"/>
            </a:solidFill>
          </p:spPr>
        </p:sp>
        <p:sp>
          <p:nvSpPr>
            <p:cNvPr name="Freeform 46" id="46"/>
            <p:cNvSpPr/>
            <p:nvPr/>
          </p:nvSpPr>
          <p:spPr>
            <a:xfrm flipH="false" flipV="false" rot="0">
              <a:off x="0" y="0"/>
              <a:ext cx="15232055" cy="5864428"/>
            </a:xfrm>
            <a:custGeom>
              <a:avLst/>
              <a:gdLst/>
              <a:ahLst/>
              <a:cxnLst/>
              <a:rect r="r" b="b" t="t" l="l"/>
              <a:pathLst>
                <a:path h="5864428" w="15232055">
                  <a:moveTo>
                    <a:pt x="15087274" y="5719648"/>
                  </a:moveTo>
                  <a:lnTo>
                    <a:pt x="15232055" y="5719648"/>
                  </a:lnTo>
                  <a:lnTo>
                    <a:pt x="15232055" y="5864428"/>
                  </a:lnTo>
                  <a:lnTo>
                    <a:pt x="15087274" y="5864428"/>
                  </a:lnTo>
                  <a:lnTo>
                    <a:pt x="15087274" y="5719648"/>
                  </a:lnTo>
                  <a:close/>
                  <a:moveTo>
                    <a:pt x="0" y="144780"/>
                  </a:moveTo>
                  <a:lnTo>
                    <a:pt x="144780" y="144780"/>
                  </a:lnTo>
                  <a:lnTo>
                    <a:pt x="144780" y="5719648"/>
                  </a:lnTo>
                  <a:lnTo>
                    <a:pt x="0" y="5719648"/>
                  </a:lnTo>
                  <a:lnTo>
                    <a:pt x="0" y="144780"/>
                  </a:lnTo>
                  <a:close/>
                  <a:moveTo>
                    <a:pt x="0" y="5719648"/>
                  </a:moveTo>
                  <a:lnTo>
                    <a:pt x="144780" y="5719648"/>
                  </a:lnTo>
                  <a:lnTo>
                    <a:pt x="144780" y="5864428"/>
                  </a:lnTo>
                  <a:lnTo>
                    <a:pt x="0" y="5864428"/>
                  </a:lnTo>
                  <a:lnTo>
                    <a:pt x="0" y="5719648"/>
                  </a:lnTo>
                  <a:close/>
                  <a:moveTo>
                    <a:pt x="15087274" y="144780"/>
                  </a:moveTo>
                  <a:lnTo>
                    <a:pt x="15232055" y="144780"/>
                  </a:lnTo>
                  <a:lnTo>
                    <a:pt x="15232055" y="5719648"/>
                  </a:lnTo>
                  <a:lnTo>
                    <a:pt x="15087274" y="5719648"/>
                  </a:lnTo>
                  <a:lnTo>
                    <a:pt x="15087274" y="144780"/>
                  </a:lnTo>
                  <a:close/>
                  <a:moveTo>
                    <a:pt x="144780" y="5719648"/>
                  </a:moveTo>
                  <a:lnTo>
                    <a:pt x="15087274" y="5719648"/>
                  </a:lnTo>
                  <a:lnTo>
                    <a:pt x="15087274" y="5864428"/>
                  </a:lnTo>
                  <a:lnTo>
                    <a:pt x="144780" y="5864428"/>
                  </a:lnTo>
                  <a:lnTo>
                    <a:pt x="144780" y="5719648"/>
                  </a:lnTo>
                  <a:close/>
                  <a:moveTo>
                    <a:pt x="15087274" y="0"/>
                  </a:moveTo>
                  <a:lnTo>
                    <a:pt x="15232055" y="0"/>
                  </a:lnTo>
                  <a:lnTo>
                    <a:pt x="15232055" y="144780"/>
                  </a:lnTo>
                  <a:lnTo>
                    <a:pt x="15087274" y="144780"/>
                  </a:lnTo>
                  <a:lnTo>
                    <a:pt x="15087274" y="0"/>
                  </a:lnTo>
                  <a:close/>
                  <a:moveTo>
                    <a:pt x="0" y="0"/>
                  </a:moveTo>
                  <a:lnTo>
                    <a:pt x="144780" y="0"/>
                  </a:lnTo>
                  <a:lnTo>
                    <a:pt x="144780" y="144780"/>
                  </a:lnTo>
                  <a:lnTo>
                    <a:pt x="0" y="144780"/>
                  </a:lnTo>
                  <a:lnTo>
                    <a:pt x="0" y="0"/>
                  </a:lnTo>
                  <a:close/>
                  <a:moveTo>
                    <a:pt x="144780" y="0"/>
                  </a:moveTo>
                  <a:lnTo>
                    <a:pt x="15087274" y="0"/>
                  </a:lnTo>
                  <a:lnTo>
                    <a:pt x="15087274" y="144780"/>
                  </a:lnTo>
                  <a:lnTo>
                    <a:pt x="144780" y="144780"/>
                  </a:lnTo>
                  <a:lnTo>
                    <a:pt x="144780" y="0"/>
                  </a:lnTo>
                  <a:close/>
                </a:path>
              </a:pathLst>
            </a:custGeom>
            <a:solidFill>
              <a:srgbClr val="000000"/>
            </a:solidFill>
          </p:spPr>
        </p:sp>
      </p:grpSp>
      <p:sp>
        <p:nvSpPr>
          <p:cNvPr name="TextBox 47" id="47"/>
          <p:cNvSpPr txBox="true"/>
          <p:nvPr/>
        </p:nvSpPr>
        <p:spPr>
          <a:xfrm rot="0">
            <a:off x="6741560" y="4854545"/>
            <a:ext cx="5120835" cy="1864360"/>
          </a:xfrm>
          <a:prstGeom prst="rect">
            <a:avLst/>
          </a:prstGeom>
        </p:spPr>
        <p:txBody>
          <a:bodyPr anchor="t" rtlCol="false" tIns="0" lIns="0" bIns="0" rIns="0">
            <a:spAutoFit/>
          </a:bodyPr>
          <a:lstStyle/>
          <a:p>
            <a:pPr algn="ctr">
              <a:lnSpc>
                <a:spcPts val="2989"/>
              </a:lnSpc>
              <a:spcBef>
                <a:spcPct val="0"/>
              </a:spcBef>
            </a:pPr>
            <a:r>
              <a:rPr lang="en-US" sz="2599">
                <a:solidFill>
                  <a:srgbClr val="000000"/>
                </a:solidFill>
                <a:latin typeface="Comic Sans"/>
                <a:ea typeface="Comic Sans"/>
                <a:cs typeface="Comic Sans"/>
                <a:sym typeface="Comic Sans"/>
              </a:rPr>
              <a:t>M</a:t>
            </a:r>
            <a:r>
              <a:rPr lang="en-US" sz="2599">
                <a:solidFill>
                  <a:srgbClr val="000000"/>
                </a:solidFill>
                <a:latin typeface="Comic Sans"/>
                <a:ea typeface="Comic Sans"/>
                <a:cs typeface="Comic Sans"/>
                <a:sym typeface="Comic Sans"/>
              </a:rPr>
              <a:t> - Measurable</a:t>
            </a:r>
          </a:p>
          <a:p>
            <a:pPr algn="ctr">
              <a:lnSpc>
                <a:spcPts val="2989"/>
              </a:lnSpc>
              <a:spcBef>
                <a:spcPct val="0"/>
              </a:spcBef>
            </a:pPr>
            <a:r>
              <a:rPr lang="en-US" sz="2599">
                <a:solidFill>
                  <a:srgbClr val="000000"/>
                </a:solidFill>
                <a:latin typeface="Comic Sans"/>
                <a:ea typeface="Comic Sans"/>
                <a:cs typeface="Comic Sans"/>
                <a:sym typeface="Comic Sans"/>
              </a:rPr>
              <a:t>Success is measured by the app unlocking a test door reader.</a:t>
            </a:r>
          </a:p>
          <a:p>
            <a:pPr algn="ctr">
              <a:lnSpc>
                <a:spcPts val="2989"/>
              </a:lnSpc>
              <a:spcBef>
                <a:spcPct val="0"/>
              </a:spcBef>
            </a:pPr>
            <a:r>
              <a:rPr lang="en-US" sz="2599">
                <a:solidFill>
                  <a:srgbClr val="000000"/>
                </a:solidFill>
                <a:latin typeface="Comic Sans"/>
                <a:ea typeface="Comic Sans"/>
                <a:cs typeface="Comic Sans"/>
                <a:sym typeface="Comic Sans"/>
              </a:rPr>
              <a:t>Test: App → Reader → "Unlock" Signal ✅</a:t>
            </a:r>
          </a:p>
        </p:txBody>
      </p:sp>
      <p:sp>
        <p:nvSpPr>
          <p:cNvPr name="TextBox 48" id="48"/>
          <p:cNvSpPr txBox="true"/>
          <p:nvPr/>
        </p:nvSpPr>
        <p:spPr>
          <a:xfrm rot="0">
            <a:off x="12324554" y="4726246"/>
            <a:ext cx="5120835" cy="2235835"/>
          </a:xfrm>
          <a:prstGeom prst="rect">
            <a:avLst/>
          </a:prstGeom>
        </p:spPr>
        <p:txBody>
          <a:bodyPr anchor="t" rtlCol="false" tIns="0" lIns="0" bIns="0" rIns="0">
            <a:spAutoFit/>
          </a:bodyPr>
          <a:lstStyle/>
          <a:p>
            <a:pPr algn="ctr">
              <a:lnSpc>
                <a:spcPts val="2989"/>
              </a:lnSpc>
              <a:spcBef>
                <a:spcPct val="0"/>
              </a:spcBef>
            </a:pPr>
            <a:r>
              <a:rPr lang="en-US" sz="2599">
                <a:solidFill>
                  <a:srgbClr val="000000"/>
                </a:solidFill>
                <a:latin typeface="Comic Sans"/>
                <a:ea typeface="Comic Sans"/>
                <a:cs typeface="Comic Sans"/>
                <a:sym typeface="Comic Sans"/>
              </a:rPr>
              <a:t>A</a:t>
            </a:r>
            <a:r>
              <a:rPr lang="en-US" sz="2599">
                <a:solidFill>
                  <a:srgbClr val="000000"/>
                </a:solidFill>
                <a:latin typeface="Comic Sans"/>
                <a:ea typeface="Comic Sans"/>
                <a:cs typeface="Comic Sans"/>
                <a:sym typeface="Comic Sans"/>
              </a:rPr>
              <a:t> - Achievable</a:t>
            </a:r>
          </a:p>
          <a:p>
            <a:pPr algn="ctr">
              <a:lnSpc>
                <a:spcPts val="2989"/>
              </a:lnSpc>
              <a:spcBef>
                <a:spcPct val="0"/>
              </a:spcBef>
            </a:pPr>
            <a:r>
              <a:rPr lang="en-US" sz="2599">
                <a:solidFill>
                  <a:srgbClr val="000000"/>
                </a:solidFill>
                <a:latin typeface="Comic Sans"/>
                <a:ea typeface="Comic Sans"/>
                <a:cs typeface="Comic Sans"/>
                <a:sym typeface="Comic Sans"/>
              </a:rPr>
              <a:t>Tool: Android Studio.</a:t>
            </a:r>
          </a:p>
          <a:p>
            <a:pPr algn="ctr">
              <a:lnSpc>
                <a:spcPts val="2989"/>
              </a:lnSpc>
              <a:spcBef>
                <a:spcPct val="0"/>
              </a:spcBef>
            </a:pPr>
            <a:r>
              <a:rPr lang="en-US" sz="2599">
                <a:solidFill>
                  <a:srgbClr val="000000"/>
                </a:solidFill>
                <a:latin typeface="Comic Sans"/>
                <a:ea typeface="Comic Sans"/>
                <a:cs typeface="Comic Sans"/>
                <a:sym typeface="Comic Sans"/>
              </a:rPr>
              <a:t>Technology: Host Card Emulation (HCE).</a:t>
            </a:r>
          </a:p>
          <a:p>
            <a:pPr algn="ctr">
              <a:lnSpc>
                <a:spcPts val="2989"/>
              </a:lnSpc>
              <a:spcBef>
                <a:spcPct val="0"/>
              </a:spcBef>
            </a:pPr>
            <a:r>
              <a:rPr lang="en-US" sz="2599">
                <a:solidFill>
                  <a:srgbClr val="000000"/>
                </a:solidFill>
                <a:latin typeface="Comic Sans"/>
                <a:ea typeface="Comic Sans"/>
                <a:cs typeface="Comic Sans"/>
                <a:sym typeface="Comic Sans"/>
              </a:rPr>
              <a:t>Platform: Android only (due to iOS restrictions).</a:t>
            </a:r>
          </a:p>
        </p:txBody>
      </p:sp>
      <p:sp>
        <p:nvSpPr>
          <p:cNvPr name="TextBox 49" id="49"/>
          <p:cNvSpPr txBox="true"/>
          <p:nvPr/>
        </p:nvSpPr>
        <p:spPr>
          <a:xfrm rot="0">
            <a:off x="2225735" y="7383239"/>
            <a:ext cx="6818311" cy="1864360"/>
          </a:xfrm>
          <a:prstGeom prst="rect">
            <a:avLst/>
          </a:prstGeom>
        </p:spPr>
        <p:txBody>
          <a:bodyPr anchor="t" rtlCol="false" tIns="0" lIns="0" bIns="0" rIns="0">
            <a:spAutoFit/>
          </a:bodyPr>
          <a:lstStyle/>
          <a:p>
            <a:pPr algn="ctr">
              <a:lnSpc>
                <a:spcPts val="2989"/>
              </a:lnSpc>
              <a:spcBef>
                <a:spcPct val="0"/>
              </a:spcBef>
            </a:pPr>
            <a:r>
              <a:rPr lang="en-US" sz="2599">
                <a:solidFill>
                  <a:srgbClr val="000000"/>
                </a:solidFill>
                <a:latin typeface="Comic Sans"/>
                <a:ea typeface="Comic Sans"/>
                <a:cs typeface="Comic Sans"/>
                <a:sym typeface="Comic Sans"/>
              </a:rPr>
              <a:t>R</a:t>
            </a:r>
            <a:r>
              <a:rPr lang="en-US" sz="2599">
                <a:solidFill>
                  <a:srgbClr val="000000"/>
                </a:solidFill>
                <a:latin typeface="Comic Sans"/>
                <a:ea typeface="Comic Sans"/>
                <a:cs typeface="Comic Sans"/>
                <a:sym typeface="Comic Sans"/>
              </a:rPr>
              <a:t> - Relevant</a:t>
            </a:r>
          </a:p>
          <a:p>
            <a:pPr algn="ctr">
              <a:lnSpc>
                <a:spcPts val="2989"/>
              </a:lnSpc>
              <a:spcBef>
                <a:spcPct val="0"/>
              </a:spcBef>
            </a:pPr>
            <a:r>
              <a:rPr lang="en-US" sz="2599">
                <a:solidFill>
                  <a:srgbClr val="000000"/>
                </a:solidFill>
                <a:latin typeface="Comic Sans"/>
                <a:ea typeface="Comic Sans"/>
                <a:cs typeface="Comic Sans"/>
                <a:sym typeface="Comic Sans"/>
              </a:rPr>
              <a:t>Solves the problem of forgotten cards.</a:t>
            </a:r>
          </a:p>
          <a:p>
            <a:pPr algn="ctr">
              <a:lnSpc>
                <a:spcPts val="2989"/>
              </a:lnSpc>
              <a:spcBef>
                <a:spcPct val="0"/>
              </a:spcBef>
            </a:pPr>
            <a:r>
              <a:rPr lang="en-US" sz="2599">
                <a:solidFill>
                  <a:srgbClr val="000000"/>
                </a:solidFill>
                <a:latin typeface="Comic Sans"/>
                <a:ea typeface="Comic Sans"/>
                <a:cs typeface="Comic Sans"/>
                <a:sym typeface="Comic Sans"/>
              </a:rPr>
              <a:t>Uses a device students always have their smartphone.</a:t>
            </a:r>
          </a:p>
          <a:p>
            <a:pPr algn="ctr">
              <a:lnSpc>
                <a:spcPts val="2989"/>
              </a:lnSpc>
              <a:spcBef>
                <a:spcPct val="0"/>
              </a:spcBef>
            </a:pPr>
            <a:r>
              <a:rPr lang="en-US" sz="2599">
                <a:solidFill>
                  <a:srgbClr val="000000"/>
                </a:solidFill>
                <a:latin typeface="Comic Sans"/>
                <a:ea typeface="Comic Sans"/>
                <a:cs typeface="Comic Sans"/>
                <a:sym typeface="Comic Sans"/>
              </a:rPr>
              <a:t>A practical upgrade to the current system.</a:t>
            </a:r>
          </a:p>
        </p:txBody>
      </p:sp>
      <p:sp>
        <p:nvSpPr>
          <p:cNvPr name="TextBox 50" id="50"/>
          <p:cNvSpPr txBox="true"/>
          <p:nvPr/>
        </p:nvSpPr>
        <p:spPr>
          <a:xfrm rot="0">
            <a:off x="10389933" y="7805385"/>
            <a:ext cx="5120835" cy="1121410"/>
          </a:xfrm>
          <a:prstGeom prst="rect">
            <a:avLst/>
          </a:prstGeom>
        </p:spPr>
        <p:txBody>
          <a:bodyPr anchor="t" rtlCol="false" tIns="0" lIns="0" bIns="0" rIns="0">
            <a:spAutoFit/>
          </a:bodyPr>
          <a:lstStyle/>
          <a:p>
            <a:pPr algn="ctr">
              <a:lnSpc>
                <a:spcPts val="2989"/>
              </a:lnSpc>
              <a:spcBef>
                <a:spcPct val="0"/>
              </a:spcBef>
            </a:pPr>
            <a:r>
              <a:rPr lang="en-US" sz="2599">
                <a:solidFill>
                  <a:srgbClr val="000000"/>
                </a:solidFill>
                <a:latin typeface="Comic Sans"/>
                <a:ea typeface="Comic Sans"/>
                <a:cs typeface="Comic Sans"/>
                <a:sym typeface="Comic Sans"/>
              </a:rPr>
              <a:t>T</a:t>
            </a:r>
            <a:r>
              <a:rPr lang="en-US" sz="2599">
                <a:solidFill>
                  <a:srgbClr val="000000"/>
                </a:solidFill>
                <a:latin typeface="Comic Sans"/>
                <a:ea typeface="Comic Sans"/>
                <a:cs typeface="Comic Sans"/>
                <a:sym typeface="Comic Sans"/>
              </a:rPr>
              <a:t> - Time-Bound</a:t>
            </a:r>
          </a:p>
          <a:p>
            <a:pPr algn="ctr">
              <a:lnSpc>
                <a:spcPts val="2989"/>
              </a:lnSpc>
              <a:spcBef>
                <a:spcPct val="0"/>
              </a:spcBef>
            </a:pPr>
            <a:r>
              <a:rPr lang="en-US" sz="2599">
                <a:solidFill>
                  <a:srgbClr val="000000"/>
                </a:solidFill>
                <a:latin typeface="Comic Sans"/>
                <a:ea typeface="Comic Sans"/>
                <a:cs typeface="Comic Sans"/>
                <a:sym typeface="Comic Sans"/>
              </a:rPr>
              <a:t>Project Deadline: March 28, 2026</a:t>
            </a:r>
          </a:p>
        </p:txBody>
      </p:sp>
      <p:grpSp>
        <p:nvGrpSpPr>
          <p:cNvPr name="Group 51" id="51"/>
          <p:cNvGrpSpPr/>
          <p:nvPr/>
        </p:nvGrpSpPr>
        <p:grpSpPr>
          <a:xfrm rot="0">
            <a:off x="917731" y="4659282"/>
            <a:ext cx="5468848" cy="2302799"/>
            <a:chOff x="0" y="0"/>
            <a:chExt cx="15831984" cy="6666464"/>
          </a:xfrm>
        </p:grpSpPr>
        <p:sp>
          <p:nvSpPr>
            <p:cNvPr name="Freeform 52" id="52"/>
            <p:cNvSpPr/>
            <p:nvPr/>
          </p:nvSpPr>
          <p:spPr>
            <a:xfrm flipH="false" flipV="false" rot="0">
              <a:off x="72390" y="72390"/>
              <a:ext cx="15687205" cy="6521684"/>
            </a:xfrm>
            <a:custGeom>
              <a:avLst/>
              <a:gdLst/>
              <a:ahLst/>
              <a:cxnLst/>
              <a:rect r="r" b="b" t="t" l="l"/>
              <a:pathLst>
                <a:path h="6521684" w="15687205">
                  <a:moveTo>
                    <a:pt x="0" y="0"/>
                  </a:moveTo>
                  <a:lnTo>
                    <a:pt x="15687205" y="0"/>
                  </a:lnTo>
                  <a:lnTo>
                    <a:pt x="15687205" y="6521684"/>
                  </a:lnTo>
                  <a:lnTo>
                    <a:pt x="0" y="6521684"/>
                  </a:lnTo>
                  <a:lnTo>
                    <a:pt x="0" y="0"/>
                  </a:lnTo>
                  <a:close/>
                </a:path>
              </a:pathLst>
            </a:custGeom>
            <a:solidFill>
              <a:srgbClr val="FFFFFF"/>
            </a:solidFill>
          </p:spPr>
        </p:sp>
        <p:sp>
          <p:nvSpPr>
            <p:cNvPr name="Freeform 53" id="53"/>
            <p:cNvSpPr/>
            <p:nvPr/>
          </p:nvSpPr>
          <p:spPr>
            <a:xfrm flipH="false" flipV="false" rot="0">
              <a:off x="0" y="0"/>
              <a:ext cx="15831984" cy="6666464"/>
            </a:xfrm>
            <a:custGeom>
              <a:avLst/>
              <a:gdLst/>
              <a:ahLst/>
              <a:cxnLst/>
              <a:rect r="r" b="b" t="t" l="l"/>
              <a:pathLst>
                <a:path h="6666464" w="15831984">
                  <a:moveTo>
                    <a:pt x="15687204" y="6521684"/>
                  </a:moveTo>
                  <a:lnTo>
                    <a:pt x="15831984" y="6521684"/>
                  </a:lnTo>
                  <a:lnTo>
                    <a:pt x="15831984" y="6666464"/>
                  </a:lnTo>
                  <a:lnTo>
                    <a:pt x="15687204" y="6666464"/>
                  </a:lnTo>
                  <a:lnTo>
                    <a:pt x="15687204" y="6521684"/>
                  </a:lnTo>
                  <a:close/>
                  <a:moveTo>
                    <a:pt x="0" y="144780"/>
                  </a:moveTo>
                  <a:lnTo>
                    <a:pt x="144780" y="144780"/>
                  </a:lnTo>
                  <a:lnTo>
                    <a:pt x="144780" y="6521684"/>
                  </a:lnTo>
                  <a:lnTo>
                    <a:pt x="0" y="6521684"/>
                  </a:lnTo>
                  <a:lnTo>
                    <a:pt x="0" y="144780"/>
                  </a:lnTo>
                  <a:close/>
                  <a:moveTo>
                    <a:pt x="0" y="6521684"/>
                  </a:moveTo>
                  <a:lnTo>
                    <a:pt x="144780" y="6521684"/>
                  </a:lnTo>
                  <a:lnTo>
                    <a:pt x="144780" y="6666464"/>
                  </a:lnTo>
                  <a:lnTo>
                    <a:pt x="0" y="6666464"/>
                  </a:lnTo>
                  <a:lnTo>
                    <a:pt x="0" y="6521684"/>
                  </a:lnTo>
                  <a:close/>
                  <a:moveTo>
                    <a:pt x="15687204" y="144780"/>
                  </a:moveTo>
                  <a:lnTo>
                    <a:pt x="15831984" y="144780"/>
                  </a:lnTo>
                  <a:lnTo>
                    <a:pt x="15831984" y="6521684"/>
                  </a:lnTo>
                  <a:lnTo>
                    <a:pt x="15687204" y="6521684"/>
                  </a:lnTo>
                  <a:lnTo>
                    <a:pt x="15687204" y="144780"/>
                  </a:lnTo>
                  <a:close/>
                  <a:moveTo>
                    <a:pt x="144780" y="6521684"/>
                  </a:moveTo>
                  <a:lnTo>
                    <a:pt x="15687204" y="6521684"/>
                  </a:lnTo>
                  <a:lnTo>
                    <a:pt x="15687204" y="6666464"/>
                  </a:lnTo>
                  <a:lnTo>
                    <a:pt x="144780" y="6666464"/>
                  </a:lnTo>
                  <a:lnTo>
                    <a:pt x="144780" y="6521684"/>
                  </a:lnTo>
                  <a:close/>
                  <a:moveTo>
                    <a:pt x="15687204" y="0"/>
                  </a:moveTo>
                  <a:lnTo>
                    <a:pt x="15831984" y="0"/>
                  </a:lnTo>
                  <a:lnTo>
                    <a:pt x="15831984" y="144780"/>
                  </a:lnTo>
                  <a:lnTo>
                    <a:pt x="15687204" y="144780"/>
                  </a:lnTo>
                  <a:lnTo>
                    <a:pt x="15687204" y="0"/>
                  </a:lnTo>
                  <a:close/>
                  <a:moveTo>
                    <a:pt x="0" y="0"/>
                  </a:moveTo>
                  <a:lnTo>
                    <a:pt x="144780" y="0"/>
                  </a:lnTo>
                  <a:lnTo>
                    <a:pt x="144780" y="144780"/>
                  </a:lnTo>
                  <a:lnTo>
                    <a:pt x="0" y="144780"/>
                  </a:lnTo>
                  <a:lnTo>
                    <a:pt x="0" y="0"/>
                  </a:lnTo>
                  <a:close/>
                  <a:moveTo>
                    <a:pt x="144780" y="0"/>
                  </a:moveTo>
                  <a:lnTo>
                    <a:pt x="15687204" y="0"/>
                  </a:lnTo>
                  <a:lnTo>
                    <a:pt x="15687204" y="144780"/>
                  </a:lnTo>
                  <a:lnTo>
                    <a:pt x="144780" y="144780"/>
                  </a:lnTo>
                  <a:lnTo>
                    <a:pt x="144780" y="0"/>
                  </a:lnTo>
                  <a:close/>
                </a:path>
              </a:pathLst>
            </a:custGeom>
            <a:solidFill>
              <a:srgbClr val="000000"/>
            </a:solidFill>
          </p:spPr>
        </p:sp>
      </p:grpSp>
      <p:sp>
        <p:nvSpPr>
          <p:cNvPr name="TextBox 54" id="54"/>
          <p:cNvSpPr txBox="true"/>
          <p:nvPr/>
        </p:nvSpPr>
        <p:spPr>
          <a:xfrm rot="0">
            <a:off x="1041151" y="4886286"/>
            <a:ext cx="5120835" cy="1864360"/>
          </a:xfrm>
          <a:prstGeom prst="rect">
            <a:avLst/>
          </a:prstGeom>
        </p:spPr>
        <p:txBody>
          <a:bodyPr anchor="t" rtlCol="false" tIns="0" lIns="0" bIns="0" rIns="0">
            <a:spAutoFit/>
          </a:bodyPr>
          <a:lstStyle/>
          <a:p>
            <a:pPr algn="ctr">
              <a:lnSpc>
                <a:spcPts val="2989"/>
              </a:lnSpc>
              <a:spcBef>
                <a:spcPct val="0"/>
              </a:spcBef>
            </a:pPr>
            <a:r>
              <a:rPr lang="en-US" sz="2599">
                <a:solidFill>
                  <a:srgbClr val="000000"/>
                </a:solidFill>
                <a:latin typeface="Comic Sans"/>
                <a:ea typeface="Comic Sans"/>
                <a:cs typeface="Comic Sans"/>
                <a:sym typeface="Comic Sans"/>
              </a:rPr>
              <a:t>S - Specific</a:t>
            </a:r>
          </a:p>
          <a:p>
            <a:pPr algn="ctr">
              <a:lnSpc>
                <a:spcPts val="2989"/>
              </a:lnSpc>
              <a:spcBef>
                <a:spcPct val="0"/>
              </a:spcBef>
            </a:pPr>
            <a:r>
              <a:rPr lang="en-US" sz="2599">
                <a:solidFill>
                  <a:srgbClr val="000000"/>
                </a:solidFill>
                <a:latin typeface="Comic Sans"/>
                <a:ea typeface="Comic Sans"/>
                <a:cs typeface="Comic Sans"/>
                <a:sym typeface="Comic Sans"/>
              </a:rPr>
              <a:t>Build a working Android app prototype. </a:t>
            </a:r>
          </a:p>
          <a:p>
            <a:pPr algn="ctr">
              <a:lnSpc>
                <a:spcPts val="2989"/>
              </a:lnSpc>
              <a:spcBef>
                <a:spcPct val="0"/>
              </a:spcBef>
            </a:pPr>
            <a:r>
              <a:rPr lang="en-US" sz="2599">
                <a:solidFill>
                  <a:srgbClr val="000000"/>
                </a:solidFill>
                <a:latin typeface="Comic Sans"/>
                <a:ea typeface="Comic Sans"/>
                <a:cs typeface="Comic Sans"/>
                <a:sym typeface="Comic Sans"/>
              </a:rPr>
              <a:t>It will use phone's NFC to emulate a college ID card.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8C4FF"/>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028700"/>
            <a:ext cx="8115041" cy="8229600"/>
            <a:chOff x="0" y="0"/>
            <a:chExt cx="23548821" cy="23881256"/>
          </a:xfrm>
        </p:grpSpPr>
        <p:sp>
          <p:nvSpPr>
            <p:cNvPr name="Freeform 24" id="24"/>
            <p:cNvSpPr/>
            <p:nvPr/>
          </p:nvSpPr>
          <p:spPr>
            <a:xfrm flipH="false" flipV="false" rot="0">
              <a:off x="72390" y="72390"/>
              <a:ext cx="23404041" cy="23736476"/>
            </a:xfrm>
            <a:custGeom>
              <a:avLst/>
              <a:gdLst/>
              <a:ahLst/>
              <a:cxnLst/>
              <a:rect r="r" b="b" t="t" l="l"/>
              <a:pathLst>
                <a:path h="23736476" w="23404041">
                  <a:moveTo>
                    <a:pt x="0" y="0"/>
                  </a:moveTo>
                  <a:lnTo>
                    <a:pt x="23404041" y="0"/>
                  </a:lnTo>
                  <a:lnTo>
                    <a:pt x="23404041" y="23736476"/>
                  </a:lnTo>
                  <a:lnTo>
                    <a:pt x="0" y="23736476"/>
                  </a:lnTo>
                  <a:lnTo>
                    <a:pt x="0" y="0"/>
                  </a:lnTo>
                  <a:close/>
                </a:path>
              </a:pathLst>
            </a:custGeom>
            <a:solidFill>
              <a:srgbClr val="FFDE85"/>
            </a:solidFill>
          </p:spPr>
        </p:sp>
        <p:sp>
          <p:nvSpPr>
            <p:cNvPr name="Freeform 25" id="25"/>
            <p:cNvSpPr/>
            <p:nvPr/>
          </p:nvSpPr>
          <p:spPr>
            <a:xfrm flipH="false" flipV="false" rot="0">
              <a:off x="0" y="0"/>
              <a:ext cx="23548822" cy="23881257"/>
            </a:xfrm>
            <a:custGeom>
              <a:avLst/>
              <a:gdLst/>
              <a:ahLst/>
              <a:cxnLst/>
              <a:rect r="r" b="b" t="t" l="l"/>
              <a:pathLst>
                <a:path h="23881257" w="23548822">
                  <a:moveTo>
                    <a:pt x="23404041" y="23736477"/>
                  </a:moveTo>
                  <a:lnTo>
                    <a:pt x="23548822" y="23736477"/>
                  </a:lnTo>
                  <a:lnTo>
                    <a:pt x="23548822" y="23881257"/>
                  </a:lnTo>
                  <a:lnTo>
                    <a:pt x="23404041" y="23881257"/>
                  </a:lnTo>
                  <a:lnTo>
                    <a:pt x="23404041" y="23736477"/>
                  </a:lnTo>
                  <a:close/>
                  <a:moveTo>
                    <a:pt x="0" y="144780"/>
                  </a:moveTo>
                  <a:lnTo>
                    <a:pt x="144780" y="144780"/>
                  </a:lnTo>
                  <a:lnTo>
                    <a:pt x="144780" y="23736477"/>
                  </a:lnTo>
                  <a:lnTo>
                    <a:pt x="0" y="23736477"/>
                  </a:lnTo>
                  <a:lnTo>
                    <a:pt x="0" y="144780"/>
                  </a:lnTo>
                  <a:close/>
                  <a:moveTo>
                    <a:pt x="0" y="23736477"/>
                  </a:moveTo>
                  <a:lnTo>
                    <a:pt x="144780" y="23736477"/>
                  </a:lnTo>
                  <a:lnTo>
                    <a:pt x="144780" y="23881257"/>
                  </a:lnTo>
                  <a:lnTo>
                    <a:pt x="0" y="23881257"/>
                  </a:lnTo>
                  <a:lnTo>
                    <a:pt x="0" y="23736477"/>
                  </a:lnTo>
                  <a:close/>
                  <a:moveTo>
                    <a:pt x="23404041" y="144780"/>
                  </a:moveTo>
                  <a:lnTo>
                    <a:pt x="23548822" y="144780"/>
                  </a:lnTo>
                  <a:lnTo>
                    <a:pt x="23548822" y="23736477"/>
                  </a:lnTo>
                  <a:lnTo>
                    <a:pt x="23404041" y="23736477"/>
                  </a:lnTo>
                  <a:lnTo>
                    <a:pt x="23404041" y="144780"/>
                  </a:lnTo>
                  <a:close/>
                  <a:moveTo>
                    <a:pt x="144780" y="23736477"/>
                  </a:moveTo>
                  <a:lnTo>
                    <a:pt x="23404041" y="23736477"/>
                  </a:lnTo>
                  <a:lnTo>
                    <a:pt x="23404041" y="23881257"/>
                  </a:lnTo>
                  <a:lnTo>
                    <a:pt x="144780" y="23881257"/>
                  </a:lnTo>
                  <a:lnTo>
                    <a:pt x="144780" y="23736477"/>
                  </a:lnTo>
                  <a:close/>
                  <a:moveTo>
                    <a:pt x="23404041" y="0"/>
                  </a:moveTo>
                  <a:lnTo>
                    <a:pt x="23548822" y="0"/>
                  </a:lnTo>
                  <a:lnTo>
                    <a:pt x="23548822" y="144780"/>
                  </a:lnTo>
                  <a:lnTo>
                    <a:pt x="23404041" y="144780"/>
                  </a:lnTo>
                  <a:lnTo>
                    <a:pt x="23404041" y="0"/>
                  </a:lnTo>
                  <a:close/>
                  <a:moveTo>
                    <a:pt x="0" y="0"/>
                  </a:moveTo>
                  <a:lnTo>
                    <a:pt x="144780" y="0"/>
                  </a:lnTo>
                  <a:lnTo>
                    <a:pt x="144780" y="144780"/>
                  </a:lnTo>
                  <a:lnTo>
                    <a:pt x="0" y="144780"/>
                  </a:lnTo>
                  <a:lnTo>
                    <a:pt x="0" y="0"/>
                  </a:lnTo>
                  <a:close/>
                  <a:moveTo>
                    <a:pt x="144780" y="0"/>
                  </a:moveTo>
                  <a:lnTo>
                    <a:pt x="23404041" y="0"/>
                  </a:lnTo>
                  <a:lnTo>
                    <a:pt x="23404041" y="144780"/>
                  </a:lnTo>
                  <a:lnTo>
                    <a:pt x="144780" y="144780"/>
                  </a:lnTo>
                  <a:lnTo>
                    <a:pt x="144780" y="0"/>
                  </a:lnTo>
                  <a:close/>
                </a:path>
              </a:pathLst>
            </a:custGeom>
            <a:solidFill>
              <a:srgbClr val="000000"/>
            </a:solidFill>
          </p:spPr>
        </p:sp>
      </p:grpSp>
      <p:grpSp>
        <p:nvGrpSpPr>
          <p:cNvPr name="Group 26" id="26"/>
          <p:cNvGrpSpPr/>
          <p:nvPr/>
        </p:nvGrpSpPr>
        <p:grpSpPr>
          <a:xfrm rot="0">
            <a:off x="9090891" y="1028700"/>
            <a:ext cx="8167891" cy="8229600"/>
            <a:chOff x="0" y="0"/>
            <a:chExt cx="23702186" cy="23881256"/>
          </a:xfrm>
        </p:grpSpPr>
        <p:sp>
          <p:nvSpPr>
            <p:cNvPr name="Freeform 27" id="27"/>
            <p:cNvSpPr/>
            <p:nvPr/>
          </p:nvSpPr>
          <p:spPr>
            <a:xfrm flipH="false" flipV="false" rot="0">
              <a:off x="72390" y="72390"/>
              <a:ext cx="23557406" cy="23736476"/>
            </a:xfrm>
            <a:custGeom>
              <a:avLst/>
              <a:gdLst/>
              <a:ahLst/>
              <a:cxnLst/>
              <a:rect r="r" b="b" t="t" l="l"/>
              <a:pathLst>
                <a:path h="23736476" w="23557406">
                  <a:moveTo>
                    <a:pt x="0" y="0"/>
                  </a:moveTo>
                  <a:lnTo>
                    <a:pt x="23557406" y="0"/>
                  </a:lnTo>
                  <a:lnTo>
                    <a:pt x="23557406" y="23736476"/>
                  </a:lnTo>
                  <a:lnTo>
                    <a:pt x="0" y="23736476"/>
                  </a:lnTo>
                  <a:lnTo>
                    <a:pt x="0" y="0"/>
                  </a:lnTo>
                  <a:close/>
                </a:path>
              </a:pathLst>
            </a:custGeom>
            <a:solidFill>
              <a:srgbClr val="D8C4FF"/>
            </a:solidFill>
          </p:spPr>
        </p:sp>
        <p:sp>
          <p:nvSpPr>
            <p:cNvPr name="Freeform 28" id="28"/>
            <p:cNvSpPr/>
            <p:nvPr/>
          </p:nvSpPr>
          <p:spPr>
            <a:xfrm flipH="false" flipV="false" rot="0">
              <a:off x="0" y="0"/>
              <a:ext cx="23702186" cy="23881257"/>
            </a:xfrm>
            <a:custGeom>
              <a:avLst/>
              <a:gdLst/>
              <a:ahLst/>
              <a:cxnLst/>
              <a:rect r="r" b="b" t="t" l="l"/>
              <a:pathLst>
                <a:path h="23881257" w="23702186">
                  <a:moveTo>
                    <a:pt x="23557405" y="23736477"/>
                  </a:moveTo>
                  <a:lnTo>
                    <a:pt x="23702186" y="23736477"/>
                  </a:lnTo>
                  <a:lnTo>
                    <a:pt x="23702186" y="23881257"/>
                  </a:lnTo>
                  <a:lnTo>
                    <a:pt x="23557405" y="23881257"/>
                  </a:lnTo>
                  <a:lnTo>
                    <a:pt x="23557405" y="23736477"/>
                  </a:lnTo>
                  <a:close/>
                  <a:moveTo>
                    <a:pt x="0" y="144780"/>
                  </a:moveTo>
                  <a:lnTo>
                    <a:pt x="144780" y="144780"/>
                  </a:lnTo>
                  <a:lnTo>
                    <a:pt x="144780" y="23736477"/>
                  </a:lnTo>
                  <a:lnTo>
                    <a:pt x="0" y="23736477"/>
                  </a:lnTo>
                  <a:lnTo>
                    <a:pt x="0" y="144780"/>
                  </a:lnTo>
                  <a:close/>
                  <a:moveTo>
                    <a:pt x="0" y="23736477"/>
                  </a:moveTo>
                  <a:lnTo>
                    <a:pt x="144780" y="23736477"/>
                  </a:lnTo>
                  <a:lnTo>
                    <a:pt x="144780" y="23881257"/>
                  </a:lnTo>
                  <a:lnTo>
                    <a:pt x="0" y="23881257"/>
                  </a:lnTo>
                  <a:lnTo>
                    <a:pt x="0" y="23736477"/>
                  </a:lnTo>
                  <a:close/>
                  <a:moveTo>
                    <a:pt x="23557405" y="144780"/>
                  </a:moveTo>
                  <a:lnTo>
                    <a:pt x="23702186" y="144780"/>
                  </a:lnTo>
                  <a:lnTo>
                    <a:pt x="23702186" y="23736477"/>
                  </a:lnTo>
                  <a:lnTo>
                    <a:pt x="23557405" y="23736477"/>
                  </a:lnTo>
                  <a:lnTo>
                    <a:pt x="23557405" y="144780"/>
                  </a:lnTo>
                  <a:close/>
                  <a:moveTo>
                    <a:pt x="144780" y="23736477"/>
                  </a:moveTo>
                  <a:lnTo>
                    <a:pt x="23557405" y="23736477"/>
                  </a:lnTo>
                  <a:lnTo>
                    <a:pt x="23557405" y="23881257"/>
                  </a:lnTo>
                  <a:lnTo>
                    <a:pt x="144780" y="23881257"/>
                  </a:lnTo>
                  <a:lnTo>
                    <a:pt x="144780" y="23736477"/>
                  </a:lnTo>
                  <a:close/>
                  <a:moveTo>
                    <a:pt x="23557405" y="0"/>
                  </a:moveTo>
                  <a:lnTo>
                    <a:pt x="23702186" y="0"/>
                  </a:lnTo>
                  <a:lnTo>
                    <a:pt x="23702186" y="144780"/>
                  </a:lnTo>
                  <a:lnTo>
                    <a:pt x="23557405" y="144780"/>
                  </a:lnTo>
                  <a:lnTo>
                    <a:pt x="23557405" y="0"/>
                  </a:lnTo>
                  <a:close/>
                  <a:moveTo>
                    <a:pt x="0" y="0"/>
                  </a:moveTo>
                  <a:lnTo>
                    <a:pt x="144780" y="0"/>
                  </a:lnTo>
                  <a:lnTo>
                    <a:pt x="144780" y="144780"/>
                  </a:lnTo>
                  <a:lnTo>
                    <a:pt x="0" y="144780"/>
                  </a:lnTo>
                  <a:lnTo>
                    <a:pt x="0" y="0"/>
                  </a:lnTo>
                  <a:close/>
                  <a:moveTo>
                    <a:pt x="144780" y="0"/>
                  </a:moveTo>
                  <a:lnTo>
                    <a:pt x="23557405" y="0"/>
                  </a:lnTo>
                  <a:lnTo>
                    <a:pt x="23557405" y="144780"/>
                  </a:lnTo>
                  <a:lnTo>
                    <a:pt x="144780" y="144780"/>
                  </a:lnTo>
                  <a:lnTo>
                    <a:pt x="144780" y="0"/>
                  </a:lnTo>
                  <a:close/>
                </a:path>
              </a:pathLst>
            </a:custGeom>
            <a:solidFill>
              <a:srgbClr val="000000"/>
            </a:solidFill>
          </p:spPr>
        </p:sp>
      </p:grpSp>
      <p:grpSp>
        <p:nvGrpSpPr>
          <p:cNvPr name="Group 29" id="29"/>
          <p:cNvGrpSpPr/>
          <p:nvPr/>
        </p:nvGrpSpPr>
        <p:grpSpPr>
          <a:xfrm rot="0">
            <a:off x="1028700" y="1028700"/>
            <a:ext cx="16230082" cy="2148964"/>
            <a:chOff x="0" y="0"/>
            <a:chExt cx="47097642" cy="6236022"/>
          </a:xfrm>
        </p:grpSpPr>
        <p:sp>
          <p:nvSpPr>
            <p:cNvPr name="Freeform 30" id="30"/>
            <p:cNvSpPr/>
            <p:nvPr/>
          </p:nvSpPr>
          <p:spPr>
            <a:xfrm flipH="false" flipV="false" rot="0">
              <a:off x="72390" y="72390"/>
              <a:ext cx="46952861" cy="6091242"/>
            </a:xfrm>
            <a:custGeom>
              <a:avLst/>
              <a:gdLst/>
              <a:ahLst/>
              <a:cxnLst/>
              <a:rect r="r" b="b" t="t" l="l"/>
              <a:pathLst>
                <a:path h="6091242" w="46952861">
                  <a:moveTo>
                    <a:pt x="0" y="0"/>
                  </a:moveTo>
                  <a:lnTo>
                    <a:pt x="46952861" y="0"/>
                  </a:lnTo>
                  <a:lnTo>
                    <a:pt x="46952861" y="6091242"/>
                  </a:lnTo>
                  <a:lnTo>
                    <a:pt x="0" y="6091242"/>
                  </a:lnTo>
                  <a:lnTo>
                    <a:pt x="0" y="0"/>
                  </a:lnTo>
                  <a:close/>
                </a:path>
              </a:pathLst>
            </a:custGeom>
            <a:solidFill>
              <a:srgbClr val="ABE5D8"/>
            </a:solidFill>
          </p:spPr>
        </p:sp>
        <p:sp>
          <p:nvSpPr>
            <p:cNvPr name="Freeform 31" id="31"/>
            <p:cNvSpPr/>
            <p:nvPr/>
          </p:nvSpPr>
          <p:spPr>
            <a:xfrm flipH="false" flipV="false" rot="0">
              <a:off x="0" y="0"/>
              <a:ext cx="47097643" cy="6236022"/>
            </a:xfrm>
            <a:custGeom>
              <a:avLst/>
              <a:gdLst/>
              <a:ahLst/>
              <a:cxnLst/>
              <a:rect r="r" b="b" t="t" l="l"/>
              <a:pathLst>
                <a:path h="6236022" w="47097643">
                  <a:moveTo>
                    <a:pt x="46952861" y="6091242"/>
                  </a:moveTo>
                  <a:lnTo>
                    <a:pt x="47097643" y="6091242"/>
                  </a:lnTo>
                  <a:lnTo>
                    <a:pt x="47097643" y="6236022"/>
                  </a:lnTo>
                  <a:lnTo>
                    <a:pt x="46952861" y="6236022"/>
                  </a:lnTo>
                  <a:lnTo>
                    <a:pt x="46952861" y="6091242"/>
                  </a:lnTo>
                  <a:close/>
                  <a:moveTo>
                    <a:pt x="0" y="144780"/>
                  </a:moveTo>
                  <a:lnTo>
                    <a:pt x="144780" y="144780"/>
                  </a:lnTo>
                  <a:lnTo>
                    <a:pt x="144780" y="6091242"/>
                  </a:lnTo>
                  <a:lnTo>
                    <a:pt x="0" y="6091242"/>
                  </a:lnTo>
                  <a:lnTo>
                    <a:pt x="0" y="144780"/>
                  </a:lnTo>
                  <a:close/>
                  <a:moveTo>
                    <a:pt x="0" y="6091242"/>
                  </a:moveTo>
                  <a:lnTo>
                    <a:pt x="144780" y="6091242"/>
                  </a:lnTo>
                  <a:lnTo>
                    <a:pt x="144780" y="6236022"/>
                  </a:lnTo>
                  <a:lnTo>
                    <a:pt x="0" y="6236022"/>
                  </a:lnTo>
                  <a:lnTo>
                    <a:pt x="0" y="6091242"/>
                  </a:lnTo>
                  <a:close/>
                  <a:moveTo>
                    <a:pt x="46952861" y="144780"/>
                  </a:moveTo>
                  <a:lnTo>
                    <a:pt x="47097643" y="144780"/>
                  </a:lnTo>
                  <a:lnTo>
                    <a:pt x="47097643" y="6091242"/>
                  </a:lnTo>
                  <a:lnTo>
                    <a:pt x="46952861" y="6091242"/>
                  </a:lnTo>
                  <a:lnTo>
                    <a:pt x="46952861" y="144780"/>
                  </a:lnTo>
                  <a:close/>
                  <a:moveTo>
                    <a:pt x="144780" y="6091242"/>
                  </a:moveTo>
                  <a:lnTo>
                    <a:pt x="46952861" y="6091242"/>
                  </a:lnTo>
                  <a:lnTo>
                    <a:pt x="46952861" y="6236022"/>
                  </a:lnTo>
                  <a:lnTo>
                    <a:pt x="144780" y="6236022"/>
                  </a:lnTo>
                  <a:lnTo>
                    <a:pt x="144780" y="6091242"/>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sp>
        <p:nvSpPr>
          <p:cNvPr name="TextBox 32" id="32"/>
          <p:cNvSpPr txBox="true"/>
          <p:nvPr/>
        </p:nvSpPr>
        <p:spPr>
          <a:xfrm rot="0">
            <a:off x="1642759" y="1454296"/>
            <a:ext cx="15307281" cy="1708151"/>
          </a:xfrm>
          <a:prstGeom prst="rect">
            <a:avLst/>
          </a:prstGeom>
        </p:spPr>
        <p:txBody>
          <a:bodyPr anchor="t" rtlCol="false" tIns="0" lIns="0" bIns="0" rIns="0">
            <a:spAutoFit/>
          </a:bodyPr>
          <a:lstStyle/>
          <a:p>
            <a:pPr algn="ctr">
              <a:lnSpc>
                <a:spcPts val="13999"/>
              </a:lnSpc>
            </a:pPr>
            <a:r>
              <a:rPr lang="en-US" sz="9999">
                <a:solidFill>
                  <a:srgbClr val="000000"/>
                </a:solidFill>
                <a:latin typeface="Luckiest Guy"/>
                <a:ea typeface="Luckiest Guy"/>
                <a:cs typeface="Luckiest Guy"/>
                <a:sym typeface="Luckiest Guy"/>
              </a:rPr>
              <a:t>SCOPE OF THE PROJECT</a:t>
            </a:r>
          </a:p>
        </p:txBody>
      </p:sp>
      <p:sp>
        <p:nvSpPr>
          <p:cNvPr name="TextBox 33" id="33"/>
          <p:cNvSpPr txBox="true"/>
          <p:nvPr/>
        </p:nvSpPr>
        <p:spPr>
          <a:xfrm rot="0">
            <a:off x="1566559" y="1368571"/>
            <a:ext cx="15307281" cy="1708151"/>
          </a:xfrm>
          <a:prstGeom prst="rect">
            <a:avLst/>
          </a:prstGeom>
        </p:spPr>
        <p:txBody>
          <a:bodyPr anchor="t" rtlCol="false" tIns="0" lIns="0" bIns="0" rIns="0">
            <a:spAutoFit/>
          </a:bodyPr>
          <a:lstStyle/>
          <a:p>
            <a:pPr algn="ctr">
              <a:lnSpc>
                <a:spcPts val="13999"/>
              </a:lnSpc>
            </a:pPr>
            <a:r>
              <a:rPr lang="en-US" sz="9999">
                <a:gradFill>
                  <a:gsLst>
                    <a:gs pos="0">
                      <a:srgbClr val="FF66C4">
                        <a:alpha val="100000"/>
                      </a:srgbClr>
                    </a:gs>
                    <a:gs pos="100000">
                      <a:srgbClr val="FFDE59">
                        <a:alpha val="100000"/>
                      </a:srgbClr>
                    </a:gs>
                  </a:gsLst>
                  <a:lin ang="0"/>
                </a:gradFill>
                <a:latin typeface="Luckiest Guy"/>
                <a:ea typeface="Luckiest Guy"/>
                <a:cs typeface="Luckiest Guy"/>
                <a:sym typeface="Luckiest Guy"/>
              </a:rPr>
              <a:t>SCOPE OF THE PROJECT</a:t>
            </a:r>
          </a:p>
        </p:txBody>
      </p:sp>
      <p:sp>
        <p:nvSpPr>
          <p:cNvPr name="TextBox 34" id="34"/>
          <p:cNvSpPr txBox="true"/>
          <p:nvPr/>
        </p:nvSpPr>
        <p:spPr>
          <a:xfrm rot="0">
            <a:off x="1148227" y="4767529"/>
            <a:ext cx="7933138" cy="2789744"/>
          </a:xfrm>
          <a:prstGeom prst="rect">
            <a:avLst/>
          </a:prstGeom>
        </p:spPr>
        <p:txBody>
          <a:bodyPr anchor="t" rtlCol="false" tIns="0" lIns="0" bIns="0" rIns="0">
            <a:spAutoFit/>
          </a:bodyPr>
          <a:lstStyle/>
          <a:p>
            <a:pPr algn="l" marL="494964" indent="-247482" lvl="1">
              <a:lnSpc>
                <a:spcPts val="3209"/>
              </a:lnSpc>
              <a:buFont typeface="Arial"/>
              <a:buChar char="•"/>
            </a:pPr>
            <a:r>
              <a:rPr lang="en-US" b="true" sz="2292">
                <a:solidFill>
                  <a:srgbClr val="000000"/>
                </a:solidFill>
                <a:latin typeface="Inter Bold"/>
                <a:ea typeface="Inter Bold"/>
                <a:cs typeface="Inter Bold"/>
                <a:sym typeface="Inter Bold"/>
              </a:rPr>
              <a:t>Dev</a:t>
            </a:r>
            <a:r>
              <a:rPr lang="en-US" b="true" sz="2292">
                <a:solidFill>
                  <a:srgbClr val="000000"/>
                </a:solidFill>
                <a:latin typeface="Inter Bold"/>
                <a:ea typeface="Inter Bold"/>
                <a:cs typeface="Inter Bold"/>
                <a:sym typeface="Inter Bold"/>
              </a:rPr>
              <a:t>elopment of an Android Mobile Application for Student Users (e.g. OCR, NFC Card Binding, MFA)</a:t>
            </a:r>
          </a:p>
          <a:p>
            <a:pPr algn="l">
              <a:lnSpc>
                <a:spcPts val="3209"/>
              </a:lnSpc>
            </a:pPr>
          </a:p>
          <a:p>
            <a:pPr algn="l" marL="494964" indent="-247482" lvl="1">
              <a:lnSpc>
                <a:spcPts val="3209"/>
              </a:lnSpc>
              <a:buFont typeface="Arial"/>
              <a:buChar char="•"/>
            </a:pPr>
            <a:r>
              <a:rPr lang="en-US" b="true" sz="2292">
                <a:solidFill>
                  <a:srgbClr val="000000"/>
                </a:solidFill>
                <a:latin typeface="Inter Bold"/>
                <a:ea typeface="Inter Bold"/>
                <a:cs typeface="Inter Bold"/>
                <a:sym typeface="Inter Bold"/>
              </a:rPr>
              <a:t>Backend System and Database (e.g. NFC UID Validation)</a:t>
            </a:r>
          </a:p>
          <a:p>
            <a:pPr algn="l">
              <a:lnSpc>
                <a:spcPts val="3209"/>
              </a:lnSpc>
            </a:pPr>
          </a:p>
          <a:p>
            <a:pPr algn="l" marL="494964" indent="-247482" lvl="1">
              <a:lnSpc>
                <a:spcPts val="3209"/>
              </a:lnSpc>
              <a:buFont typeface="Arial"/>
              <a:buChar char="•"/>
            </a:pPr>
            <a:r>
              <a:rPr lang="en-US" b="true" sz="2292">
                <a:solidFill>
                  <a:srgbClr val="000000"/>
                </a:solidFill>
                <a:latin typeface="Inter Bold"/>
                <a:ea typeface="Inter Bold"/>
                <a:cs typeface="Inter Bold"/>
                <a:sym typeface="Inter Bold"/>
              </a:rPr>
              <a:t>Proof-of-Concept Access Simulation</a:t>
            </a:r>
          </a:p>
        </p:txBody>
      </p:sp>
      <p:sp>
        <p:nvSpPr>
          <p:cNvPr name="TextBox 35" id="35"/>
          <p:cNvSpPr txBox="true"/>
          <p:nvPr/>
        </p:nvSpPr>
        <p:spPr>
          <a:xfrm rot="0">
            <a:off x="3344931" y="3341955"/>
            <a:ext cx="3482578" cy="1111250"/>
          </a:xfrm>
          <a:prstGeom prst="rect">
            <a:avLst/>
          </a:prstGeom>
        </p:spPr>
        <p:txBody>
          <a:bodyPr anchor="t" rtlCol="false" tIns="0" lIns="0" bIns="0" rIns="0">
            <a:spAutoFit/>
          </a:bodyPr>
          <a:lstStyle/>
          <a:p>
            <a:pPr algn="ctr">
              <a:lnSpc>
                <a:spcPts val="9100"/>
              </a:lnSpc>
            </a:pPr>
            <a:r>
              <a:rPr lang="en-US" sz="6500" b="true">
                <a:solidFill>
                  <a:srgbClr val="000000"/>
                </a:solidFill>
                <a:latin typeface="Canva Sans Bold"/>
                <a:ea typeface="Canva Sans Bold"/>
                <a:cs typeface="Canva Sans Bold"/>
                <a:sym typeface="Canva Sans Bold"/>
              </a:rPr>
              <a:t>In Scope</a:t>
            </a:r>
          </a:p>
        </p:txBody>
      </p:sp>
      <p:sp>
        <p:nvSpPr>
          <p:cNvPr name="TextBox 36" id="36"/>
          <p:cNvSpPr txBox="true"/>
          <p:nvPr/>
        </p:nvSpPr>
        <p:spPr>
          <a:xfrm rot="0">
            <a:off x="10909797" y="3424505"/>
            <a:ext cx="4939665" cy="1028700"/>
          </a:xfrm>
          <a:prstGeom prst="rect">
            <a:avLst/>
          </a:prstGeom>
        </p:spPr>
        <p:txBody>
          <a:bodyPr anchor="t" rtlCol="false" tIns="0" lIns="0" bIns="0" rIns="0">
            <a:spAutoFit/>
          </a:bodyPr>
          <a:lstStyle/>
          <a:p>
            <a:pPr algn="ctr">
              <a:lnSpc>
                <a:spcPts val="8400"/>
              </a:lnSpc>
            </a:pPr>
            <a:r>
              <a:rPr lang="en-US" sz="6000" b="true">
                <a:solidFill>
                  <a:srgbClr val="000000"/>
                </a:solidFill>
                <a:latin typeface="Canva Sans Bold"/>
                <a:ea typeface="Canva Sans Bold"/>
                <a:cs typeface="Canva Sans Bold"/>
                <a:sym typeface="Canva Sans Bold"/>
              </a:rPr>
              <a:t>Out Of Scope</a:t>
            </a:r>
          </a:p>
        </p:txBody>
      </p:sp>
      <p:sp>
        <p:nvSpPr>
          <p:cNvPr name="TextBox 37" id="37"/>
          <p:cNvSpPr txBox="true"/>
          <p:nvPr/>
        </p:nvSpPr>
        <p:spPr>
          <a:xfrm rot="0">
            <a:off x="9193645" y="4862779"/>
            <a:ext cx="7962382" cy="3439707"/>
          </a:xfrm>
          <a:prstGeom prst="rect">
            <a:avLst/>
          </a:prstGeom>
        </p:spPr>
        <p:txBody>
          <a:bodyPr anchor="t" rtlCol="false" tIns="0" lIns="0" bIns="0" rIns="0">
            <a:spAutoFit/>
          </a:bodyPr>
          <a:lstStyle/>
          <a:p>
            <a:pPr algn="l" marL="495824" indent="-247912" lvl="1">
              <a:lnSpc>
                <a:spcPts val="2296"/>
              </a:lnSpc>
              <a:buFont typeface="Arial"/>
              <a:buChar char="•"/>
            </a:pPr>
            <a:r>
              <a:rPr lang="en-US" b="true" sz="2296">
                <a:solidFill>
                  <a:srgbClr val="000000"/>
                </a:solidFill>
                <a:latin typeface="Inter Bold"/>
                <a:ea typeface="Inter Bold"/>
                <a:cs typeface="Inter Bold"/>
                <a:sym typeface="Inter Bold"/>
              </a:rPr>
              <a:t>iOS Applicat</a:t>
            </a:r>
            <a:r>
              <a:rPr lang="en-US" b="true" sz="2296">
                <a:solidFill>
                  <a:srgbClr val="000000"/>
                </a:solidFill>
                <a:latin typeface="Inter Bold"/>
                <a:ea typeface="Inter Bold"/>
                <a:cs typeface="Inter Bold"/>
                <a:sym typeface="Inter Bold"/>
              </a:rPr>
              <a:t>ion Development</a:t>
            </a:r>
          </a:p>
          <a:p>
            <a:pPr algn="l">
              <a:lnSpc>
                <a:spcPts val="2296"/>
              </a:lnSpc>
            </a:pPr>
          </a:p>
          <a:p>
            <a:pPr algn="l" marL="495824" indent="-247912" lvl="1">
              <a:lnSpc>
                <a:spcPts val="2296"/>
              </a:lnSpc>
              <a:buFont typeface="Arial"/>
              <a:buChar char="•"/>
            </a:pPr>
            <a:r>
              <a:rPr lang="en-US" b="true" sz="2296">
                <a:solidFill>
                  <a:srgbClr val="000000"/>
                </a:solidFill>
                <a:latin typeface="Inter Bold"/>
                <a:ea typeface="Inter Bold"/>
                <a:cs typeface="Inter Bold"/>
                <a:sym typeface="Inter Bold"/>
              </a:rPr>
              <a:t>Advanced OCR Data Parsing</a:t>
            </a:r>
          </a:p>
          <a:p>
            <a:pPr algn="l">
              <a:lnSpc>
                <a:spcPts val="2296"/>
              </a:lnSpc>
            </a:pPr>
          </a:p>
          <a:p>
            <a:pPr algn="l" marL="495824" indent="-247912" lvl="1">
              <a:lnSpc>
                <a:spcPts val="2296"/>
              </a:lnSpc>
              <a:buFont typeface="Arial"/>
              <a:buChar char="•"/>
            </a:pPr>
            <a:r>
              <a:rPr lang="en-US" b="true" sz="2296">
                <a:solidFill>
                  <a:srgbClr val="000000"/>
                </a:solidFill>
                <a:latin typeface="Inter Bold"/>
                <a:ea typeface="Inter Bold"/>
                <a:cs typeface="Inter Bold"/>
                <a:sym typeface="Inter Bold"/>
              </a:rPr>
              <a:t>Admin Dashboard or Guard Interface</a:t>
            </a:r>
          </a:p>
          <a:p>
            <a:pPr algn="l">
              <a:lnSpc>
                <a:spcPts val="2296"/>
              </a:lnSpc>
            </a:pPr>
          </a:p>
          <a:p>
            <a:pPr algn="l" marL="495824" indent="-247912" lvl="1">
              <a:lnSpc>
                <a:spcPts val="2296"/>
              </a:lnSpc>
              <a:buFont typeface="Arial"/>
              <a:buChar char="•"/>
            </a:pPr>
            <a:r>
              <a:rPr lang="en-US" b="true" sz="2296">
                <a:solidFill>
                  <a:srgbClr val="000000"/>
                </a:solidFill>
                <a:latin typeface="Inter Bold"/>
                <a:ea typeface="Inter Bold"/>
                <a:cs typeface="Inter Bold"/>
                <a:sym typeface="Inter Bold"/>
              </a:rPr>
              <a:t>Automatic Card Deactivation</a:t>
            </a:r>
          </a:p>
          <a:p>
            <a:pPr algn="l">
              <a:lnSpc>
                <a:spcPts val="2296"/>
              </a:lnSpc>
            </a:pPr>
          </a:p>
          <a:p>
            <a:pPr algn="l" marL="495824" indent="-247912" lvl="1">
              <a:lnSpc>
                <a:spcPts val="2296"/>
              </a:lnSpc>
              <a:buFont typeface="Arial"/>
              <a:buChar char="•"/>
            </a:pPr>
            <a:r>
              <a:rPr lang="en-US" b="true" sz="2296">
                <a:solidFill>
                  <a:srgbClr val="000000"/>
                </a:solidFill>
                <a:latin typeface="Inter Bold"/>
                <a:ea typeface="Inter Bold"/>
                <a:cs typeface="Inter Bold"/>
                <a:sym typeface="Inter Bold"/>
              </a:rPr>
              <a:t>Real-time Communication with University Databases</a:t>
            </a:r>
          </a:p>
          <a:p>
            <a:pPr algn="l">
              <a:lnSpc>
                <a:spcPts val="2296"/>
              </a:lnSpc>
            </a:pPr>
          </a:p>
          <a:p>
            <a:pPr algn="l" marL="495824" indent="-247912" lvl="1">
              <a:lnSpc>
                <a:spcPts val="2296"/>
              </a:lnSpc>
              <a:buFont typeface="Arial"/>
              <a:buChar char="•"/>
            </a:pPr>
            <a:r>
              <a:rPr lang="en-US" b="true" sz="2296">
                <a:solidFill>
                  <a:srgbClr val="000000"/>
                </a:solidFill>
                <a:latin typeface="Inter Bold"/>
                <a:ea typeface="Inter Bold"/>
                <a:cs typeface="Inter Bold"/>
                <a:sym typeface="Inter Bold"/>
              </a:rPr>
              <a:t>Fully Functional Reader System for Buildings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BE5D8"/>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028700"/>
            <a:ext cx="16230082" cy="8485906"/>
            <a:chOff x="0" y="0"/>
            <a:chExt cx="47097642" cy="24625023"/>
          </a:xfrm>
        </p:grpSpPr>
        <p:sp>
          <p:nvSpPr>
            <p:cNvPr name="Freeform 24" id="24"/>
            <p:cNvSpPr/>
            <p:nvPr/>
          </p:nvSpPr>
          <p:spPr>
            <a:xfrm flipH="false" flipV="false" rot="0">
              <a:off x="72390" y="72390"/>
              <a:ext cx="46952861" cy="24480243"/>
            </a:xfrm>
            <a:custGeom>
              <a:avLst/>
              <a:gdLst/>
              <a:ahLst/>
              <a:cxnLst/>
              <a:rect r="r" b="b" t="t" l="l"/>
              <a:pathLst>
                <a:path h="24480243" w="46952861">
                  <a:moveTo>
                    <a:pt x="0" y="0"/>
                  </a:moveTo>
                  <a:lnTo>
                    <a:pt x="46952861" y="0"/>
                  </a:lnTo>
                  <a:lnTo>
                    <a:pt x="46952861" y="24480243"/>
                  </a:lnTo>
                  <a:lnTo>
                    <a:pt x="0" y="24480243"/>
                  </a:lnTo>
                  <a:lnTo>
                    <a:pt x="0" y="0"/>
                  </a:lnTo>
                  <a:close/>
                </a:path>
              </a:pathLst>
            </a:custGeom>
            <a:solidFill>
              <a:srgbClr val="D8C4FF"/>
            </a:solidFill>
          </p:spPr>
        </p:sp>
        <p:sp>
          <p:nvSpPr>
            <p:cNvPr name="Freeform 25" id="25"/>
            <p:cNvSpPr/>
            <p:nvPr/>
          </p:nvSpPr>
          <p:spPr>
            <a:xfrm flipH="false" flipV="false" rot="0">
              <a:off x="0" y="0"/>
              <a:ext cx="47097643" cy="24625022"/>
            </a:xfrm>
            <a:custGeom>
              <a:avLst/>
              <a:gdLst/>
              <a:ahLst/>
              <a:cxnLst/>
              <a:rect r="r" b="b" t="t" l="l"/>
              <a:pathLst>
                <a:path h="24625022" w="47097643">
                  <a:moveTo>
                    <a:pt x="46952861" y="24480244"/>
                  </a:moveTo>
                  <a:lnTo>
                    <a:pt x="47097643" y="24480244"/>
                  </a:lnTo>
                  <a:lnTo>
                    <a:pt x="47097643" y="24625022"/>
                  </a:lnTo>
                  <a:lnTo>
                    <a:pt x="46952861" y="24625022"/>
                  </a:lnTo>
                  <a:lnTo>
                    <a:pt x="46952861" y="24480244"/>
                  </a:lnTo>
                  <a:close/>
                  <a:moveTo>
                    <a:pt x="0" y="144780"/>
                  </a:moveTo>
                  <a:lnTo>
                    <a:pt x="144780" y="144780"/>
                  </a:lnTo>
                  <a:lnTo>
                    <a:pt x="144780" y="24480244"/>
                  </a:lnTo>
                  <a:lnTo>
                    <a:pt x="0" y="24480244"/>
                  </a:lnTo>
                  <a:lnTo>
                    <a:pt x="0" y="144780"/>
                  </a:lnTo>
                  <a:close/>
                  <a:moveTo>
                    <a:pt x="0" y="24480244"/>
                  </a:moveTo>
                  <a:lnTo>
                    <a:pt x="144780" y="24480244"/>
                  </a:lnTo>
                  <a:lnTo>
                    <a:pt x="144780" y="24625022"/>
                  </a:lnTo>
                  <a:lnTo>
                    <a:pt x="0" y="24625022"/>
                  </a:lnTo>
                  <a:lnTo>
                    <a:pt x="0" y="24480244"/>
                  </a:lnTo>
                  <a:close/>
                  <a:moveTo>
                    <a:pt x="46952861" y="144780"/>
                  </a:moveTo>
                  <a:lnTo>
                    <a:pt x="47097643" y="144780"/>
                  </a:lnTo>
                  <a:lnTo>
                    <a:pt x="47097643" y="24480244"/>
                  </a:lnTo>
                  <a:lnTo>
                    <a:pt x="46952861" y="24480244"/>
                  </a:lnTo>
                  <a:lnTo>
                    <a:pt x="46952861" y="144780"/>
                  </a:lnTo>
                  <a:close/>
                  <a:moveTo>
                    <a:pt x="144780" y="24480244"/>
                  </a:moveTo>
                  <a:lnTo>
                    <a:pt x="46952861" y="24480244"/>
                  </a:lnTo>
                  <a:lnTo>
                    <a:pt x="46952861" y="24625022"/>
                  </a:lnTo>
                  <a:lnTo>
                    <a:pt x="144780" y="24625022"/>
                  </a:lnTo>
                  <a:lnTo>
                    <a:pt x="144780" y="24480244"/>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6" id="26"/>
          <p:cNvGrpSpPr/>
          <p:nvPr/>
        </p:nvGrpSpPr>
        <p:grpSpPr>
          <a:xfrm rot="0">
            <a:off x="1028700" y="1028700"/>
            <a:ext cx="16230082" cy="2569361"/>
            <a:chOff x="0" y="0"/>
            <a:chExt cx="47097642" cy="7455960"/>
          </a:xfrm>
        </p:grpSpPr>
        <p:sp>
          <p:nvSpPr>
            <p:cNvPr name="Freeform 27" id="27"/>
            <p:cNvSpPr/>
            <p:nvPr/>
          </p:nvSpPr>
          <p:spPr>
            <a:xfrm flipH="false" flipV="false" rot="0">
              <a:off x="72390" y="72390"/>
              <a:ext cx="46952861" cy="7311180"/>
            </a:xfrm>
            <a:custGeom>
              <a:avLst/>
              <a:gdLst/>
              <a:ahLst/>
              <a:cxnLst/>
              <a:rect r="r" b="b" t="t" l="l"/>
              <a:pathLst>
                <a:path h="7311180" w="46952861">
                  <a:moveTo>
                    <a:pt x="0" y="0"/>
                  </a:moveTo>
                  <a:lnTo>
                    <a:pt x="46952861" y="0"/>
                  </a:lnTo>
                  <a:lnTo>
                    <a:pt x="46952861" y="7311180"/>
                  </a:lnTo>
                  <a:lnTo>
                    <a:pt x="0" y="7311180"/>
                  </a:lnTo>
                  <a:lnTo>
                    <a:pt x="0" y="0"/>
                  </a:lnTo>
                  <a:close/>
                </a:path>
              </a:pathLst>
            </a:custGeom>
            <a:solidFill>
              <a:srgbClr val="FCB1D4"/>
            </a:solidFill>
          </p:spPr>
        </p:sp>
        <p:sp>
          <p:nvSpPr>
            <p:cNvPr name="Freeform 28" id="28"/>
            <p:cNvSpPr/>
            <p:nvPr/>
          </p:nvSpPr>
          <p:spPr>
            <a:xfrm flipH="false" flipV="false" rot="0">
              <a:off x="0" y="0"/>
              <a:ext cx="47097643" cy="7455960"/>
            </a:xfrm>
            <a:custGeom>
              <a:avLst/>
              <a:gdLst/>
              <a:ahLst/>
              <a:cxnLst/>
              <a:rect r="r" b="b" t="t" l="l"/>
              <a:pathLst>
                <a:path h="7455960" w="47097643">
                  <a:moveTo>
                    <a:pt x="46952861" y="7311180"/>
                  </a:moveTo>
                  <a:lnTo>
                    <a:pt x="47097643" y="7311180"/>
                  </a:lnTo>
                  <a:lnTo>
                    <a:pt x="47097643" y="7455960"/>
                  </a:lnTo>
                  <a:lnTo>
                    <a:pt x="46952861" y="7455960"/>
                  </a:lnTo>
                  <a:lnTo>
                    <a:pt x="46952861" y="7311180"/>
                  </a:lnTo>
                  <a:close/>
                  <a:moveTo>
                    <a:pt x="0" y="144780"/>
                  </a:moveTo>
                  <a:lnTo>
                    <a:pt x="144780" y="144780"/>
                  </a:lnTo>
                  <a:lnTo>
                    <a:pt x="144780" y="7311180"/>
                  </a:lnTo>
                  <a:lnTo>
                    <a:pt x="0" y="7311180"/>
                  </a:lnTo>
                  <a:lnTo>
                    <a:pt x="0" y="144780"/>
                  </a:lnTo>
                  <a:close/>
                  <a:moveTo>
                    <a:pt x="0" y="7311180"/>
                  </a:moveTo>
                  <a:lnTo>
                    <a:pt x="144780" y="7311180"/>
                  </a:lnTo>
                  <a:lnTo>
                    <a:pt x="144780" y="7455960"/>
                  </a:lnTo>
                  <a:lnTo>
                    <a:pt x="0" y="7455960"/>
                  </a:lnTo>
                  <a:lnTo>
                    <a:pt x="0" y="7311180"/>
                  </a:lnTo>
                  <a:close/>
                  <a:moveTo>
                    <a:pt x="46952861" y="144780"/>
                  </a:moveTo>
                  <a:lnTo>
                    <a:pt x="47097643" y="144780"/>
                  </a:lnTo>
                  <a:lnTo>
                    <a:pt x="47097643" y="7311180"/>
                  </a:lnTo>
                  <a:lnTo>
                    <a:pt x="46952861" y="7311180"/>
                  </a:lnTo>
                  <a:lnTo>
                    <a:pt x="46952861" y="144780"/>
                  </a:lnTo>
                  <a:close/>
                  <a:moveTo>
                    <a:pt x="144780" y="7311180"/>
                  </a:moveTo>
                  <a:lnTo>
                    <a:pt x="46952861" y="7311180"/>
                  </a:lnTo>
                  <a:lnTo>
                    <a:pt x="46952861" y="7455960"/>
                  </a:lnTo>
                  <a:lnTo>
                    <a:pt x="144780" y="7455960"/>
                  </a:lnTo>
                  <a:lnTo>
                    <a:pt x="144780" y="7311180"/>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sp>
        <p:nvSpPr>
          <p:cNvPr name="TextBox 29" id="29"/>
          <p:cNvSpPr txBox="true"/>
          <p:nvPr/>
        </p:nvSpPr>
        <p:spPr>
          <a:xfrm rot="0">
            <a:off x="1642759" y="1378096"/>
            <a:ext cx="15307281" cy="2314575"/>
          </a:xfrm>
          <a:prstGeom prst="rect">
            <a:avLst/>
          </a:prstGeom>
        </p:spPr>
        <p:txBody>
          <a:bodyPr anchor="t" rtlCol="false" tIns="0" lIns="0" bIns="0" rIns="0">
            <a:spAutoFit/>
          </a:bodyPr>
          <a:lstStyle/>
          <a:p>
            <a:pPr algn="ctr">
              <a:lnSpc>
                <a:spcPts val="18900"/>
              </a:lnSpc>
            </a:pPr>
            <a:r>
              <a:rPr lang="en-US" sz="13500">
                <a:solidFill>
                  <a:srgbClr val="000000"/>
                </a:solidFill>
                <a:latin typeface="Luckiest Guy"/>
                <a:ea typeface="Luckiest Guy"/>
                <a:cs typeface="Luckiest Guy"/>
                <a:sym typeface="Luckiest Guy"/>
              </a:rPr>
              <a:t>LITERATURE REVIEW</a:t>
            </a:r>
          </a:p>
        </p:txBody>
      </p:sp>
      <p:sp>
        <p:nvSpPr>
          <p:cNvPr name="TextBox 30" id="30"/>
          <p:cNvSpPr txBox="true"/>
          <p:nvPr/>
        </p:nvSpPr>
        <p:spPr>
          <a:xfrm rot="0">
            <a:off x="1547509" y="1283486"/>
            <a:ext cx="15307281" cy="2314575"/>
          </a:xfrm>
          <a:prstGeom prst="rect">
            <a:avLst/>
          </a:prstGeom>
        </p:spPr>
        <p:txBody>
          <a:bodyPr anchor="t" rtlCol="false" tIns="0" lIns="0" bIns="0" rIns="0">
            <a:spAutoFit/>
          </a:bodyPr>
          <a:lstStyle/>
          <a:p>
            <a:pPr algn="ctr">
              <a:lnSpc>
                <a:spcPts val="18900"/>
              </a:lnSpc>
            </a:pPr>
            <a:r>
              <a:rPr lang="en-US" sz="13500">
                <a:gradFill>
                  <a:gsLst>
                    <a:gs pos="0">
                      <a:srgbClr val="0CC0DF">
                        <a:alpha val="100000"/>
                      </a:srgbClr>
                    </a:gs>
                    <a:gs pos="100000">
                      <a:srgbClr val="FFDE59">
                        <a:alpha val="100000"/>
                      </a:srgbClr>
                    </a:gs>
                  </a:gsLst>
                  <a:lin ang="2700000"/>
                </a:gradFill>
                <a:latin typeface="Luckiest Guy"/>
                <a:ea typeface="Luckiest Guy"/>
                <a:cs typeface="Luckiest Guy"/>
                <a:sym typeface="Luckiest Guy"/>
              </a:rPr>
              <a:t>LITERATURE REVIEW</a:t>
            </a:r>
          </a:p>
        </p:txBody>
      </p:sp>
      <p:sp>
        <p:nvSpPr>
          <p:cNvPr name="TextBox 31" id="31"/>
          <p:cNvSpPr txBox="true"/>
          <p:nvPr/>
        </p:nvSpPr>
        <p:spPr>
          <a:xfrm rot="0">
            <a:off x="1183592" y="3654571"/>
            <a:ext cx="15920298" cy="5670550"/>
          </a:xfrm>
          <a:prstGeom prst="rect">
            <a:avLst/>
          </a:prstGeom>
        </p:spPr>
        <p:txBody>
          <a:bodyPr anchor="t" rtlCol="false" tIns="0" lIns="0" bIns="0" rIns="0">
            <a:spAutoFit/>
          </a:bodyPr>
          <a:lstStyle/>
          <a:p>
            <a:pPr algn="just">
              <a:lnSpc>
                <a:spcPts val="3499"/>
              </a:lnSpc>
            </a:pPr>
            <a:r>
              <a:rPr lang="en-US" sz="2499">
                <a:solidFill>
                  <a:srgbClr val="000000"/>
                </a:solidFill>
                <a:latin typeface="Comic Sans"/>
                <a:ea typeface="Comic Sans"/>
                <a:cs typeface="Comic Sans"/>
                <a:sym typeface="Comic Sans"/>
              </a:rPr>
              <a:t>Existing works on student identification and access systems highlight the limitations of traditional physical cards and closed digital ecosystems, as well as the growing role of NFC and national digitalisation efforts. These studies help position NFCampus as a secure, modern, and user-centric approach.</a:t>
            </a:r>
          </a:p>
          <a:p>
            <a:pPr algn="just">
              <a:lnSpc>
                <a:spcPts val="3499"/>
              </a:lnSpc>
            </a:pPr>
            <a:r>
              <a:rPr lang="en-US" sz="2499">
                <a:solidFill>
                  <a:srgbClr val="000000"/>
                </a:solidFill>
                <a:latin typeface="Comic Sans"/>
                <a:ea typeface="Comic Sans"/>
                <a:cs typeface="Comic Sans"/>
                <a:sym typeface="Comic Sans"/>
              </a:rPr>
              <a:t>                       </a:t>
            </a:r>
          </a:p>
          <a:p>
            <a:pPr algn="just">
              <a:lnSpc>
                <a:spcPts val="3499"/>
              </a:lnSpc>
            </a:pPr>
            <a:r>
              <a:rPr lang="en-US" sz="2499" b="true">
                <a:solidFill>
                  <a:srgbClr val="000000"/>
                </a:solidFill>
                <a:latin typeface="Comic Sans Bold"/>
                <a:ea typeface="Comic Sans Bold"/>
                <a:cs typeface="Comic Sans Bold"/>
                <a:sym typeface="Comic Sans Bold"/>
              </a:rPr>
              <a:t>Traditional Physical Student Cards</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Simple and low-cost, but easily lost or stolen.  </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No inherent user authentication beyond possession of the card.</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Limited to basic visual ID and door access.</a:t>
            </a:r>
          </a:p>
          <a:p>
            <a:pPr algn="just">
              <a:lnSpc>
                <a:spcPts val="3499"/>
              </a:lnSpc>
            </a:pPr>
          </a:p>
          <a:p>
            <a:pPr algn="just">
              <a:lnSpc>
                <a:spcPts val="3499"/>
              </a:lnSpc>
            </a:pPr>
            <a:r>
              <a:rPr lang="en-US" sz="2499" b="true">
                <a:solidFill>
                  <a:srgbClr val="000000"/>
                </a:solidFill>
                <a:latin typeface="Comic Sans Bold"/>
                <a:ea typeface="Comic Sans Bold"/>
                <a:cs typeface="Comic Sans Bold"/>
                <a:sym typeface="Comic Sans Bold"/>
              </a:rPr>
              <a:t>Proprietary Wallet Passes (e.g., Apple/Google Wallet)</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Highly convenient and integrated with smartphones.</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Benefit from built-in device security.</a:t>
            </a:r>
          </a:p>
          <a:p>
            <a:pPr algn="just" marL="539749" indent="-269875" lvl="1">
              <a:lnSpc>
                <a:spcPts val="3499"/>
              </a:lnSpc>
              <a:spcBef>
                <a:spcPct val="0"/>
              </a:spcBef>
              <a:buFont typeface="Arial"/>
              <a:buChar char="•"/>
            </a:pPr>
            <a:r>
              <a:rPr lang="en-US" sz="2499">
                <a:solidFill>
                  <a:srgbClr val="000000"/>
                </a:solidFill>
                <a:latin typeface="Comic Sans"/>
                <a:ea typeface="Comic Sans"/>
                <a:cs typeface="Comic Sans"/>
                <a:sym typeface="Comic Sans"/>
              </a:rPr>
              <a:t>However, operate in a closed ecosystem with limited customization and control for institutions.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BE5D8"/>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028700"/>
            <a:ext cx="16230082" cy="8229600"/>
            <a:chOff x="0" y="0"/>
            <a:chExt cx="47097642" cy="23881256"/>
          </a:xfrm>
        </p:grpSpPr>
        <p:sp>
          <p:nvSpPr>
            <p:cNvPr name="Freeform 24" id="24"/>
            <p:cNvSpPr/>
            <p:nvPr/>
          </p:nvSpPr>
          <p:spPr>
            <a:xfrm flipH="false" flipV="false" rot="0">
              <a:off x="72390" y="72390"/>
              <a:ext cx="46952861" cy="23736476"/>
            </a:xfrm>
            <a:custGeom>
              <a:avLst/>
              <a:gdLst/>
              <a:ahLst/>
              <a:cxnLst/>
              <a:rect r="r" b="b" t="t" l="l"/>
              <a:pathLst>
                <a:path h="23736476" w="46952861">
                  <a:moveTo>
                    <a:pt x="0" y="0"/>
                  </a:moveTo>
                  <a:lnTo>
                    <a:pt x="46952861" y="0"/>
                  </a:lnTo>
                  <a:lnTo>
                    <a:pt x="46952861" y="23736476"/>
                  </a:lnTo>
                  <a:lnTo>
                    <a:pt x="0" y="23736476"/>
                  </a:lnTo>
                  <a:lnTo>
                    <a:pt x="0" y="0"/>
                  </a:lnTo>
                  <a:close/>
                </a:path>
              </a:pathLst>
            </a:custGeom>
            <a:solidFill>
              <a:srgbClr val="D8C4FF"/>
            </a:solidFill>
          </p:spPr>
        </p:sp>
        <p:sp>
          <p:nvSpPr>
            <p:cNvPr name="Freeform 25" id="25"/>
            <p:cNvSpPr/>
            <p:nvPr/>
          </p:nvSpPr>
          <p:spPr>
            <a:xfrm flipH="false" flipV="false" rot="0">
              <a:off x="0" y="0"/>
              <a:ext cx="47097643" cy="23881257"/>
            </a:xfrm>
            <a:custGeom>
              <a:avLst/>
              <a:gdLst/>
              <a:ahLst/>
              <a:cxnLst/>
              <a:rect r="r" b="b" t="t" l="l"/>
              <a:pathLst>
                <a:path h="23881257" w="47097643">
                  <a:moveTo>
                    <a:pt x="46952861" y="23736477"/>
                  </a:moveTo>
                  <a:lnTo>
                    <a:pt x="47097643" y="23736477"/>
                  </a:lnTo>
                  <a:lnTo>
                    <a:pt x="47097643" y="23881257"/>
                  </a:lnTo>
                  <a:lnTo>
                    <a:pt x="46952861" y="23881257"/>
                  </a:lnTo>
                  <a:lnTo>
                    <a:pt x="46952861" y="23736477"/>
                  </a:lnTo>
                  <a:close/>
                  <a:moveTo>
                    <a:pt x="0" y="144780"/>
                  </a:moveTo>
                  <a:lnTo>
                    <a:pt x="144780" y="144780"/>
                  </a:lnTo>
                  <a:lnTo>
                    <a:pt x="144780" y="23736477"/>
                  </a:lnTo>
                  <a:lnTo>
                    <a:pt x="0" y="23736477"/>
                  </a:lnTo>
                  <a:lnTo>
                    <a:pt x="0" y="144780"/>
                  </a:lnTo>
                  <a:close/>
                  <a:moveTo>
                    <a:pt x="0" y="23736477"/>
                  </a:moveTo>
                  <a:lnTo>
                    <a:pt x="144780" y="23736477"/>
                  </a:lnTo>
                  <a:lnTo>
                    <a:pt x="144780" y="23881257"/>
                  </a:lnTo>
                  <a:lnTo>
                    <a:pt x="0" y="23881257"/>
                  </a:lnTo>
                  <a:lnTo>
                    <a:pt x="0" y="23736477"/>
                  </a:lnTo>
                  <a:close/>
                  <a:moveTo>
                    <a:pt x="46952861" y="144780"/>
                  </a:moveTo>
                  <a:lnTo>
                    <a:pt x="47097643" y="144780"/>
                  </a:lnTo>
                  <a:lnTo>
                    <a:pt x="47097643" y="23736477"/>
                  </a:lnTo>
                  <a:lnTo>
                    <a:pt x="46952861" y="23736477"/>
                  </a:lnTo>
                  <a:lnTo>
                    <a:pt x="46952861" y="144780"/>
                  </a:lnTo>
                  <a:close/>
                  <a:moveTo>
                    <a:pt x="144780" y="23736477"/>
                  </a:moveTo>
                  <a:lnTo>
                    <a:pt x="46952861" y="23736477"/>
                  </a:lnTo>
                  <a:lnTo>
                    <a:pt x="46952861" y="23881257"/>
                  </a:lnTo>
                  <a:lnTo>
                    <a:pt x="144780" y="23881257"/>
                  </a:lnTo>
                  <a:lnTo>
                    <a:pt x="144780" y="23736477"/>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6" id="26"/>
          <p:cNvGrpSpPr/>
          <p:nvPr/>
        </p:nvGrpSpPr>
        <p:grpSpPr>
          <a:xfrm rot="0">
            <a:off x="1028700" y="1028700"/>
            <a:ext cx="16230082" cy="2578886"/>
            <a:chOff x="0" y="0"/>
            <a:chExt cx="47097642" cy="7483600"/>
          </a:xfrm>
        </p:grpSpPr>
        <p:sp>
          <p:nvSpPr>
            <p:cNvPr name="Freeform 27" id="27"/>
            <p:cNvSpPr/>
            <p:nvPr/>
          </p:nvSpPr>
          <p:spPr>
            <a:xfrm flipH="false" flipV="false" rot="0">
              <a:off x="72390" y="72390"/>
              <a:ext cx="46952861" cy="7338820"/>
            </a:xfrm>
            <a:custGeom>
              <a:avLst/>
              <a:gdLst/>
              <a:ahLst/>
              <a:cxnLst/>
              <a:rect r="r" b="b" t="t" l="l"/>
              <a:pathLst>
                <a:path h="7338820" w="46952861">
                  <a:moveTo>
                    <a:pt x="0" y="0"/>
                  </a:moveTo>
                  <a:lnTo>
                    <a:pt x="46952861" y="0"/>
                  </a:lnTo>
                  <a:lnTo>
                    <a:pt x="46952861" y="7338820"/>
                  </a:lnTo>
                  <a:lnTo>
                    <a:pt x="0" y="7338820"/>
                  </a:lnTo>
                  <a:lnTo>
                    <a:pt x="0" y="0"/>
                  </a:lnTo>
                  <a:close/>
                </a:path>
              </a:pathLst>
            </a:custGeom>
            <a:solidFill>
              <a:srgbClr val="FCB1D4"/>
            </a:solidFill>
          </p:spPr>
        </p:sp>
        <p:sp>
          <p:nvSpPr>
            <p:cNvPr name="Freeform 28" id="28"/>
            <p:cNvSpPr/>
            <p:nvPr/>
          </p:nvSpPr>
          <p:spPr>
            <a:xfrm flipH="false" flipV="false" rot="0">
              <a:off x="0" y="0"/>
              <a:ext cx="47097643" cy="7483601"/>
            </a:xfrm>
            <a:custGeom>
              <a:avLst/>
              <a:gdLst/>
              <a:ahLst/>
              <a:cxnLst/>
              <a:rect r="r" b="b" t="t" l="l"/>
              <a:pathLst>
                <a:path h="7483601" w="47097643">
                  <a:moveTo>
                    <a:pt x="46952861" y="7338820"/>
                  </a:moveTo>
                  <a:lnTo>
                    <a:pt x="47097643" y="7338820"/>
                  </a:lnTo>
                  <a:lnTo>
                    <a:pt x="47097643" y="7483601"/>
                  </a:lnTo>
                  <a:lnTo>
                    <a:pt x="46952861" y="7483601"/>
                  </a:lnTo>
                  <a:lnTo>
                    <a:pt x="46952861" y="7338820"/>
                  </a:lnTo>
                  <a:close/>
                  <a:moveTo>
                    <a:pt x="0" y="144780"/>
                  </a:moveTo>
                  <a:lnTo>
                    <a:pt x="144780" y="144780"/>
                  </a:lnTo>
                  <a:lnTo>
                    <a:pt x="144780" y="7338820"/>
                  </a:lnTo>
                  <a:lnTo>
                    <a:pt x="0" y="7338820"/>
                  </a:lnTo>
                  <a:lnTo>
                    <a:pt x="0" y="144780"/>
                  </a:lnTo>
                  <a:close/>
                  <a:moveTo>
                    <a:pt x="0" y="7338820"/>
                  </a:moveTo>
                  <a:lnTo>
                    <a:pt x="144780" y="7338820"/>
                  </a:lnTo>
                  <a:lnTo>
                    <a:pt x="144780" y="7483601"/>
                  </a:lnTo>
                  <a:lnTo>
                    <a:pt x="0" y="7483601"/>
                  </a:lnTo>
                  <a:lnTo>
                    <a:pt x="0" y="7338820"/>
                  </a:lnTo>
                  <a:close/>
                  <a:moveTo>
                    <a:pt x="46952861" y="144780"/>
                  </a:moveTo>
                  <a:lnTo>
                    <a:pt x="47097643" y="144780"/>
                  </a:lnTo>
                  <a:lnTo>
                    <a:pt x="47097643" y="7338820"/>
                  </a:lnTo>
                  <a:lnTo>
                    <a:pt x="46952861" y="7338820"/>
                  </a:lnTo>
                  <a:lnTo>
                    <a:pt x="46952861" y="144780"/>
                  </a:lnTo>
                  <a:close/>
                  <a:moveTo>
                    <a:pt x="144780" y="7338820"/>
                  </a:moveTo>
                  <a:lnTo>
                    <a:pt x="46952861" y="7338820"/>
                  </a:lnTo>
                  <a:lnTo>
                    <a:pt x="46952861" y="7483601"/>
                  </a:lnTo>
                  <a:lnTo>
                    <a:pt x="144780" y="7483601"/>
                  </a:lnTo>
                  <a:lnTo>
                    <a:pt x="144780" y="7338820"/>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sp>
        <p:nvSpPr>
          <p:cNvPr name="TextBox 29" id="29"/>
          <p:cNvSpPr txBox="true"/>
          <p:nvPr/>
        </p:nvSpPr>
        <p:spPr>
          <a:xfrm rot="0">
            <a:off x="1642759" y="1378096"/>
            <a:ext cx="15307281" cy="2314575"/>
          </a:xfrm>
          <a:prstGeom prst="rect">
            <a:avLst/>
          </a:prstGeom>
        </p:spPr>
        <p:txBody>
          <a:bodyPr anchor="t" rtlCol="false" tIns="0" lIns="0" bIns="0" rIns="0">
            <a:spAutoFit/>
          </a:bodyPr>
          <a:lstStyle/>
          <a:p>
            <a:pPr algn="ctr">
              <a:lnSpc>
                <a:spcPts val="18900"/>
              </a:lnSpc>
            </a:pPr>
            <a:r>
              <a:rPr lang="en-US" sz="13500">
                <a:solidFill>
                  <a:srgbClr val="000000"/>
                </a:solidFill>
                <a:latin typeface="Luckiest Guy"/>
                <a:ea typeface="Luckiest Guy"/>
                <a:cs typeface="Luckiest Guy"/>
                <a:sym typeface="Luckiest Guy"/>
              </a:rPr>
              <a:t>LITERATURE REVIEW</a:t>
            </a:r>
          </a:p>
        </p:txBody>
      </p:sp>
      <p:sp>
        <p:nvSpPr>
          <p:cNvPr name="TextBox 30" id="30"/>
          <p:cNvSpPr txBox="true"/>
          <p:nvPr/>
        </p:nvSpPr>
        <p:spPr>
          <a:xfrm rot="0">
            <a:off x="1537984" y="1293011"/>
            <a:ext cx="15307281" cy="2314575"/>
          </a:xfrm>
          <a:prstGeom prst="rect">
            <a:avLst/>
          </a:prstGeom>
        </p:spPr>
        <p:txBody>
          <a:bodyPr anchor="t" rtlCol="false" tIns="0" lIns="0" bIns="0" rIns="0">
            <a:spAutoFit/>
          </a:bodyPr>
          <a:lstStyle/>
          <a:p>
            <a:pPr algn="ctr">
              <a:lnSpc>
                <a:spcPts val="18900"/>
              </a:lnSpc>
            </a:pPr>
            <a:r>
              <a:rPr lang="en-US" sz="13500">
                <a:gradFill>
                  <a:gsLst>
                    <a:gs pos="0">
                      <a:srgbClr val="0CC0DF">
                        <a:alpha val="100000"/>
                      </a:srgbClr>
                    </a:gs>
                    <a:gs pos="100000">
                      <a:srgbClr val="FFDE59">
                        <a:alpha val="100000"/>
                      </a:srgbClr>
                    </a:gs>
                  </a:gsLst>
                  <a:lin ang="2700000"/>
                </a:gradFill>
                <a:latin typeface="Luckiest Guy"/>
                <a:ea typeface="Luckiest Guy"/>
                <a:cs typeface="Luckiest Guy"/>
                <a:sym typeface="Luckiest Guy"/>
              </a:rPr>
              <a:t>LITERATURE REVIEW</a:t>
            </a:r>
          </a:p>
        </p:txBody>
      </p:sp>
      <p:sp>
        <p:nvSpPr>
          <p:cNvPr name="TextBox 31" id="31"/>
          <p:cNvSpPr txBox="true"/>
          <p:nvPr/>
        </p:nvSpPr>
        <p:spPr>
          <a:xfrm rot="0">
            <a:off x="2250758" y="4220869"/>
            <a:ext cx="13881733" cy="4356100"/>
          </a:xfrm>
          <a:prstGeom prst="rect">
            <a:avLst/>
          </a:prstGeom>
        </p:spPr>
        <p:txBody>
          <a:bodyPr anchor="t" rtlCol="false" tIns="0" lIns="0" bIns="0" rIns="0">
            <a:spAutoFit/>
          </a:bodyPr>
          <a:lstStyle/>
          <a:p>
            <a:pPr algn="just">
              <a:lnSpc>
                <a:spcPts val="3499"/>
              </a:lnSpc>
            </a:pPr>
            <a:r>
              <a:rPr lang="en-US" sz="2499" b="true">
                <a:solidFill>
                  <a:srgbClr val="000000"/>
                </a:solidFill>
                <a:latin typeface="Comic Sans Bold"/>
                <a:ea typeface="Comic Sans Bold"/>
                <a:cs typeface="Comic Sans Bold"/>
                <a:sym typeface="Comic Sans Bold"/>
              </a:rPr>
              <a:t>NFC Technology in Access Control</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Provides fast, contactless, and reliable communication.</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Supports standardised and secure credential storage and transmission.</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Traditionally tied to proprietary plastic cards, limiting flexibility.</a:t>
            </a:r>
          </a:p>
          <a:p>
            <a:pPr algn="just">
              <a:lnSpc>
                <a:spcPts val="3499"/>
              </a:lnSpc>
            </a:pPr>
          </a:p>
          <a:p>
            <a:pPr algn="just">
              <a:lnSpc>
                <a:spcPts val="3499"/>
              </a:lnSpc>
            </a:pPr>
            <a:r>
              <a:rPr lang="en-US" sz="2499" b="true">
                <a:solidFill>
                  <a:srgbClr val="000000"/>
                </a:solidFill>
                <a:latin typeface="Comic Sans Bold"/>
                <a:ea typeface="Comic Sans Bold"/>
                <a:cs typeface="Comic Sans Bold"/>
                <a:sym typeface="Comic Sans Bold"/>
              </a:rPr>
              <a:t>National Digitalisation: MyJPJ Case Study</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Demonstrates official acceptance of digital credentials and IDs.</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Offers user-centric, app-based access to personal information.</a:t>
            </a:r>
          </a:p>
          <a:p>
            <a:pPr algn="just" marL="539749" indent="-269875" lvl="1">
              <a:lnSpc>
                <a:spcPts val="3499"/>
              </a:lnSpc>
              <a:buFont typeface="Arial"/>
              <a:buChar char="•"/>
            </a:pPr>
            <a:r>
              <a:rPr lang="en-US" sz="2499">
                <a:solidFill>
                  <a:srgbClr val="000000"/>
                </a:solidFill>
                <a:latin typeface="Comic Sans"/>
                <a:ea typeface="Comic Sans"/>
                <a:cs typeface="Comic Sans"/>
                <a:sym typeface="Comic Sans"/>
              </a:rPr>
              <a:t>Still mainly visual and manual verification, with no tap-based machine-readable access.</a:t>
            </a:r>
          </a:p>
          <a:p>
            <a:pPr algn="just">
              <a:lnSpc>
                <a:spcPts val="34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6E0FF"/>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028700"/>
            <a:ext cx="16230082" cy="8229600"/>
            <a:chOff x="0" y="0"/>
            <a:chExt cx="47097642" cy="23881256"/>
          </a:xfrm>
        </p:grpSpPr>
        <p:sp>
          <p:nvSpPr>
            <p:cNvPr name="Freeform 24" id="24"/>
            <p:cNvSpPr/>
            <p:nvPr/>
          </p:nvSpPr>
          <p:spPr>
            <a:xfrm flipH="false" flipV="false" rot="0">
              <a:off x="72390" y="72390"/>
              <a:ext cx="46952861" cy="23736476"/>
            </a:xfrm>
            <a:custGeom>
              <a:avLst/>
              <a:gdLst/>
              <a:ahLst/>
              <a:cxnLst/>
              <a:rect r="r" b="b" t="t" l="l"/>
              <a:pathLst>
                <a:path h="23736476" w="46952861">
                  <a:moveTo>
                    <a:pt x="0" y="0"/>
                  </a:moveTo>
                  <a:lnTo>
                    <a:pt x="46952861" y="0"/>
                  </a:lnTo>
                  <a:lnTo>
                    <a:pt x="46952861" y="23736476"/>
                  </a:lnTo>
                  <a:lnTo>
                    <a:pt x="0" y="23736476"/>
                  </a:lnTo>
                  <a:lnTo>
                    <a:pt x="0" y="0"/>
                  </a:lnTo>
                  <a:close/>
                </a:path>
              </a:pathLst>
            </a:custGeom>
            <a:solidFill>
              <a:srgbClr val="D8C4FF"/>
            </a:solidFill>
          </p:spPr>
        </p:sp>
        <p:sp>
          <p:nvSpPr>
            <p:cNvPr name="Freeform 25" id="25"/>
            <p:cNvSpPr/>
            <p:nvPr/>
          </p:nvSpPr>
          <p:spPr>
            <a:xfrm flipH="false" flipV="false" rot="0">
              <a:off x="0" y="0"/>
              <a:ext cx="47097643" cy="23881257"/>
            </a:xfrm>
            <a:custGeom>
              <a:avLst/>
              <a:gdLst/>
              <a:ahLst/>
              <a:cxnLst/>
              <a:rect r="r" b="b" t="t" l="l"/>
              <a:pathLst>
                <a:path h="23881257" w="47097643">
                  <a:moveTo>
                    <a:pt x="46952861" y="23736477"/>
                  </a:moveTo>
                  <a:lnTo>
                    <a:pt x="47097643" y="23736477"/>
                  </a:lnTo>
                  <a:lnTo>
                    <a:pt x="47097643" y="23881257"/>
                  </a:lnTo>
                  <a:lnTo>
                    <a:pt x="46952861" y="23881257"/>
                  </a:lnTo>
                  <a:lnTo>
                    <a:pt x="46952861" y="23736477"/>
                  </a:lnTo>
                  <a:close/>
                  <a:moveTo>
                    <a:pt x="0" y="144780"/>
                  </a:moveTo>
                  <a:lnTo>
                    <a:pt x="144780" y="144780"/>
                  </a:lnTo>
                  <a:lnTo>
                    <a:pt x="144780" y="23736477"/>
                  </a:lnTo>
                  <a:lnTo>
                    <a:pt x="0" y="23736477"/>
                  </a:lnTo>
                  <a:lnTo>
                    <a:pt x="0" y="144780"/>
                  </a:lnTo>
                  <a:close/>
                  <a:moveTo>
                    <a:pt x="0" y="23736477"/>
                  </a:moveTo>
                  <a:lnTo>
                    <a:pt x="144780" y="23736477"/>
                  </a:lnTo>
                  <a:lnTo>
                    <a:pt x="144780" y="23881257"/>
                  </a:lnTo>
                  <a:lnTo>
                    <a:pt x="0" y="23881257"/>
                  </a:lnTo>
                  <a:lnTo>
                    <a:pt x="0" y="23736477"/>
                  </a:lnTo>
                  <a:close/>
                  <a:moveTo>
                    <a:pt x="46952861" y="144780"/>
                  </a:moveTo>
                  <a:lnTo>
                    <a:pt x="47097643" y="144780"/>
                  </a:lnTo>
                  <a:lnTo>
                    <a:pt x="47097643" y="23736477"/>
                  </a:lnTo>
                  <a:lnTo>
                    <a:pt x="46952861" y="23736477"/>
                  </a:lnTo>
                  <a:lnTo>
                    <a:pt x="46952861" y="144780"/>
                  </a:lnTo>
                  <a:close/>
                  <a:moveTo>
                    <a:pt x="144780" y="23736477"/>
                  </a:moveTo>
                  <a:lnTo>
                    <a:pt x="46952861" y="23736477"/>
                  </a:lnTo>
                  <a:lnTo>
                    <a:pt x="46952861" y="23881257"/>
                  </a:lnTo>
                  <a:lnTo>
                    <a:pt x="144780" y="23881257"/>
                  </a:lnTo>
                  <a:lnTo>
                    <a:pt x="144780" y="23736477"/>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6" id="26"/>
          <p:cNvGrpSpPr/>
          <p:nvPr/>
        </p:nvGrpSpPr>
        <p:grpSpPr>
          <a:xfrm rot="0">
            <a:off x="1028700" y="1028700"/>
            <a:ext cx="16230082" cy="3128947"/>
            <a:chOff x="0" y="0"/>
            <a:chExt cx="47097642" cy="9079807"/>
          </a:xfrm>
        </p:grpSpPr>
        <p:sp>
          <p:nvSpPr>
            <p:cNvPr name="Freeform 27" id="27"/>
            <p:cNvSpPr/>
            <p:nvPr/>
          </p:nvSpPr>
          <p:spPr>
            <a:xfrm flipH="false" flipV="false" rot="0">
              <a:off x="72390" y="72390"/>
              <a:ext cx="46952861" cy="8935028"/>
            </a:xfrm>
            <a:custGeom>
              <a:avLst/>
              <a:gdLst/>
              <a:ahLst/>
              <a:cxnLst/>
              <a:rect r="r" b="b" t="t" l="l"/>
              <a:pathLst>
                <a:path h="8935028" w="46952861">
                  <a:moveTo>
                    <a:pt x="0" y="0"/>
                  </a:moveTo>
                  <a:lnTo>
                    <a:pt x="46952861" y="0"/>
                  </a:lnTo>
                  <a:lnTo>
                    <a:pt x="46952861" y="8935028"/>
                  </a:lnTo>
                  <a:lnTo>
                    <a:pt x="0" y="8935028"/>
                  </a:lnTo>
                  <a:lnTo>
                    <a:pt x="0" y="0"/>
                  </a:lnTo>
                  <a:close/>
                </a:path>
              </a:pathLst>
            </a:custGeom>
            <a:solidFill>
              <a:srgbClr val="FCB1D4"/>
            </a:solidFill>
          </p:spPr>
        </p:sp>
        <p:sp>
          <p:nvSpPr>
            <p:cNvPr name="Freeform 28" id="28"/>
            <p:cNvSpPr/>
            <p:nvPr/>
          </p:nvSpPr>
          <p:spPr>
            <a:xfrm flipH="false" flipV="false" rot="0">
              <a:off x="0" y="0"/>
              <a:ext cx="47097643" cy="9079807"/>
            </a:xfrm>
            <a:custGeom>
              <a:avLst/>
              <a:gdLst/>
              <a:ahLst/>
              <a:cxnLst/>
              <a:rect r="r" b="b" t="t" l="l"/>
              <a:pathLst>
                <a:path h="9079807" w="47097643">
                  <a:moveTo>
                    <a:pt x="46952861" y="8935027"/>
                  </a:moveTo>
                  <a:lnTo>
                    <a:pt x="47097643" y="8935027"/>
                  </a:lnTo>
                  <a:lnTo>
                    <a:pt x="47097643" y="9079807"/>
                  </a:lnTo>
                  <a:lnTo>
                    <a:pt x="46952861" y="9079807"/>
                  </a:lnTo>
                  <a:lnTo>
                    <a:pt x="46952861" y="8935027"/>
                  </a:lnTo>
                  <a:close/>
                  <a:moveTo>
                    <a:pt x="0" y="144780"/>
                  </a:moveTo>
                  <a:lnTo>
                    <a:pt x="144780" y="144780"/>
                  </a:lnTo>
                  <a:lnTo>
                    <a:pt x="144780" y="8935027"/>
                  </a:lnTo>
                  <a:lnTo>
                    <a:pt x="0" y="8935027"/>
                  </a:lnTo>
                  <a:lnTo>
                    <a:pt x="0" y="144780"/>
                  </a:lnTo>
                  <a:close/>
                  <a:moveTo>
                    <a:pt x="0" y="8935027"/>
                  </a:moveTo>
                  <a:lnTo>
                    <a:pt x="144780" y="8935027"/>
                  </a:lnTo>
                  <a:lnTo>
                    <a:pt x="144780" y="9079807"/>
                  </a:lnTo>
                  <a:lnTo>
                    <a:pt x="0" y="9079807"/>
                  </a:lnTo>
                  <a:lnTo>
                    <a:pt x="0" y="8935027"/>
                  </a:lnTo>
                  <a:close/>
                  <a:moveTo>
                    <a:pt x="46952861" y="144780"/>
                  </a:moveTo>
                  <a:lnTo>
                    <a:pt x="47097643" y="144780"/>
                  </a:lnTo>
                  <a:lnTo>
                    <a:pt x="47097643" y="8935027"/>
                  </a:lnTo>
                  <a:lnTo>
                    <a:pt x="46952861" y="8935027"/>
                  </a:lnTo>
                  <a:lnTo>
                    <a:pt x="46952861" y="144780"/>
                  </a:lnTo>
                  <a:close/>
                  <a:moveTo>
                    <a:pt x="144780" y="8935027"/>
                  </a:moveTo>
                  <a:lnTo>
                    <a:pt x="46952861" y="8935027"/>
                  </a:lnTo>
                  <a:lnTo>
                    <a:pt x="46952861" y="9079807"/>
                  </a:lnTo>
                  <a:lnTo>
                    <a:pt x="144780" y="9079807"/>
                  </a:lnTo>
                  <a:lnTo>
                    <a:pt x="144780" y="8935027"/>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sp>
        <p:nvSpPr>
          <p:cNvPr name="TextBox 29" id="29"/>
          <p:cNvSpPr txBox="true"/>
          <p:nvPr/>
        </p:nvSpPr>
        <p:spPr>
          <a:xfrm rot="0">
            <a:off x="1642759" y="1292371"/>
            <a:ext cx="15307281" cy="3119119"/>
          </a:xfrm>
          <a:prstGeom prst="rect">
            <a:avLst/>
          </a:prstGeom>
        </p:spPr>
        <p:txBody>
          <a:bodyPr anchor="t" rtlCol="false" tIns="0" lIns="0" bIns="0" rIns="0">
            <a:spAutoFit/>
          </a:bodyPr>
          <a:lstStyle/>
          <a:p>
            <a:pPr algn="ctr">
              <a:lnSpc>
                <a:spcPts val="25480"/>
              </a:lnSpc>
            </a:pPr>
            <a:r>
              <a:rPr lang="en-US" sz="18200">
                <a:solidFill>
                  <a:srgbClr val="000000"/>
                </a:solidFill>
                <a:latin typeface="Luckiest Guy"/>
                <a:ea typeface="Luckiest Guy"/>
                <a:cs typeface="Luckiest Guy"/>
                <a:sym typeface="Luckiest Guy"/>
              </a:rPr>
              <a:t>METHODOLOGY</a:t>
            </a:r>
          </a:p>
        </p:txBody>
      </p:sp>
      <p:grpSp>
        <p:nvGrpSpPr>
          <p:cNvPr name="Group 30" id="30"/>
          <p:cNvGrpSpPr/>
          <p:nvPr/>
        </p:nvGrpSpPr>
        <p:grpSpPr>
          <a:xfrm rot="0">
            <a:off x="1351929" y="4411490"/>
            <a:ext cx="10785582" cy="4572572"/>
            <a:chOff x="0" y="0"/>
            <a:chExt cx="21196511" cy="8986309"/>
          </a:xfrm>
        </p:grpSpPr>
        <p:sp>
          <p:nvSpPr>
            <p:cNvPr name="Freeform 31" id="31"/>
            <p:cNvSpPr/>
            <p:nvPr/>
          </p:nvSpPr>
          <p:spPr>
            <a:xfrm flipH="false" flipV="false" rot="0">
              <a:off x="72390" y="72390"/>
              <a:ext cx="21051731" cy="8841529"/>
            </a:xfrm>
            <a:custGeom>
              <a:avLst/>
              <a:gdLst/>
              <a:ahLst/>
              <a:cxnLst/>
              <a:rect r="r" b="b" t="t" l="l"/>
              <a:pathLst>
                <a:path h="8841529" w="21051731">
                  <a:moveTo>
                    <a:pt x="0" y="0"/>
                  </a:moveTo>
                  <a:lnTo>
                    <a:pt x="21051731" y="0"/>
                  </a:lnTo>
                  <a:lnTo>
                    <a:pt x="21051731" y="8841529"/>
                  </a:lnTo>
                  <a:lnTo>
                    <a:pt x="0" y="8841529"/>
                  </a:lnTo>
                  <a:lnTo>
                    <a:pt x="0" y="0"/>
                  </a:lnTo>
                  <a:close/>
                </a:path>
              </a:pathLst>
            </a:custGeom>
            <a:solidFill>
              <a:srgbClr val="FFFFFF"/>
            </a:solidFill>
          </p:spPr>
        </p:sp>
        <p:sp>
          <p:nvSpPr>
            <p:cNvPr name="Freeform 32" id="32"/>
            <p:cNvSpPr/>
            <p:nvPr/>
          </p:nvSpPr>
          <p:spPr>
            <a:xfrm flipH="false" flipV="false" rot="0">
              <a:off x="0" y="0"/>
              <a:ext cx="21196511" cy="8986309"/>
            </a:xfrm>
            <a:custGeom>
              <a:avLst/>
              <a:gdLst/>
              <a:ahLst/>
              <a:cxnLst/>
              <a:rect r="r" b="b" t="t" l="l"/>
              <a:pathLst>
                <a:path h="8986309" w="21196511">
                  <a:moveTo>
                    <a:pt x="21051731" y="8841529"/>
                  </a:moveTo>
                  <a:lnTo>
                    <a:pt x="21196511" y="8841529"/>
                  </a:lnTo>
                  <a:lnTo>
                    <a:pt x="21196511" y="8986309"/>
                  </a:lnTo>
                  <a:lnTo>
                    <a:pt x="21051731" y="8986309"/>
                  </a:lnTo>
                  <a:lnTo>
                    <a:pt x="21051731" y="8841529"/>
                  </a:lnTo>
                  <a:close/>
                  <a:moveTo>
                    <a:pt x="0" y="144780"/>
                  </a:moveTo>
                  <a:lnTo>
                    <a:pt x="144780" y="144780"/>
                  </a:lnTo>
                  <a:lnTo>
                    <a:pt x="144780" y="8841529"/>
                  </a:lnTo>
                  <a:lnTo>
                    <a:pt x="0" y="8841529"/>
                  </a:lnTo>
                  <a:lnTo>
                    <a:pt x="0" y="144780"/>
                  </a:lnTo>
                  <a:close/>
                  <a:moveTo>
                    <a:pt x="0" y="8841529"/>
                  </a:moveTo>
                  <a:lnTo>
                    <a:pt x="144780" y="8841529"/>
                  </a:lnTo>
                  <a:lnTo>
                    <a:pt x="144780" y="8986309"/>
                  </a:lnTo>
                  <a:lnTo>
                    <a:pt x="0" y="8986309"/>
                  </a:lnTo>
                  <a:lnTo>
                    <a:pt x="0" y="8841529"/>
                  </a:lnTo>
                  <a:close/>
                  <a:moveTo>
                    <a:pt x="21051731" y="144780"/>
                  </a:moveTo>
                  <a:lnTo>
                    <a:pt x="21196511" y="144780"/>
                  </a:lnTo>
                  <a:lnTo>
                    <a:pt x="21196511" y="8841529"/>
                  </a:lnTo>
                  <a:lnTo>
                    <a:pt x="21051731" y="8841529"/>
                  </a:lnTo>
                  <a:lnTo>
                    <a:pt x="21051731" y="144780"/>
                  </a:lnTo>
                  <a:close/>
                  <a:moveTo>
                    <a:pt x="144780" y="8841529"/>
                  </a:moveTo>
                  <a:lnTo>
                    <a:pt x="21051731" y="8841529"/>
                  </a:lnTo>
                  <a:lnTo>
                    <a:pt x="21051731" y="8986309"/>
                  </a:lnTo>
                  <a:lnTo>
                    <a:pt x="144780" y="8986309"/>
                  </a:lnTo>
                  <a:lnTo>
                    <a:pt x="144780" y="8841529"/>
                  </a:lnTo>
                  <a:close/>
                  <a:moveTo>
                    <a:pt x="21051731" y="0"/>
                  </a:moveTo>
                  <a:lnTo>
                    <a:pt x="21196511" y="0"/>
                  </a:lnTo>
                  <a:lnTo>
                    <a:pt x="21196511" y="144780"/>
                  </a:lnTo>
                  <a:lnTo>
                    <a:pt x="21051731" y="144780"/>
                  </a:lnTo>
                  <a:lnTo>
                    <a:pt x="21051731" y="0"/>
                  </a:lnTo>
                  <a:close/>
                  <a:moveTo>
                    <a:pt x="0" y="0"/>
                  </a:moveTo>
                  <a:lnTo>
                    <a:pt x="144780" y="0"/>
                  </a:lnTo>
                  <a:lnTo>
                    <a:pt x="144780" y="144780"/>
                  </a:lnTo>
                  <a:lnTo>
                    <a:pt x="0" y="144780"/>
                  </a:lnTo>
                  <a:lnTo>
                    <a:pt x="0" y="0"/>
                  </a:lnTo>
                  <a:close/>
                  <a:moveTo>
                    <a:pt x="144780" y="0"/>
                  </a:moveTo>
                  <a:lnTo>
                    <a:pt x="21051731" y="0"/>
                  </a:lnTo>
                  <a:lnTo>
                    <a:pt x="21051731" y="144780"/>
                  </a:lnTo>
                  <a:lnTo>
                    <a:pt x="144780" y="144780"/>
                  </a:lnTo>
                  <a:lnTo>
                    <a:pt x="144780" y="0"/>
                  </a:lnTo>
                  <a:close/>
                </a:path>
              </a:pathLst>
            </a:custGeom>
            <a:solidFill>
              <a:srgbClr val="000000"/>
            </a:solidFill>
          </p:spPr>
        </p:sp>
      </p:grpSp>
      <p:sp>
        <p:nvSpPr>
          <p:cNvPr name="TextBox 33" id="33"/>
          <p:cNvSpPr txBox="true"/>
          <p:nvPr/>
        </p:nvSpPr>
        <p:spPr>
          <a:xfrm rot="0">
            <a:off x="1534571" y="4499470"/>
            <a:ext cx="10385482" cy="4356100"/>
          </a:xfrm>
          <a:prstGeom prst="rect">
            <a:avLst/>
          </a:prstGeom>
        </p:spPr>
        <p:txBody>
          <a:bodyPr anchor="t" rtlCol="false" tIns="0" lIns="0" bIns="0" rIns="0">
            <a:spAutoFit/>
          </a:bodyPr>
          <a:lstStyle/>
          <a:p>
            <a:pPr algn="just">
              <a:lnSpc>
                <a:spcPts val="3499"/>
              </a:lnSpc>
            </a:pPr>
            <a:r>
              <a:rPr lang="en-US" b="true" sz="2499" spc="-49">
                <a:solidFill>
                  <a:srgbClr val="000000"/>
                </a:solidFill>
                <a:latin typeface="Comic Sans Bold"/>
                <a:ea typeface="Comic Sans Bold"/>
                <a:cs typeface="Comic Sans Bold"/>
                <a:sym typeface="Comic Sans Bold"/>
              </a:rPr>
              <a:t>Project Approach / Framework:</a:t>
            </a:r>
          </a:p>
          <a:p>
            <a:pPr algn="just" marL="539748" indent="-269874" lvl="1">
              <a:lnSpc>
                <a:spcPts val="3499"/>
              </a:lnSpc>
              <a:buFont typeface="Arial"/>
              <a:buChar char="•"/>
            </a:pPr>
            <a:r>
              <a:rPr lang="en-US" b="true" sz="2499" spc="-49">
                <a:solidFill>
                  <a:srgbClr val="000000"/>
                </a:solidFill>
                <a:latin typeface="Comic Sans Bold"/>
                <a:ea typeface="Comic Sans Bold"/>
                <a:cs typeface="Comic Sans Bold"/>
                <a:sym typeface="Comic Sans Bold"/>
              </a:rPr>
              <a:t>Sprints:</a:t>
            </a:r>
            <a:r>
              <a:rPr lang="en-US" sz="2499" spc="-49">
                <a:solidFill>
                  <a:srgbClr val="000000"/>
                </a:solidFill>
                <a:latin typeface="Comic Sans"/>
                <a:ea typeface="Comic Sans"/>
                <a:cs typeface="Comic Sans"/>
                <a:sym typeface="Comic Sans"/>
              </a:rPr>
              <a:t> The project schedule will be divided into two week sprints.</a:t>
            </a:r>
          </a:p>
          <a:p>
            <a:pPr algn="just" marL="539748" indent="-269874" lvl="1">
              <a:lnSpc>
                <a:spcPts val="3499"/>
              </a:lnSpc>
              <a:buFont typeface="Arial"/>
              <a:buChar char="•"/>
            </a:pPr>
            <a:r>
              <a:rPr lang="en-US" b="true" sz="2499" spc="-49">
                <a:solidFill>
                  <a:srgbClr val="000000"/>
                </a:solidFill>
                <a:latin typeface="Comic Sans Bold"/>
                <a:ea typeface="Comic Sans Bold"/>
                <a:cs typeface="Comic Sans Bold"/>
                <a:sym typeface="Comic Sans Bold"/>
              </a:rPr>
              <a:t>Sprint Planning:</a:t>
            </a:r>
            <a:r>
              <a:rPr lang="en-US" sz="2499" spc="-49">
                <a:solidFill>
                  <a:srgbClr val="000000"/>
                </a:solidFill>
                <a:latin typeface="Comic Sans"/>
                <a:ea typeface="Comic Sans"/>
                <a:cs typeface="Comic Sans"/>
                <a:sym typeface="Comic Sans"/>
              </a:rPr>
              <a:t> At the beginning of each sprint, our team will select a set of tasks from the product backlog to complete.</a:t>
            </a:r>
          </a:p>
          <a:p>
            <a:pPr algn="just" marL="539748" indent="-269874" lvl="1">
              <a:lnSpc>
                <a:spcPts val="3499"/>
              </a:lnSpc>
              <a:buFont typeface="Arial"/>
              <a:buChar char="•"/>
            </a:pPr>
            <a:r>
              <a:rPr lang="en-US" b="true" sz="2499" spc="-49">
                <a:solidFill>
                  <a:srgbClr val="000000"/>
                </a:solidFill>
                <a:latin typeface="Comic Sans Bold"/>
                <a:ea typeface="Comic Sans Bold"/>
                <a:cs typeface="Comic Sans Bold"/>
                <a:sym typeface="Comic Sans Bold"/>
              </a:rPr>
              <a:t>Daily Stand-ups:</a:t>
            </a:r>
            <a:r>
              <a:rPr lang="en-US" sz="2499" spc="-49">
                <a:solidFill>
                  <a:srgbClr val="000000"/>
                </a:solidFill>
                <a:latin typeface="Comic Sans"/>
                <a:ea typeface="Comic Sans"/>
                <a:cs typeface="Comic Sans"/>
                <a:sym typeface="Comic Sans"/>
              </a:rPr>
              <a:t> Brief daily meetings will be held to synchronize activities and identify blockers.</a:t>
            </a:r>
          </a:p>
          <a:p>
            <a:pPr algn="just" marL="539748" indent="-269874" lvl="1">
              <a:lnSpc>
                <a:spcPts val="3499"/>
              </a:lnSpc>
              <a:spcBef>
                <a:spcPct val="0"/>
              </a:spcBef>
              <a:buFont typeface="Arial"/>
              <a:buChar char="•"/>
            </a:pPr>
            <a:r>
              <a:rPr lang="en-US" b="true" sz="2499" spc="-49">
                <a:solidFill>
                  <a:srgbClr val="000000"/>
                </a:solidFill>
                <a:latin typeface="Comic Sans Bold"/>
                <a:ea typeface="Comic Sans Bold"/>
                <a:cs typeface="Comic Sans Bold"/>
                <a:sym typeface="Comic Sans Bold"/>
              </a:rPr>
              <a:t>Sprint Review &amp; Retrospective:</a:t>
            </a:r>
            <a:r>
              <a:rPr lang="en-US" sz="2499" spc="-49">
                <a:solidFill>
                  <a:srgbClr val="000000"/>
                </a:solidFill>
                <a:latin typeface="Comic Sans"/>
                <a:ea typeface="Comic Sans"/>
                <a:cs typeface="Comic Sans"/>
                <a:sym typeface="Comic Sans"/>
              </a:rPr>
              <a:t> At the end of each sprint, we will demonstrate the completed functionality and reflect on the process to improve the next sprint. This allows for regular feedback and continuous refinement of the product.</a:t>
            </a:r>
          </a:p>
        </p:txBody>
      </p:sp>
      <p:grpSp>
        <p:nvGrpSpPr>
          <p:cNvPr name="Group 34" id="34"/>
          <p:cNvGrpSpPr/>
          <p:nvPr/>
        </p:nvGrpSpPr>
        <p:grpSpPr>
          <a:xfrm rot="0">
            <a:off x="12450761" y="5143500"/>
            <a:ext cx="4499279" cy="3215462"/>
            <a:chOff x="0" y="0"/>
            <a:chExt cx="8842270" cy="6319230"/>
          </a:xfrm>
        </p:grpSpPr>
        <p:sp>
          <p:nvSpPr>
            <p:cNvPr name="Freeform 35" id="35"/>
            <p:cNvSpPr/>
            <p:nvPr/>
          </p:nvSpPr>
          <p:spPr>
            <a:xfrm flipH="false" flipV="false" rot="0">
              <a:off x="72390" y="72390"/>
              <a:ext cx="8697490" cy="6174450"/>
            </a:xfrm>
            <a:custGeom>
              <a:avLst/>
              <a:gdLst/>
              <a:ahLst/>
              <a:cxnLst/>
              <a:rect r="r" b="b" t="t" l="l"/>
              <a:pathLst>
                <a:path h="6174450" w="8697490">
                  <a:moveTo>
                    <a:pt x="0" y="0"/>
                  </a:moveTo>
                  <a:lnTo>
                    <a:pt x="8697490" y="0"/>
                  </a:lnTo>
                  <a:lnTo>
                    <a:pt x="8697490" y="6174450"/>
                  </a:lnTo>
                  <a:lnTo>
                    <a:pt x="0" y="6174450"/>
                  </a:lnTo>
                  <a:lnTo>
                    <a:pt x="0" y="0"/>
                  </a:lnTo>
                  <a:close/>
                </a:path>
              </a:pathLst>
            </a:custGeom>
            <a:solidFill>
              <a:srgbClr val="FFFFFF"/>
            </a:solidFill>
          </p:spPr>
        </p:sp>
        <p:sp>
          <p:nvSpPr>
            <p:cNvPr name="Freeform 36" id="36"/>
            <p:cNvSpPr/>
            <p:nvPr/>
          </p:nvSpPr>
          <p:spPr>
            <a:xfrm flipH="false" flipV="false" rot="0">
              <a:off x="0" y="0"/>
              <a:ext cx="8842270" cy="6319230"/>
            </a:xfrm>
            <a:custGeom>
              <a:avLst/>
              <a:gdLst/>
              <a:ahLst/>
              <a:cxnLst/>
              <a:rect r="r" b="b" t="t" l="l"/>
              <a:pathLst>
                <a:path h="6319230" w="8842270">
                  <a:moveTo>
                    <a:pt x="8697490" y="6174450"/>
                  </a:moveTo>
                  <a:lnTo>
                    <a:pt x="8842270" y="6174450"/>
                  </a:lnTo>
                  <a:lnTo>
                    <a:pt x="8842270" y="6319230"/>
                  </a:lnTo>
                  <a:lnTo>
                    <a:pt x="8697490" y="6319230"/>
                  </a:lnTo>
                  <a:lnTo>
                    <a:pt x="8697490" y="6174450"/>
                  </a:lnTo>
                  <a:close/>
                  <a:moveTo>
                    <a:pt x="0" y="144780"/>
                  </a:moveTo>
                  <a:lnTo>
                    <a:pt x="144780" y="144780"/>
                  </a:lnTo>
                  <a:lnTo>
                    <a:pt x="144780" y="6174450"/>
                  </a:lnTo>
                  <a:lnTo>
                    <a:pt x="0" y="6174450"/>
                  </a:lnTo>
                  <a:lnTo>
                    <a:pt x="0" y="144780"/>
                  </a:lnTo>
                  <a:close/>
                  <a:moveTo>
                    <a:pt x="0" y="6174450"/>
                  </a:moveTo>
                  <a:lnTo>
                    <a:pt x="144780" y="6174450"/>
                  </a:lnTo>
                  <a:lnTo>
                    <a:pt x="144780" y="6319230"/>
                  </a:lnTo>
                  <a:lnTo>
                    <a:pt x="0" y="6319230"/>
                  </a:lnTo>
                  <a:lnTo>
                    <a:pt x="0" y="6174450"/>
                  </a:lnTo>
                  <a:close/>
                  <a:moveTo>
                    <a:pt x="8697490" y="144780"/>
                  </a:moveTo>
                  <a:lnTo>
                    <a:pt x="8842270" y="144780"/>
                  </a:lnTo>
                  <a:lnTo>
                    <a:pt x="8842270" y="6174450"/>
                  </a:lnTo>
                  <a:lnTo>
                    <a:pt x="8697490" y="6174450"/>
                  </a:lnTo>
                  <a:lnTo>
                    <a:pt x="8697490" y="144780"/>
                  </a:lnTo>
                  <a:close/>
                  <a:moveTo>
                    <a:pt x="144780" y="6174450"/>
                  </a:moveTo>
                  <a:lnTo>
                    <a:pt x="8697490" y="6174450"/>
                  </a:lnTo>
                  <a:lnTo>
                    <a:pt x="8697490" y="6319230"/>
                  </a:lnTo>
                  <a:lnTo>
                    <a:pt x="144780" y="6319230"/>
                  </a:lnTo>
                  <a:lnTo>
                    <a:pt x="144780" y="6174450"/>
                  </a:lnTo>
                  <a:close/>
                  <a:moveTo>
                    <a:pt x="8697490" y="0"/>
                  </a:moveTo>
                  <a:lnTo>
                    <a:pt x="8842270" y="0"/>
                  </a:lnTo>
                  <a:lnTo>
                    <a:pt x="8842270" y="144780"/>
                  </a:lnTo>
                  <a:lnTo>
                    <a:pt x="8697490" y="144780"/>
                  </a:lnTo>
                  <a:lnTo>
                    <a:pt x="8697490" y="0"/>
                  </a:lnTo>
                  <a:close/>
                  <a:moveTo>
                    <a:pt x="0" y="0"/>
                  </a:moveTo>
                  <a:lnTo>
                    <a:pt x="144780" y="0"/>
                  </a:lnTo>
                  <a:lnTo>
                    <a:pt x="144780" y="144780"/>
                  </a:lnTo>
                  <a:lnTo>
                    <a:pt x="0" y="144780"/>
                  </a:lnTo>
                  <a:lnTo>
                    <a:pt x="0" y="0"/>
                  </a:lnTo>
                  <a:close/>
                  <a:moveTo>
                    <a:pt x="144780" y="0"/>
                  </a:moveTo>
                  <a:lnTo>
                    <a:pt x="8697490" y="0"/>
                  </a:lnTo>
                  <a:lnTo>
                    <a:pt x="8697490" y="144780"/>
                  </a:lnTo>
                  <a:lnTo>
                    <a:pt x="144780" y="144780"/>
                  </a:lnTo>
                  <a:lnTo>
                    <a:pt x="144780" y="0"/>
                  </a:lnTo>
                  <a:close/>
                </a:path>
              </a:pathLst>
            </a:custGeom>
            <a:solidFill>
              <a:srgbClr val="000000"/>
            </a:solidFill>
          </p:spPr>
        </p:sp>
      </p:grpSp>
      <p:sp>
        <p:nvSpPr>
          <p:cNvPr name="TextBox 37" id="37"/>
          <p:cNvSpPr txBox="true"/>
          <p:nvPr/>
        </p:nvSpPr>
        <p:spPr>
          <a:xfrm rot="0">
            <a:off x="12925603" y="5374859"/>
            <a:ext cx="3549596" cy="2603500"/>
          </a:xfrm>
          <a:prstGeom prst="rect">
            <a:avLst/>
          </a:prstGeom>
        </p:spPr>
        <p:txBody>
          <a:bodyPr anchor="t" rtlCol="false" tIns="0" lIns="0" bIns="0" rIns="0">
            <a:spAutoFit/>
          </a:bodyPr>
          <a:lstStyle/>
          <a:p>
            <a:pPr algn="just">
              <a:lnSpc>
                <a:spcPts val="3499"/>
              </a:lnSpc>
            </a:pPr>
            <a:r>
              <a:rPr lang="en-US" b="true" sz="2499" spc="-49">
                <a:solidFill>
                  <a:srgbClr val="000000"/>
                </a:solidFill>
                <a:latin typeface="Comic Sans Bold"/>
                <a:ea typeface="Comic Sans Bold"/>
                <a:cs typeface="Comic Sans Bold"/>
                <a:sym typeface="Comic Sans Bold"/>
              </a:rPr>
              <a:t>Tools and technologies:</a:t>
            </a:r>
          </a:p>
          <a:p>
            <a:pPr algn="just" marL="539748" indent="-269874" lvl="1">
              <a:lnSpc>
                <a:spcPts val="3499"/>
              </a:lnSpc>
              <a:buFont typeface="Arial"/>
              <a:buChar char="•"/>
            </a:pPr>
            <a:r>
              <a:rPr lang="en-US" sz="2499" spc="-49">
                <a:solidFill>
                  <a:srgbClr val="000000"/>
                </a:solidFill>
                <a:latin typeface="Comic Sans"/>
                <a:ea typeface="Comic Sans"/>
                <a:cs typeface="Comic Sans"/>
                <a:sym typeface="Comic Sans"/>
              </a:rPr>
              <a:t>Android Studio</a:t>
            </a:r>
          </a:p>
          <a:p>
            <a:pPr algn="just" marL="539748" indent="-269874" lvl="1">
              <a:lnSpc>
                <a:spcPts val="3499"/>
              </a:lnSpc>
              <a:buFont typeface="Arial"/>
              <a:buChar char="•"/>
            </a:pPr>
            <a:r>
              <a:rPr lang="en-US" sz="2499" spc="-49">
                <a:solidFill>
                  <a:srgbClr val="000000"/>
                </a:solidFill>
                <a:latin typeface="Comic Sans"/>
                <a:ea typeface="Comic Sans"/>
                <a:cs typeface="Comic Sans"/>
                <a:sym typeface="Comic Sans"/>
              </a:rPr>
              <a:t>Firebase / Firebase</a:t>
            </a:r>
          </a:p>
          <a:p>
            <a:pPr algn="just" marL="539748" indent="-269874" lvl="1">
              <a:lnSpc>
                <a:spcPts val="3499"/>
              </a:lnSpc>
              <a:buFont typeface="Arial"/>
              <a:buChar char="•"/>
            </a:pPr>
            <a:r>
              <a:rPr lang="en-US" sz="2499" spc="-49">
                <a:solidFill>
                  <a:srgbClr val="000000"/>
                </a:solidFill>
                <a:latin typeface="Comic Sans"/>
                <a:ea typeface="Comic Sans"/>
                <a:cs typeface="Comic Sans"/>
                <a:sym typeface="Comic Sans"/>
              </a:rPr>
              <a:t>Figma</a:t>
            </a:r>
          </a:p>
          <a:p>
            <a:pPr algn="just" marL="539748" indent="-269874" lvl="1">
              <a:lnSpc>
                <a:spcPts val="3499"/>
              </a:lnSpc>
              <a:buFont typeface="Arial"/>
              <a:buChar char="•"/>
            </a:pPr>
            <a:r>
              <a:rPr lang="en-US" sz="2499" spc="-49">
                <a:solidFill>
                  <a:srgbClr val="000000"/>
                </a:solidFill>
                <a:latin typeface="Comic Sans"/>
                <a:ea typeface="Comic Sans"/>
                <a:cs typeface="Comic Sans"/>
                <a:sym typeface="Comic Sans"/>
              </a:rPr>
              <a:t>Kotlin</a:t>
            </a:r>
          </a:p>
          <a:p>
            <a:pPr algn="just" marL="539748" indent="-269874" lvl="1">
              <a:lnSpc>
                <a:spcPts val="3499"/>
              </a:lnSpc>
              <a:buFont typeface="Arial"/>
              <a:buChar char="•"/>
            </a:pPr>
            <a:r>
              <a:rPr lang="en-US" sz="2499" spc="-49">
                <a:solidFill>
                  <a:srgbClr val="000000"/>
                </a:solidFill>
                <a:latin typeface="Comic Sans"/>
                <a:ea typeface="Comic Sans"/>
                <a:cs typeface="Comic Sans"/>
                <a:sym typeface="Comic Sans"/>
              </a:rPr>
              <a:t>GitHub</a:t>
            </a:r>
          </a:p>
        </p:txBody>
      </p:sp>
      <p:sp>
        <p:nvSpPr>
          <p:cNvPr name="TextBox 38" id="38"/>
          <p:cNvSpPr txBox="true"/>
          <p:nvPr/>
        </p:nvSpPr>
        <p:spPr>
          <a:xfrm rot="0">
            <a:off x="1534571" y="1178071"/>
            <a:ext cx="15307281" cy="3119119"/>
          </a:xfrm>
          <a:prstGeom prst="rect">
            <a:avLst/>
          </a:prstGeom>
        </p:spPr>
        <p:txBody>
          <a:bodyPr anchor="t" rtlCol="false" tIns="0" lIns="0" bIns="0" rIns="0">
            <a:spAutoFit/>
          </a:bodyPr>
          <a:lstStyle/>
          <a:p>
            <a:pPr algn="ctr">
              <a:lnSpc>
                <a:spcPts val="25480"/>
              </a:lnSpc>
            </a:pPr>
            <a:r>
              <a:rPr lang="en-US" sz="18200">
                <a:gradFill>
                  <a:gsLst>
                    <a:gs pos="0">
                      <a:srgbClr val="CDFFD8">
                        <a:alpha val="100000"/>
                      </a:srgbClr>
                    </a:gs>
                    <a:gs pos="100000">
                      <a:srgbClr val="94B9FF">
                        <a:alpha val="100000"/>
                      </a:srgbClr>
                    </a:gs>
                  </a:gsLst>
                  <a:lin ang="0"/>
                </a:gradFill>
                <a:latin typeface="Luckiest Guy"/>
                <a:ea typeface="Luckiest Guy"/>
                <a:cs typeface="Luckiest Guy"/>
                <a:sym typeface="Luckiest Guy"/>
              </a:rPr>
              <a:t>METHODOLOGY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6E0FF"/>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028700"/>
            <a:ext cx="16230082" cy="8963688"/>
            <a:chOff x="0" y="0"/>
            <a:chExt cx="47097642" cy="26011486"/>
          </a:xfrm>
        </p:grpSpPr>
        <p:sp>
          <p:nvSpPr>
            <p:cNvPr name="Freeform 24" id="24"/>
            <p:cNvSpPr/>
            <p:nvPr/>
          </p:nvSpPr>
          <p:spPr>
            <a:xfrm flipH="false" flipV="false" rot="0">
              <a:off x="72390" y="72390"/>
              <a:ext cx="46952861" cy="25866706"/>
            </a:xfrm>
            <a:custGeom>
              <a:avLst/>
              <a:gdLst/>
              <a:ahLst/>
              <a:cxnLst/>
              <a:rect r="r" b="b" t="t" l="l"/>
              <a:pathLst>
                <a:path h="25866706" w="46952861">
                  <a:moveTo>
                    <a:pt x="0" y="0"/>
                  </a:moveTo>
                  <a:lnTo>
                    <a:pt x="46952861" y="0"/>
                  </a:lnTo>
                  <a:lnTo>
                    <a:pt x="46952861" y="25866706"/>
                  </a:lnTo>
                  <a:lnTo>
                    <a:pt x="0" y="25866706"/>
                  </a:lnTo>
                  <a:lnTo>
                    <a:pt x="0" y="0"/>
                  </a:lnTo>
                  <a:close/>
                </a:path>
              </a:pathLst>
            </a:custGeom>
            <a:solidFill>
              <a:srgbClr val="FFFFFF"/>
            </a:solidFill>
          </p:spPr>
        </p:sp>
        <p:sp>
          <p:nvSpPr>
            <p:cNvPr name="Freeform 25" id="25"/>
            <p:cNvSpPr/>
            <p:nvPr/>
          </p:nvSpPr>
          <p:spPr>
            <a:xfrm flipH="false" flipV="false" rot="0">
              <a:off x="0" y="0"/>
              <a:ext cx="47097643" cy="26011485"/>
            </a:xfrm>
            <a:custGeom>
              <a:avLst/>
              <a:gdLst/>
              <a:ahLst/>
              <a:cxnLst/>
              <a:rect r="r" b="b" t="t" l="l"/>
              <a:pathLst>
                <a:path h="26011485" w="47097643">
                  <a:moveTo>
                    <a:pt x="46952861" y="25866706"/>
                  </a:moveTo>
                  <a:lnTo>
                    <a:pt x="47097643" y="25866706"/>
                  </a:lnTo>
                  <a:lnTo>
                    <a:pt x="47097643" y="26011485"/>
                  </a:lnTo>
                  <a:lnTo>
                    <a:pt x="46952861" y="26011485"/>
                  </a:lnTo>
                  <a:lnTo>
                    <a:pt x="46952861" y="25866706"/>
                  </a:lnTo>
                  <a:close/>
                  <a:moveTo>
                    <a:pt x="0" y="144780"/>
                  </a:moveTo>
                  <a:lnTo>
                    <a:pt x="144780" y="144780"/>
                  </a:lnTo>
                  <a:lnTo>
                    <a:pt x="144780" y="25866706"/>
                  </a:lnTo>
                  <a:lnTo>
                    <a:pt x="0" y="25866706"/>
                  </a:lnTo>
                  <a:lnTo>
                    <a:pt x="0" y="144780"/>
                  </a:lnTo>
                  <a:close/>
                  <a:moveTo>
                    <a:pt x="0" y="25866706"/>
                  </a:moveTo>
                  <a:lnTo>
                    <a:pt x="144780" y="25866706"/>
                  </a:lnTo>
                  <a:lnTo>
                    <a:pt x="144780" y="26011485"/>
                  </a:lnTo>
                  <a:lnTo>
                    <a:pt x="0" y="26011485"/>
                  </a:lnTo>
                  <a:lnTo>
                    <a:pt x="0" y="25866706"/>
                  </a:lnTo>
                  <a:close/>
                  <a:moveTo>
                    <a:pt x="46952861" y="144780"/>
                  </a:moveTo>
                  <a:lnTo>
                    <a:pt x="47097643" y="144780"/>
                  </a:lnTo>
                  <a:lnTo>
                    <a:pt x="47097643" y="25866706"/>
                  </a:lnTo>
                  <a:lnTo>
                    <a:pt x="46952861" y="25866706"/>
                  </a:lnTo>
                  <a:lnTo>
                    <a:pt x="46952861" y="144780"/>
                  </a:lnTo>
                  <a:close/>
                  <a:moveTo>
                    <a:pt x="144780" y="25866706"/>
                  </a:moveTo>
                  <a:lnTo>
                    <a:pt x="46952861" y="25866706"/>
                  </a:lnTo>
                  <a:lnTo>
                    <a:pt x="46952861" y="26011485"/>
                  </a:lnTo>
                  <a:lnTo>
                    <a:pt x="144780" y="26011485"/>
                  </a:lnTo>
                  <a:lnTo>
                    <a:pt x="144780" y="25866706"/>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6" id="26"/>
          <p:cNvGrpSpPr/>
          <p:nvPr/>
        </p:nvGrpSpPr>
        <p:grpSpPr>
          <a:xfrm rot="0">
            <a:off x="1028700" y="1028700"/>
            <a:ext cx="16230082" cy="2289320"/>
            <a:chOff x="0" y="0"/>
            <a:chExt cx="47097642" cy="6643317"/>
          </a:xfrm>
        </p:grpSpPr>
        <p:sp>
          <p:nvSpPr>
            <p:cNvPr name="Freeform 27" id="27"/>
            <p:cNvSpPr/>
            <p:nvPr/>
          </p:nvSpPr>
          <p:spPr>
            <a:xfrm flipH="false" flipV="false" rot="0">
              <a:off x="72390" y="72390"/>
              <a:ext cx="46952861" cy="6498537"/>
            </a:xfrm>
            <a:custGeom>
              <a:avLst/>
              <a:gdLst/>
              <a:ahLst/>
              <a:cxnLst/>
              <a:rect r="r" b="b" t="t" l="l"/>
              <a:pathLst>
                <a:path h="6498537" w="46952861">
                  <a:moveTo>
                    <a:pt x="0" y="0"/>
                  </a:moveTo>
                  <a:lnTo>
                    <a:pt x="46952861" y="0"/>
                  </a:lnTo>
                  <a:lnTo>
                    <a:pt x="46952861" y="6498537"/>
                  </a:lnTo>
                  <a:lnTo>
                    <a:pt x="0" y="6498537"/>
                  </a:lnTo>
                  <a:lnTo>
                    <a:pt x="0" y="0"/>
                  </a:lnTo>
                  <a:close/>
                </a:path>
              </a:pathLst>
            </a:custGeom>
            <a:solidFill>
              <a:srgbClr val="FFDE85"/>
            </a:solidFill>
          </p:spPr>
        </p:sp>
        <p:sp>
          <p:nvSpPr>
            <p:cNvPr name="Freeform 28" id="28"/>
            <p:cNvSpPr/>
            <p:nvPr/>
          </p:nvSpPr>
          <p:spPr>
            <a:xfrm flipH="false" flipV="false" rot="0">
              <a:off x="0" y="0"/>
              <a:ext cx="47097643" cy="6643317"/>
            </a:xfrm>
            <a:custGeom>
              <a:avLst/>
              <a:gdLst/>
              <a:ahLst/>
              <a:cxnLst/>
              <a:rect r="r" b="b" t="t" l="l"/>
              <a:pathLst>
                <a:path h="6643317" w="47097643">
                  <a:moveTo>
                    <a:pt x="46952861" y="6498537"/>
                  </a:moveTo>
                  <a:lnTo>
                    <a:pt x="47097643" y="6498537"/>
                  </a:lnTo>
                  <a:lnTo>
                    <a:pt x="47097643" y="6643317"/>
                  </a:lnTo>
                  <a:lnTo>
                    <a:pt x="46952861" y="6643317"/>
                  </a:lnTo>
                  <a:lnTo>
                    <a:pt x="46952861" y="6498537"/>
                  </a:lnTo>
                  <a:close/>
                  <a:moveTo>
                    <a:pt x="0" y="144780"/>
                  </a:moveTo>
                  <a:lnTo>
                    <a:pt x="144780" y="144780"/>
                  </a:lnTo>
                  <a:lnTo>
                    <a:pt x="144780" y="6498537"/>
                  </a:lnTo>
                  <a:lnTo>
                    <a:pt x="0" y="6498537"/>
                  </a:lnTo>
                  <a:lnTo>
                    <a:pt x="0" y="144780"/>
                  </a:lnTo>
                  <a:close/>
                  <a:moveTo>
                    <a:pt x="0" y="6498537"/>
                  </a:moveTo>
                  <a:lnTo>
                    <a:pt x="144780" y="6498537"/>
                  </a:lnTo>
                  <a:lnTo>
                    <a:pt x="144780" y="6643317"/>
                  </a:lnTo>
                  <a:lnTo>
                    <a:pt x="0" y="6643317"/>
                  </a:lnTo>
                  <a:lnTo>
                    <a:pt x="0" y="6498537"/>
                  </a:lnTo>
                  <a:close/>
                  <a:moveTo>
                    <a:pt x="46952861" y="144780"/>
                  </a:moveTo>
                  <a:lnTo>
                    <a:pt x="47097643" y="144780"/>
                  </a:lnTo>
                  <a:lnTo>
                    <a:pt x="47097643" y="6498537"/>
                  </a:lnTo>
                  <a:lnTo>
                    <a:pt x="46952861" y="6498537"/>
                  </a:lnTo>
                  <a:lnTo>
                    <a:pt x="46952861" y="144780"/>
                  </a:lnTo>
                  <a:close/>
                  <a:moveTo>
                    <a:pt x="144780" y="6498537"/>
                  </a:moveTo>
                  <a:lnTo>
                    <a:pt x="46952861" y="6498537"/>
                  </a:lnTo>
                  <a:lnTo>
                    <a:pt x="46952861" y="6643317"/>
                  </a:lnTo>
                  <a:lnTo>
                    <a:pt x="144780" y="6643317"/>
                  </a:lnTo>
                  <a:lnTo>
                    <a:pt x="144780" y="6498537"/>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sp>
        <p:nvSpPr>
          <p:cNvPr name="Freeform 29" id="29"/>
          <p:cNvSpPr/>
          <p:nvPr/>
        </p:nvSpPr>
        <p:spPr>
          <a:xfrm flipH="false" flipV="false" rot="0">
            <a:off x="2384576" y="3485336"/>
            <a:ext cx="5589956" cy="3053513"/>
          </a:xfrm>
          <a:custGeom>
            <a:avLst/>
            <a:gdLst/>
            <a:ahLst/>
            <a:cxnLst/>
            <a:rect r="r" b="b" t="t" l="l"/>
            <a:pathLst>
              <a:path h="3053513" w="5589956">
                <a:moveTo>
                  <a:pt x="0" y="0"/>
                </a:moveTo>
                <a:lnTo>
                  <a:pt x="5589956" y="0"/>
                </a:lnTo>
                <a:lnTo>
                  <a:pt x="5589956" y="3053513"/>
                </a:lnTo>
                <a:lnTo>
                  <a:pt x="0" y="30535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0" id="30"/>
          <p:cNvSpPr txBox="true"/>
          <p:nvPr/>
        </p:nvSpPr>
        <p:spPr>
          <a:xfrm rot="0">
            <a:off x="1642759" y="1425721"/>
            <a:ext cx="15307281" cy="1892299"/>
          </a:xfrm>
          <a:prstGeom prst="rect">
            <a:avLst/>
          </a:prstGeom>
        </p:spPr>
        <p:txBody>
          <a:bodyPr anchor="t" rtlCol="false" tIns="0" lIns="0" bIns="0" rIns="0">
            <a:spAutoFit/>
          </a:bodyPr>
          <a:lstStyle/>
          <a:p>
            <a:pPr algn="ctr">
              <a:lnSpc>
                <a:spcPts val="15400"/>
              </a:lnSpc>
            </a:pPr>
            <a:r>
              <a:rPr lang="en-US" sz="11000" spc="-220">
                <a:solidFill>
                  <a:srgbClr val="000000"/>
                </a:solidFill>
                <a:latin typeface="Luckiest Guy"/>
                <a:ea typeface="Luckiest Guy"/>
                <a:cs typeface="Luckiest Guy"/>
                <a:sym typeface="Luckiest Guy"/>
              </a:rPr>
              <a:t>EXPECTED DELIVERABLES</a:t>
            </a:r>
          </a:p>
        </p:txBody>
      </p:sp>
      <p:sp>
        <p:nvSpPr>
          <p:cNvPr name="TextBox 31" id="31"/>
          <p:cNvSpPr txBox="true"/>
          <p:nvPr/>
        </p:nvSpPr>
        <p:spPr>
          <a:xfrm rot="0">
            <a:off x="1585609" y="1323465"/>
            <a:ext cx="15307281" cy="1892299"/>
          </a:xfrm>
          <a:prstGeom prst="rect">
            <a:avLst/>
          </a:prstGeom>
        </p:spPr>
        <p:txBody>
          <a:bodyPr anchor="t" rtlCol="false" tIns="0" lIns="0" bIns="0" rIns="0">
            <a:spAutoFit/>
          </a:bodyPr>
          <a:lstStyle/>
          <a:p>
            <a:pPr algn="ctr">
              <a:lnSpc>
                <a:spcPts val="15400"/>
              </a:lnSpc>
            </a:pPr>
            <a:r>
              <a:rPr lang="en-US" sz="11000" spc="-220">
                <a:gradFill>
                  <a:gsLst>
                    <a:gs pos="0">
                      <a:srgbClr val="CDFFD8">
                        <a:alpha val="100000"/>
                      </a:srgbClr>
                    </a:gs>
                    <a:gs pos="100000">
                      <a:srgbClr val="94B9FF">
                        <a:alpha val="100000"/>
                      </a:srgbClr>
                    </a:gs>
                  </a:gsLst>
                  <a:path path="circle">
                    <a:fillToRect l="0" r="100000" t="0" b="100000"/>
                  </a:path>
                  <a:tileRect r="0" l="-100000" b="0" t="-100000"/>
                </a:gradFill>
                <a:latin typeface="Luckiest Guy"/>
                <a:ea typeface="Luckiest Guy"/>
                <a:cs typeface="Luckiest Guy"/>
                <a:sym typeface="Luckiest Guy"/>
              </a:rPr>
              <a:t>EXPECTED DELIVERABLES</a:t>
            </a:r>
          </a:p>
        </p:txBody>
      </p:sp>
      <p:sp>
        <p:nvSpPr>
          <p:cNvPr name="TextBox 32" id="32"/>
          <p:cNvSpPr txBox="true"/>
          <p:nvPr/>
        </p:nvSpPr>
        <p:spPr>
          <a:xfrm rot="0">
            <a:off x="2657703" y="3710548"/>
            <a:ext cx="5084276" cy="2622550"/>
          </a:xfrm>
          <a:prstGeom prst="rect">
            <a:avLst/>
          </a:prstGeom>
        </p:spPr>
        <p:txBody>
          <a:bodyPr anchor="t" rtlCol="false" tIns="0" lIns="0" bIns="0" rIns="0">
            <a:spAutoFit/>
          </a:bodyPr>
          <a:lstStyle/>
          <a:p>
            <a:pPr algn="l">
              <a:lnSpc>
                <a:spcPts val="3499"/>
              </a:lnSpc>
            </a:pPr>
            <a:r>
              <a:rPr lang="en-US" b="true" sz="2499" spc="-49" u="sng">
                <a:solidFill>
                  <a:srgbClr val="000000"/>
                </a:solidFill>
                <a:latin typeface="Arial Bold"/>
                <a:ea typeface="Arial Bold"/>
                <a:cs typeface="Arial Bold"/>
                <a:sym typeface="Arial Bold"/>
              </a:rPr>
              <a:t>Android Mobile Application</a:t>
            </a:r>
          </a:p>
          <a:p>
            <a:pPr algn="l">
              <a:lnSpc>
                <a:spcPts val="3499"/>
              </a:lnSpc>
            </a:pPr>
            <a:r>
              <a:rPr lang="en-US" sz="2499" spc="-49">
                <a:solidFill>
                  <a:srgbClr val="000000"/>
                </a:solidFill>
                <a:latin typeface="Arial"/>
                <a:ea typeface="Arial"/>
                <a:cs typeface="Arial"/>
                <a:sym typeface="Arial"/>
              </a:rPr>
              <a:t> A fully functional NFCampus app featuring user registration, OCR card scanning, MFA login, NFC UID binding, and HCE-based access simulation.</a:t>
            </a:r>
          </a:p>
        </p:txBody>
      </p:sp>
      <p:sp>
        <p:nvSpPr>
          <p:cNvPr name="Freeform 33" id="33"/>
          <p:cNvSpPr/>
          <p:nvPr/>
        </p:nvSpPr>
        <p:spPr>
          <a:xfrm flipH="false" flipV="false" rot="0">
            <a:off x="10420979" y="3465780"/>
            <a:ext cx="5589956" cy="3053513"/>
          </a:xfrm>
          <a:custGeom>
            <a:avLst/>
            <a:gdLst/>
            <a:ahLst/>
            <a:cxnLst/>
            <a:rect r="r" b="b" t="t" l="l"/>
            <a:pathLst>
              <a:path h="3053513" w="5589956">
                <a:moveTo>
                  <a:pt x="0" y="0"/>
                </a:moveTo>
                <a:lnTo>
                  <a:pt x="5589956" y="0"/>
                </a:lnTo>
                <a:lnTo>
                  <a:pt x="5589956" y="3053513"/>
                </a:lnTo>
                <a:lnTo>
                  <a:pt x="0" y="30535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4" id="34"/>
          <p:cNvSpPr txBox="true"/>
          <p:nvPr/>
        </p:nvSpPr>
        <p:spPr>
          <a:xfrm rot="0">
            <a:off x="10621755" y="3643367"/>
            <a:ext cx="5188403" cy="2622550"/>
          </a:xfrm>
          <a:prstGeom prst="rect">
            <a:avLst/>
          </a:prstGeom>
        </p:spPr>
        <p:txBody>
          <a:bodyPr anchor="t" rtlCol="false" tIns="0" lIns="0" bIns="0" rIns="0">
            <a:spAutoFit/>
          </a:bodyPr>
          <a:lstStyle/>
          <a:p>
            <a:pPr algn="l">
              <a:lnSpc>
                <a:spcPts val="3499"/>
              </a:lnSpc>
            </a:pPr>
            <a:r>
              <a:rPr lang="en-US" b="true" sz="2499" spc="-49" u="sng">
                <a:solidFill>
                  <a:srgbClr val="000000"/>
                </a:solidFill>
                <a:latin typeface="Arial Bold"/>
                <a:ea typeface="Arial Bold"/>
                <a:cs typeface="Arial Bold"/>
                <a:sym typeface="Arial Bold"/>
              </a:rPr>
              <a:t>Backend System &amp; Cloud Database</a:t>
            </a:r>
          </a:p>
          <a:p>
            <a:pPr algn="l">
              <a:lnSpc>
                <a:spcPts val="3499"/>
              </a:lnSpc>
            </a:pPr>
            <a:r>
              <a:rPr lang="en-US" sz="2499" spc="-49">
                <a:solidFill>
                  <a:srgbClr val="000000"/>
                </a:solidFill>
                <a:latin typeface="Arial"/>
                <a:ea typeface="Arial"/>
                <a:cs typeface="Arial"/>
                <a:sym typeface="Arial"/>
              </a:rPr>
              <a:t> A secure Firebase backend with user account management, UID validation logic, data storage for card images and OCR results, and API endpoints for authentication.</a:t>
            </a:r>
          </a:p>
        </p:txBody>
      </p:sp>
      <p:sp>
        <p:nvSpPr>
          <p:cNvPr name="Freeform 35" id="35"/>
          <p:cNvSpPr/>
          <p:nvPr/>
        </p:nvSpPr>
        <p:spPr>
          <a:xfrm flipH="false" flipV="false" rot="0">
            <a:off x="2378400" y="6744410"/>
            <a:ext cx="5596132" cy="3056887"/>
          </a:xfrm>
          <a:custGeom>
            <a:avLst/>
            <a:gdLst/>
            <a:ahLst/>
            <a:cxnLst/>
            <a:rect r="r" b="b" t="t" l="l"/>
            <a:pathLst>
              <a:path h="3056887" w="5596132">
                <a:moveTo>
                  <a:pt x="0" y="0"/>
                </a:moveTo>
                <a:lnTo>
                  <a:pt x="5596132" y="0"/>
                </a:lnTo>
                <a:lnTo>
                  <a:pt x="5596132" y="3056887"/>
                </a:lnTo>
                <a:lnTo>
                  <a:pt x="0" y="30568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6" id="36"/>
          <p:cNvSpPr txBox="true"/>
          <p:nvPr/>
        </p:nvSpPr>
        <p:spPr>
          <a:xfrm rot="0">
            <a:off x="2451846" y="6971486"/>
            <a:ext cx="5449241" cy="2622550"/>
          </a:xfrm>
          <a:prstGeom prst="rect">
            <a:avLst/>
          </a:prstGeom>
        </p:spPr>
        <p:txBody>
          <a:bodyPr anchor="t" rtlCol="false" tIns="0" lIns="0" bIns="0" rIns="0">
            <a:spAutoFit/>
          </a:bodyPr>
          <a:lstStyle/>
          <a:p>
            <a:pPr algn="l">
              <a:lnSpc>
                <a:spcPts val="3499"/>
              </a:lnSpc>
            </a:pPr>
            <a:r>
              <a:rPr lang="en-US" b="true" sz="2499" spc="-49" u="sng">
                <a:solidFill>
                  <a:srgbClr val="000000"/>
                </a:solidFill>
                <a:latin typeface="Arial Bold"/>
                <a:ea typeface="Arial Bold"/>
                <a:cs typeface="Arial Bold"/>
                <a:sym typeface="Arial Bold"/>
              </a:rPr>
              <a:t>System Documentation &amp; Technical Files</a:t>
            </a:r>
          </a:p>
          <a:p>
            <a:pPr algn="l">
              <a:lnSpc>
                <a:spcPts val="3499"/>
              </a:lnSpc>
            </a:pPr>
            <a:r>
              <a:rPr lang="en-US" sz="2499" spc="-49">
                <a:solidFill>
                  <a:srgbClr val="000000"/>
                </a:solidFill>
                <a:latin typeface="Arial"/>
                <a:ea typeface="Arial"/>
                <a:cs typeface="Arial"/>
                <a:sym typeface="Arial"/>
              </a:rPr>
              <a:t> Complete project documentation including system architecture diagrams, UML diagrams, API references, testing plans, results, and security evaluations.</a:t>
            </a:r>
          </a:p>
        </p:txBody>
      </p:sp>
      <p:sp>
        <p:nvSpPr>
          <p:cNvPr name="Freeform 37" id="37"/>
          <p:cNvSpPr/>
          <p:nvPr/>
        </p:nvSpPr>
        <p:spPr>
          <a:xfrm flipH="false" flipV="false" rot="0">
            <a:off x="10420979" y="6728227"/>
            <a:ext cx="5589956" cy="3053513"/>
          </a:xfrm>
          <a:custGeom>
            <a:avLst/>
            <a:gdLst/>
            <a:ahLst/>
            <a:cxnLst/>
            <a:rect r="r" b="b" t="t" l="l"/>
            <a:pathLst>
              <a:path h="3053513" w="5589956">
                <a:moveTo>
                  <a:pt x="0" y="0"/>
                </a:moveTo>
                <a:lnTo>
                  <a:pt x="5589956" y="0"/>
                </a:lnTo>
                <a:lnTo>
                  <a:pt x="5589956" y="3053514"/>
                </a:lnTo>
                <a:lnTo>
                  <a:pt x="0" y="3053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8" id="38"/>
          <p:cNvSpPr txBox="true"/>
          <p:nvPr/>
        </p:nvSpPr>
        <p:spPr>
          <a:xfrm rot="0">
            <a:off x="10521367" y="6744080"/>
            <a:ext cx="5389180" cy="3060700"/>
          </a:xfrm>
          <a:prstGeom prst="rect">
            <a:avLst/>
          </a:prstGeom>
        </p:spPr>
        <p:txBody>
          <a:bodyPr anchor="t" rtlCol="false" tIns="0" lIns="0" bIns="0" rIns="0">
            <a:spAutoFit/>
          </a:bodyPr>
          <a:lstStyle/>
          <a:p>
            <a:pPr algn="l">
              <a:lnSpc>
                <a:spcPts val="3499"/>
              </a:lnSpc>
            </a:pPr>
            <a:r>
              <a:rPr lang="en-US" b="true" sz="2499" spc="-49" u="sng">
                <a:solidFill>
                  <a:srgbClr val="000000"/>
                </a:solidFill>
                <a:latin typeface="Arial Bold"/>
                <a:ea typeface="Arial Bold"/>
                <a:cs typeface="Arial Bold"/>
                <a:sym typeface="Arial Bold"/>
              </a:rPr>
              <a:t>Prototype Demonstration &amp; Testing Output</a:t>
            </a:r>
          </a:p>
          <a:p>
            <a:pPr algn="l">
              <a:lnSpc>
                <a:spcPts val="3499"/>
              </a:lnSpc>
            </a:pPr>
            <a:r>
              <a:rPr lang="en-US" sz="2499" spc="-49">
                <a:solidFill>
                  <a:srgbClr val="000000"/>
                </a:solidFill>
                <a:latin typeface="Arial"/>
                <a:ea typeface="Arial"/>
                <a:cs typeface="Arial"/>
                <a:sym typeface="Arial"/>
              </a:rPr>
              <a:t> A working proof-of-concept setup showcasing successful digital credential authentication, NFC-based access simulation, and recorded testing outcomes.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CB1D4"/>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1028700"/>
            <a:ext cx="16230082" cy="8229600"/>
            <a:chOff x="0" y="0"/>
            <a:chExt cx="47097642" cy="23881256"/>
          </a:xfrm>
        </p:grpSpPr>
        <p:sp>
          <p:nvSpPr>
            <p:cNvPr name="Freeform 24" id="24"/>
            <p:cNvSpPr/>
            <p:nvPr/>
          </p:nvSpPr>
          <p:spPr>
            <a:xfrm flipH="false" flipV="false" rot="0">
              <a:off x="72390" y="72390"/>
              <a:ext cx="46952861" cy="23736476"/>
            </a:xfrm>
            <a:custGeom>
              <a:avLst/>
              <a:gdLst/>
              <a:ahLst/>
              <a:cxnLst/>
              <a:rect r="r" b="b" t="t" l="l"/>
              <a:pathLst>
                <a:path h="23736476" w="46952861">
                  <a:moveTo>
                    <a:pt x="0" y="0"/>
                  </a:moveTo>
                  <a:lnTo>
                    <a:pt x="46952861" y="0"/>
                  </a:lnTo>
                  <a:lnTo>
                    <a:pt x="46952861" y="23736476"/>
                  </a:lnTo>
                  <a:lnTo>
                    <a:pt x="0" y="23736476"/>
                  </a:lnTo>
                  <a:lnTo>
                    <a:pt x="0" y="0"/>
                  </a:lnTo>
                  <a:close/>
                </a:path>
              </a:pathLst>
            </a:custGeom>
            <a:solidFill>
              <a:srgbClr val="FFFFFF"/>
            </a:solidFill>
          </p:spPr>
        </p:sp>
        <p:sp>
          <p:nvSpPr>
            <p:cNvPr name="Freeform 25" id="25"/>
            <p:cNvSpPr/>
            <p:nvPr/>
          </p:nvSpPr>
          <p:spPr>
            <a:xfrm flipH="false" flipV="false" rot="0">
              <a:off x="0" y="0"/>
              <a:ext cx="47097643" cy="23881257"/>
            </a:xfrm>
            <a:custGeom>
              <a:avLst/>
              <a:gdLst/>
              <a:ahLst/>
              <a:cxnLst/>
              <a:rect r="r" b="b" t="t" l="l"/>
              <a:pathLst>
                <a:path h="23881257" w="47097643">
                  <a:moveTo>
                    <a:pt x="46952861" y="23736477"/>
                  </a:moveTo>
                  <a:lnTo>
                    <a:pt x="47097643" y="23736477"/>
                  </a:lnTo>
                  <a:lnTo>
                    <a:pt x="47097643" y="23881257"/>
                  </a:lnTo>
                  <a:lnTo>
                    <a:pt x="46952861" y="23881257"/>
                  </a:lnTo>
                  <a:lnTo>
                    <a:pt x="46952861" y="23736477"/>
                  </a:lnTo>
                  <a:close/>
                  <a:moveTo>
                    <a:pt x="0" y="144780"/>
                  </a:moveTo>
                  <a:lnTo>
                    <a:pt x="144780" y="144780"/>
                  </a:lnTo>
                  <a:lnTo>
                    <a:pt x="144780" y="23736477"/>
                  </a:lnTo>
                  <a:lnTo>
                    <a:pt x="0" y="23736477"/>
                  </a:lnTo>
                  <a:lnTo>
                    <a:pt x="0" y="144780"/>
                  </a:lnTo>
                  <a:close/>
                  <a:moveTo>
                    <a:pt x="0" y="23736477"/>
                  </a:moveTo>
                  <a:lnTo>
                    <a:pt x="144780" y="23736477"/>
                  </a:lnTo>
                  <a:lnTo>
                    <a:pt x="144780" y="23881257"/>
                  </a:lnTo>
                  <a:lnTo>
                    <a:pt x="0" y="23881257"/>
                  </a:lnTo>
                  <a:lnTo>
                    <a:pt x="0" y="23736477"/>
                  </a:lnTo>
                  <a:close/>
                  <a:moveTo>
                    <a:pt x="46952861" y="144780"/>
                  </a:moveTo>
                  <a:lnTo>
                    <a:pt x="47097643" y="144780"/>
                  </a:lnTo>
                  <a:lnTo>
                    <a:pt x="47097643" y="23736477"/>
                  </a:lnTo>
                  <a:lnTo>
                    <a:pt x="46952861" y="23736477"/>
                  </a:lnTo>
                  <a:lnTo>
                    <a:pt x="46952861" y="144780"/>
                  </a:lnTo>
                  <a:close/>
                  <a:moveTo>
                    <a:pt x="144780" y="23736477"/>
                  </a:moveTo>
                  <a:lnTo>
                    <a:pt x="46952861" y="23736477"/>
                  </a:lnTo>
                  <a:lnTo>
                    <a:pt x="46952861" y="23881257"/>
                  </a:lnTo>
                  <a:lnTo>
                    <a:pt x="144780" y="23881257"/>
                  </a:lnTo>
                  <a:lnTo>
                    <a:pt x="144780" y="23736477"/>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6" id="26"/>
          <p:cNvGrpSpPr/>
          <p:nvPr/>
        </p:nvGrpSpPr>
        <p:grpSpPr>
          <a:xfrm rot="0">
            <a:off x="1414159" y="4149725"/>
            <a:ext cx="15459681" cy="1987549"/>
            <a:chOff x="0" y="0"/>
            <a:chExt cx="20612908" cy="2650066"/>
          </a:xfrm>
        </p:grpSpPr>
        <p:sp>
          <p:nvSpPr>
            <p:cNvPr name="TextBox 27" id="27"/>
            <p:cNvSpPr txBox="true"/>
            <p:nvPr/>
          </p:nvSpPr>
          <p:spPr>
            <a:xfrm rot="0">
              <a:off x="203200" y="-133350"/>
              <a:ext cx="20409708" cy="2783416"/>
            </a:xfrm>
            <a:prstGeom prst="rect">
              <a:avLst/>
            </a:prstGeom>
          </p:spPr>
          <p:txBody>
            <a:bodyPr anchor="t" rtlCol="false" tIns="0" lIns="0" bIns="0" rIns="0">
              <a:spAutoFit/>
            </a:bodyPr>
            <a:lstStyle/>
            <a:p>
              <a:pPr algn="ctr">
                <a:lnSpc>
                  <a:spcPts val="17500"/>
                </a:lnSpc>
              </a:pPr>
              <a:r>
                <a:rPr lang="en-US" sz="12500">
                  <a:solidFill>
                    <a:srgbClr val="000000"/>
                  </a:solidFill>
                  <a:latin typeface="Luckiest Guy"/>
                  <a:ea typeface="Luckiest Guy"/>
                  <a:cs typeface="Luckiest Guy"/>
                  <a:sym typeface="Luckiest Guy"/>
                </a:rPr>
                <a:t>PROJECT TIMELINE</a:t>
              </a:r>
            </a:p>
          </p:txBody>
        </p:sp>
        <p:sp>
          <p:nvSpPr>
            <p:cNvPr name="TextBox 28" id="28"/>
            <p:cNvSpPr txBox="true"/>
            <p:nvPr/>
          </p:nvSpPr>
          <p:spPr>
            <a:xfrm rot="0">
              <a:off x="0" y="-247650"/>
              <a:ext cx="20409708" cy="2783416"/>
            </a:xfrm>
            <a:prstGeom prst="rect">
              <a:avLst/>
            </a:prstGeom>
          </p:spPr>
          <p:txBody>
            <a:bodyPr anchor="t" rtlCol="false" tIns="0" lIns="0" bIns="0" rIns="0">
              <a:spAutoFit/>
            </a:bodyPr>
            <a:lstStyle/>
            <a:p>
              <a:pPr algn="ctr">
                <a:lnSpc>
                  <a:spcPts val="17500"/>
                </a:lnSpc>
              </a:pPr>
              <a:r>
                <a:rPr lang="en-US" sz="12500">
                  <a:solidFill>
                    <a:srgbClr val="E2A9F1"/>
                  </a:solidFill>
                  <a:latin typeface="Luckiest Guy"/>
                  <a:ea typeface="Luckiest Guy"/>
                  <a:cs typeface="Luckiest Guy"/>
                  <a:sym typeface="Luckiest Guy"/>
                </a:rPr>
                <a:t>P</a:t>
              </a:r>
              <a:r>
                <a:rPr lang="en-US" sz="12500">
                  <a:solidFill>
                    <a:srgbClr val="C7FAE9"/>
                  </a:solidFill>
                  <a:latin typeface="Luckiest Guy"/>
                  <a:ea typeface="Luckiest Guy"/>
                  <a:cs typeface="Luckiest Guy"/>
                  <a:sym typeface="Luckiest Guy"/>
                </a:rPr>
                <a:t>R</a:t>
              </a:r>
              <a:r>
                <a:rPr lang="en-US" sz="12500">
                  <a:solidFill>
                    <a:srgbClr val="99DAFF"/>
                  </a:solidFill>
                  <a:latin typeface="Luckiest Guy"/>
                  <a:ea typeface="Luckiest Guy"/>
                  <a:cs typeface="Luckiest Guy"/>
                  <a:sym typeface="Luckiest Guy"/>
                </a:rPr>
                <a:t>O</a:t>
              </a:r>
              <a:r>
                <a:rPr lang="en-US" sz="12500">
                  <a:solidFill>
                    <a:srgbClr val="FFBF29"/>
                  </a:solidFill>
                  <a:latin typeface="Luckiest Guy"/>
                  <a:ea typeface="Luckiest Guy"/>
                  <a:cs typeface="Luckiest Guy"/>
                  <a:sym typeface="Luckiest Guy"/>
                </a:rPr>
                <a:t>J</a:t>
              </a:r>
              <a:r>
                <a:rPr lang="en-US" sz="12500">
                  <a:solidFill>
                    <a:srgbClr val="B6E0FF"/>
                  </a:solidFill>
                  <a:latin typeface="Luckiest Guy"/>
                  <a:ea typeface="Luckiest Guy"/>
                  <a:cs typeface="Luckiest Guy"/>
                  <a:sym typeface="Luckiest Guy"/>
                </a:rPr>
                <a:t>E</a:t>
              </a:r>
              <a:r>
                <a:rPr lang="en-US" sz="12500">
                  <a:solidFill>
                    <a:srgbClr val="F9CB38"/>
                  </a:solidFill>
                  <a:latin typeface="Luckiest Guy"/>
                  <a:ea typeface="Luckiest Guy"/>
                  <a:cs typeface="Luckiest Guy"/>
                  <a:sym typeface="Luckiest Guy"/>
                </a:rPr>
                <a:t>C</a:t>
              </a:r>
              <a:r>
                <a:rPr lang="en-US" sz="12500">
                  <a:solidFill>
                    <a:srgbClr val="C7FAE9"/>
                  </a:solidFill>
                  <a:latin typeface="Luckiest Guy"/>
                  <a:ea typeface="Luckiest Guy"/>
                  <a:cs typeface="Luckiest Guy"/>
                  <a:sym typeface="Luckiest Guy"/>
                </a:rPr>
                <a:t>T</a:t>
              </a:r>
              <a:r>
                <a:rPr lang="en-US" sz="12500">
                  <a:solidFill>
                    <a:srgbClr val="FFFFFF"/>
                  </a:solidFill>
                  <a:latin typeface="Luckiest Guy"/>
                  <a:ea typeface="Luckiest Guy"/>
                  <a:cs typeface="Luckiest Guy"/>
                  <a:sym typeface="Luckiest Guy"/>
                </a:rPr>
                <a:t> </a:t>
              </a:r>
              <a:r>
                <a:rPr lang="en-US" sz="12500">
                  <a:solidFill>
                    <a:srgbClr val="B6E0FF"/>
                  </a:solidFill>
                  <a:latin typeface="Luckiest Guy"/>
                  <a:ea typeface="Luckiest Guy"/>
                  <a:cs typeface="Luckiest Guy"/>
                  <a:sym typeface="Luckiest Guy"/>
                </a:rPr>
                <a:t>T</a:t>
              </a:r>
              <a:r>
                <a:rPr lang="en-US" sz="12500">
                  <a:solidFill>
                    <a:srgbClr val="D8C4FF"/>
                  </a:solidFill>
                  <a:latin typeface="Luckiest Guy"/>
                  <a:ea typeface="Luckiest Guy"/>
                  <a:cs typeface="Luckiest Guy"/>
                  <a:sym typeface="Luckiest Guy"/>
                </a:rPr>
                <a:t>I</a:t>
              </a:r>
              <a:r>
                <a:rPr lang="en-US" sz="12500">
                  <a:solidFill>
                    <a:srgbClr val="EEC6CE"/>
                  </a:solidFill>
                  <a:latin typeface="Luckiest Guy"/>
                  <a:ea typeface="Luckiest Guy"/>
                  <a:cs typeface="Luckiest Guy"/>
                  <a:sym typeface="Luckiest Guy"/>
                </a:rPr>
                <a:t>M</a:t>
              </a:r>
              <a:r>
                <a:rPr lang="en-US" sz="12500">
                  <a:solidFill>
                    <a:srgbClr val="D8C4FF"/>
                  </a:solidFill>
                  <a:latin typeface="Luckiest Guy"/>
                  <a:ea typeface="Luckiest Guy"/>
                  <a:cs typeface="Luckiest Guy"/>
                  <a:sym typeface="Luckiest Guy"/>
                </a:rPr>
                <a:t>E</a:t>
              </a:r>
              <a:r>
                <a:rPr lang="en-US" sz="12500">
                  <a:solidFill>
                    <a:srgbClr val="ABE5D8"/>
                  </a:solidFill>
                  <a:latin typeface="Luckiest Guy"/>
                  <a:ea typeface="Luckiest Guy"/>
                  <a:cs typeface="Luckiest Guy"/>
                  <a:sym typeface="Luckiest Guy"/>
                </a:rPr>
                <a:t>L</a:t>
              </a:r>
              <a:r>
                <a:rPr lang="en-US" sz="12500">
                  <a:solidFill>
                    <a:srgbClr val="F9CB38"/>
                  </a:solidFill>
                  <a:latin typeface="Luckiest Guy"/>
                  <a:ea typeface="Luckiest Guy"/>
                  <a:cs typeface="Luckiest Guy"/>
                  <a:sym typeface="Luckiest Guy"/>
                </a:rPr>
                <a:t>I</a:t>
              </a:r>
              <a:r>
                <a:rPr lang="en-US" sz="12500">
                  <a:solidFill>
                    <a:srgbClr val="FCB1D4"/>
                  </a:solidFill>
                  <a:latin typeface="Luckiest Guy"/>
                  <a:ea typeface="Luckiest Guy"/>
                  <a:cs typeface="Luckiest Guy"/>
                  <a:sym typeface="Luckiest Guy"/>
                </a:rPr>
                <a:t>N</a:t>
              </a:r>
              <a:r>
                <a:rPr lang="en-US" sz="12500">
                  <a:solidFill>
                    <a:srgbClr val="B6E0FF"/>
                  </a:solidFill>
                  <a:latin typeface="Luckiest Guy"/>
                  <a:ea typeface="Luckiest Guy"/>
                  <a:cs typeface="Luckiest Guy"/>
                  <a:sym typeface="Luckiest Guy"/>
                </a:rPr>
                <a:t>E</a:t>
              </a:r>
            </a:p>
          </p:txBody>
        </p:sp>
      </p:grpSp>
      <p:sp>
        <p:nvSpPr>
          <p:cNvPr name="Freeform 29" id="29"/>
          <p:cNvSpPr/>
          <p:nvPr/>
        </p:nvSpPr>
        <p:spPr>
          <a:xfrm flipH="false" flipV="false" rot="0">
            <a:off x="7975244" y="6329787"/>
            <a:ext cx="2337511" cy="2723795"/>
          </a:xfrm>
          <a:custGeom>
            <a:avLst/>
            <a:gdLst/>
            <a:ahLst/>
            <a:cxnLst/>
            <a:rect r="r" b="b" t="t" l="l"/>
            <a:pathLst>
              <a:path h="2723795" w="2337511">
                <a:moveTo>
                  <a:pt x="0" y="0"/>
                </a:moveTo>
                <a:lnTo>
                  <a:pt x="2337512" y="0"/>
                </a:lnTo>
                <a:lnTo>
                  <a:pt x="2337512" y="2723794"/>
                </a:lnTo>
                <a:lnTo>
                  <a:pt x="0" y="27237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10800000">
            <a:off x="16001767" y="1471182"/>
            <a:ext cx="930987" cy="735480"/>
          </a:xfrm>
          <a:custGeom>
            <a:avLst/>
            <a:gdLst/>
            <a:ahLst/>
            <a:cxnLst/>
            <a:rect r="r" b="b" t="t" l="l"/>
            <a:pathLst>
              <a:path h="735480" w="930987">
                <a:moveTo>
                  <a:pt x="0" y="0"/>
                </a:moveTo>
                <a:lnTo>
                  <a:pt x="930987" y="0"/>
                </a:lnTo>
                <a:lnTo>
                  <a:pt x="930987" y="735480"/>
                </a:lnTo>
                <a:lnTo>
                  <a:pt x="0" y="7354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9359258">
            <a:off x="16167426" y="8090949"/>
            <a:ext cx="599670" cy="723584"/>
          </a:xfrm>
          <a:custGeom>
            <a:avLst/>
            <a:gdLst/>
            <a:ahLst/>
            <a:cxnLst/>
            <a:rect r="r" b="b" t="t" l="l"/>
            <a:pathLst>
              <a:path h="723584" w="599670">
                <a:moveTo>
                  <a:pt x="0" y="0"/>
                </a:moveTo>
                <a:lnTo>
                  <a:pt x="599670" y="0"/>
                </a:lnTo>
                <a:lnTo>
                  <a:pt x="599670" y="723584"/>
                </a:lnTo>
                <a:lnTo>
                  <a:pt x="0" y="7235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144438">
            <a:off x="1514813" y="7181614"/>
            <a:ext cx="2672539" cy="2542252"/>
          </a:xfrm>
          <a:custGeom>
            <a:avLst/>
            <a:gdLst/>
            <a:ahLst/>
            <a:cxnLst/>
            <a:rect r="r" b="b" t="t" l="l"/>
            <a:pathLst>
              <a:path h="2542252" w="2672539">
                <a:moveTo>
                  <a:pt x="0" y="0"/>
                </a:moveTo>
                <a:lnTo>
                  <a:pt x="2672539" y="0"/>
                </a:lnTo>
                <a:lnTo>
                  <a:pt x="2672539" y="2542253"/>
                </a:lnTo>
                <a:lnTo>
                  <a:pt x="0" y="25422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5615969">
            <a:off x="1546848" y="1523202"/>
            <a:ext cx="830713" cy="773602"/>
          </a:xfrm>
          <a:custGeom>
            <a:avLst/>
            <a:gdLst/>
            <a:ahLst/>
            <a:cxnLst/>
            <a:rect r="r" b="b" t="t" l="l"/>
            <a:pathLst>
              <a:path h="773602" w="830713">
                <a:moveTo>
                  <a:pt x="0" y="0"/>
                </a:moveTo>
                <a:lnTo>
                  <a:pt x="830714" y="0"/>
                </a:lnTo>
                <a:lnTo>
                  <a:pt x="830714" y="773602"/>
                </a:lnTo>
                <a:lnTo>
                  <a:pt x="0" y="7736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CB1D4"/>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119767" y="483032"/>
            <a:ext cx="16048465" cy="9320935"/>
            <a:chOff x="0" y="0"/>
            <a:chExt cx="46570613" cy="27048173"/>
          </a:xfrm>
        </p:grpSpPr>
        <p:sp>
          <p:nvSpPr>
            <p:cNvPr name="Freeform 24" id="24"/>
            <p:cNvSpPr/>
            <p:nvPr/>
          </p:nvSpPr>
          <p:spPr>
            <a:xfrm flipH="false" flipV="false" rot="0">
              <a:off x="72390" y="72390"/>
              <a:ext cx="46425832" cy="26903393"/>
            </a:xfrm>
            <a:custGeom>
              <a:avLst/>
              <a:gdLst/>
              <a:ahLst/>
              <a:cxnLst/>
              <a:rect r="r" b="b" t="t" l="l"/>
              <a:pathLst>
                <a:path h="26903393" w="46425832">
                  <a:moveTo>
                    <a:pt x="0" y="0"/>
                  </a:moveTo>
                  <a:lnTo>
                    <a:pt x="46425832" y="0"/>
                  </a:lnTo>
                  <a:lnTo>
                    <a:pt x="46425832" y="26903393"/>
                  </a:lnTo>
                  <a:lnTo>
                    <a:pt x="0" y="26903393"/>
                  </a:lnTo>
                  <a:lnTo>
                    <a:pt x="0" y="0"/>
                  </a:lnTo>
                  <a:close/>
                </a:path>
              </a:pathLst>
            </a:custGeom>
            <a:solidFill>
              <a:srgbClr val="FFFFFF"/>
            </a:solidFill>
          </p:spPr>
        </p:sp>
        <p:sp>
          <p:nvSpPr>
            <p:cNvPr name="Freeform 25" id="25"/>
            <p:cNvSpPr/>
            <p:nvPr/>
          </p:nvSpPr>
          <p:spPr>
            <a:xfrm flipH="false" flipV="false" rot="0">
              <a:off x="0" y="0"/>
              <a:ext cx="46570612" cy="27048172"/>
            </a:xfrm>
            <a:custGeom>
              <a:avLst/>
              <a:gdLst/>
              <a:ahLst/>
              <a:cxnLst/>
              <a:rect r="r" b="b" t="t" l="l"/>
              <a:pathLst>
                <a:path h="27048172" w="46570612">
                  <a:moveTo>
                    <a:pt x="46425833" y="26903394"/>
                  </a:moveTo>
                  <a:lnTo>
                    <a:pt x="46570612" y="26903394"/>
                  </a:lnTo>
                  <a:lnTo>
                    <a:pt x="46570612" y="27048172"/>
                  </a:lnTo>
                  <a:lnTo>
                    <a:pt x="46425833" y="27048172"/>
                  </a:lnTo>
                  <a:lnTo>
                    <a:pt x="46425833" y="26903394"/>
                  </a:lnTo>
                  <a:close/>
                  <a:moveTo>
                    <a:pt x="0" y="144780"/>
                  </a:moveTo>
                  <a:lnTo>
                    <a:pt x="144780" y="144780"/>
                  </a:lnTo>
                  <a:lnTo>
                    <a:pt x="144780" y="26903394"/>
                  </a:lnTo>
                  <a:lnTo>
                    <a:pt x="0" y="26903394"/>
                  </a:lnTo>
                  <a:lnTo>
                    <a:pt x="0" y="144780"/>
                  </a:lnTo>
                  <a:close/>
                  <a:moveTo>
                    <a:pt x="0" y="26903394"/>
                  </a:moveTo>
                  <a:lnTo>
                    <a:pt x="144780" y="26903394"/>
                  </a:lnTo>
                  <a:lnTo>
                    <a:pt x="144780" y="27048172"/>
                  </a:lnTo>
                  <a:lnTo>
                    <a:pt x="0" y="27048172"/>
                  </a:lnTo>
                  <a:lnTo>
                    <a:pt x="0" y="26903394"/>
                  </a:lnTo>
                  <a:close/>
                  <a:moveTo>
                    <a:pt x="46425833" y="144780"/>
                  </a:moveTo>
                  <a:lnTo>
                    <a:pt x="46570612" y="144780"/>
                  </a:lnTo>
                  <a:lnTo>
                    <a:pt x="46570612" y="26903394"/>
                  </a:lnTo>
                  <a:lnTo>
                    <a:pt x="46425833" y="26903394"/>
                  </a:lnTo>
                  <a:lnTo>
                    <a:pt x="46425833" y="144780"/>
                  </a:lnTo>
                  <a:close/>
                  <a:moveTo>
                    <a:pt x="144780" y="26903394"/>
                  </a:moveTo>
                  <a:lnTo>
                    <a:pt x="46425833" y="26903394"/>
                  </a:lnTo>
                  <a:lnTo>
                    <a:pt x="46425833" y="27048172"/>
                  </a:lnTo>
                  <a:lnTo>
                    <a:pt x="144780" y="27048172"/>
                  </a:lnTo>
                  <a:lnTo>
                    <a:pt x="144780" y="26903394"/>
                  </a:lnTo>
                  <a:close/>
                  <a:moveTo>
                    <a:pt x="46425833" y="0"/>
                  </a:moveTo>
                  <a:lnTo>
                    <a:pt x="46570612" y="0"/>
                  </a:lnTo>
                  <a:lnTo>
                    <a:pt x="46570612" y="144780"/>
                  </a:lnTo>
                  <a:lnTo>
                    <a:pt x="46425833" y="144780"/>
                  </a:lnTo>
                  <a:lnTo>
                    <a:pt x="46425833" y="0"/>
                  </a:lnTo>
                  <a:close/>
                  <a:moveTo>
                    <a:pt x="0" y="0"/>
                  </a:moveTo>
                  <a:lnTo>
                    <a:pt x="144780" y="0"/>
                  </a:lnTo>
                  <a:lnTo>
                    <a:pt x="144780" y="144780"/>
                  </a:lnTo>
                  <a:lnTo>
                    <a:pt x="0" y="144780"/>
                  </a:lnTo>
                  <a:lnTo>
                    <a:pt x="0" y="0"/>
                  </a:lnTo>
                  <a:close/>
                  <a:moveTo>
                    <a:pt x="144780" y="0"/>
                  </a:moveTo>
                  <a:lnTo>
                    <a:pt x="46425833" y="0"/>
                  </a:lnTo>
                  <a:lnTo>
                    <a:pt x="46425833" y="144780"/>
                  </a:lnTo>
                  <a:lnTo>
                    <a:pt x="144780" y="144780"/>
                  </a:lnTo>
                  <a:lnTo>
                    <a:pt x="144780" y="0"/>
                  </a:lnTo>
                  <a:close/>
                </a:path>
              </a:pathLst>
            </a:custGeom>
            <a:solidFill>
              <a:srgbClr val="000000"/>
            </a:solidFill>
          </p:spPr>
        </p:sp>
      </p:grpSp>
      <p:sp>
        <p:nvSpPr>
          <p:cNvPr name="Freeform 26" id="26"/>
          <p:cNvSpPr/>
          <p:nvPr/>
        </p:nvSpPr>
        <p:spPr>
          <a:xfrm flipH="false" flipV="false" rot="0">
            <a:off x="1161432" y="534482"/>
            <a:ext cx="15968416" cy="9231170"/>
          </a:xfrm>
          <a:custGeom>
            <a:avLst/>
            <a:gdLst/>
            <a:ahLst/>
            <a:cxnLst/>
            <a:rect r="r" b="b" t="t" l="l"/>
            <a:pathLst>
              <a:path h="9231170" w="15968416">
                <a:moveTo>
                  <a:pt x="0" y="0"/>
                </a:moveTo>
                <a:lnTo>
                  <a:pt x="15968416" y="0"/>
                </a:lnTo>
                <a:lnTo>
                  <a:pt x="15968416" y="9231170"/>
                </a:lnTo>
                <a:lnTo>
                  <a:pt x="0" y="9231170"/>
                </a:lnTo>
                <a:lnTo>
                  <a:pt x="0" y="0"/>
                </a:lnTo>
                <a:close/>
              </a:path>
            </a:pathLst>
          </a:custGeom>
          <a:blipFill>
            <a:blip r:embed="rId4"/>
            <a:stretch>
              <a:fillRect l="0" t="0" r="0" b="-33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CB1D4"/>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685611" y="835007"/>
            <a:ext cx="16916778" cy="8616986"/>
            <a:chOff x="0" y="0"/>
            <a:chExt cx="49090347" cy="25005400"/>
          </a:xfrm>
        </p:grpSpPr>
        <p:sp>
          <p:nvSpPr>
            <p:cNvPr name="Freeform 24" id="24"/>
            <p:cNvSpPr/>
            <p:nvPr/>
          </p:nvSpPr>
          <p:spPr>
            <a:xfrm flipH="false" flipV="false" rot="0">
              <a:off x="72390" y="72390"/>
              <a:ext cx="48945567" cy="24860620"/>
            </a:xfrm>
            <a:custGeom>
              <a:avLst/>
              <a:gdLst/>
              <a:ahLst/>
              <a:cxnLst/>
              <a:rect r="r" b="b" t="t" l="l"/>
              <a:pathLst>
                <a:path h="24860620" w="48945567">
                  <a:moveTo>
                    <a:pt x="0" y="0"/>
                  </a:moveTo>
                  <a:lnTo>
                    <a:pt x="48945567" y="0"/>
                  </a:lnTo>
                  <a:lnTo>
                    <a:pt x="48945567" y="24860620"/>
                  </a:lnTo>
                  <a:lnTo>
                    <a:pt x="0" y="24860620"/>
                  </a:lnTo>
                  <a:lnTo>
                    <a:pt x="0" y="0"/>
                  </a:lnTo>
                  <a:close/>
                </a:path>
              </a:pathLst>
            </a:custGeom>
            <a:solidFill>
              <a:srgbClr val="FFFFFF"/>
            </a:solidFill>
          </p:spPr>
        </p:sp>
        <p:sp>
          <p:nvSpPr>
            <p:cNvPr name="Freeform 25" id="25"/>
            <p:cNvSpPr/>
            <p:nvPr/>
          </p:nvSpPr>
          <p:spPr>
            <a:xfrm flipH="false" flipV="false" rot="0">
              <a:off x="0" y="0"/>
              <a:ext cx="49090346" cy="25005401"/>
            </a:xfrm>
            <a:custGeom>
              <a:avLst/>
              <a:gdLst/>
              <a:ahLst/>
              <a:cxnLst/>
              <a:rect r="r" b="b" t="t" l="l"/>
              <a:pathLst>
                <a:path h="25005401" w="49090346">
                  <a:moveTo>
                    <a:pt x="48945567" y="24860621"/>
                  </a:moveTo>
                  <a:lnTo>
                    <a:pt x="49090346" y="24860621"/>
                  </a:lnTo>
                  <a:lnTo>
                    <a:pt x="49090346" y="25005401"/>
                  </a:lnTo>
                  <a:lnTo>
                    <a:pt x="48945567" y="25005401"/>
                  </a:lnTo>
                  <a:lnTo>
                    <a:pt x="48945567" y="24860621"/>
                  </a:lnTo>
                  <a:close/>
                  <a:moveTo>
                    <a:pt x="0" y="144780"/>
                  </a:moveTo>
                  <a:lnTo>
                    <a:pt x="144780" y="144780"/>
                  </a:lnTo>
                  <a:lnTo>
                    <a:pt x="144780" y="24860621"/>
                  </a:lnTo>
                  <a:lnTo>
                    <a:pt x="0" y="24860621"/>
                  </a:lnTo>
                  <a:lnTo>
                    <a:pt x="0" y="144780"/>
                  </a:lnTo>
                  <a:close/>
                  <a:moveTo>
                    <a:pt x="0" y="24860621"/>
                  </a:moveTo>
                  <a:lnTo>
                    <a:pt x="144780" y="24860621"/>
                  </a:lnTo>
                  <a:lnTo>
                    <a:pt x="144780" y="25005401"/>
                  </a:lnTo>
                  <a:lnTo>
                    <a:pt x="0" y="25005401"/>
                  </a:lnTo>
                  <a:lnTo>
                    <a:pt x="0" y="24860621"/>
                  </a:lnTo>
                  <a:close/>
                  <a:moveTo>
                    <a:pt x="48945567" y="144780"/>
                  </a:moveTo>
                  <a:lnTo>
                    <a:pt x="49090346" y="144780"/>
                  </a:lnTo>
                  <a:lnTo>
                    <a:pt x="49090346" y="24860621"/>
                  </a:lnTo>
                  <a:lnTo>
                    <a:pt x="48945567" y="24860621"/>
                  </a:lnTo>
                  <a:lnTo>
                    <a:pt x="48945567" y="144780"/>
                  </a:lnTo>
                  <a:close/>
                  <a:moveTo>
                    <a:pt x="144780" y="24860621"/>
                  </a:moveTo>
                  <a:lnTo>
                    <a:pt x="48945567" y="24860621"/>
                  </a:lnTo>
                  <a:lnTo>
                    <a:pt x="48945567" y="25005401"/>
                  </a:lnTo>
                  <a:lnTo>
                    <a:pt x="144780" y="25005401"/>
                  </a:lnTo>
                  <a:lnTo>
                    <a:pt x="144780" y="24860621"/>
                  </a:lnTo>
                  <a:close/>
                  <a:moveTo>
                    <a:pt x="48945567" y="0"/>
                  </a:moveTo>
                  <a:lnTo>
                    <a:pt x="49090346" y="0"/>
                  </a:lnTo>
                  <a:lnTo>
                    <a:pt x="49090346" y="144780"/>
                  </a:lnTo>
                  <a:lnTo>
                    <a:pt x="48945567" y="144780"/>
                  </a:lnTo>
                  <a:lnTo>
                    <a:pt x="48945567" y="0"/>
                  </a:lnTo>
                  <a:close/>
                  <a:moveTo>
                    <a:pt x="0" y="0"/>
                  </a:moveTo>
                  <a:lnTo>
                    <a:pt x="144780" y="0"/>
                  </a:lnTo>
                  <a:lnTo>
                    <a:pt x="144780" y="144780"/>
                  </a:lnTo>
                  <a:lnTo>
                    <a:pt x="0" y="144780"/>
                  </a:lnTo>
                  <a:lnTo>
                    <a:pt x="0" y="0"/>
                  </a:lnTo>
                  <a:close/>
                  <a:moveTo>
                    <a:pt x="144780" y="0"/>
                  </a:moveTo>
                  <a:lnTo>
                    <a:pt x="48945567" y="0"/>
                  </a:lnTo>
                  <a:lnTo>
                    <a:pt x="48945567" y="144780"/>
                  </a:lnTo>
                  <a:lnTo>
                    <a:pt x="144780" y="144780"/>
                  </a:lnTo>
                  <a:lnTo>
                    <a:pt x="144780" y="0"/>
                  </a:lnTo>
                  <a:close/>
                </a:path>
              </a:pathLst>
            </a:custGeom>
            <a:solidFill>
              <a:srgbClr val="000000"/>
            </a:solidFill>
          </p:spPr>
        </p:sp>
      </p:grpSp>
      <p:sp>
        <p:nvSpPr>
          <p:cNvPr name="Freeform 26" id="26"/>
          <p:cNvSpPr/>
          <p:nvPr/>
        </p:nvSpPr>
        <p:spPr>
          <a:xfrm flipH="false" flipV="false" rot="0">
            <a:off x="1146961" y="2384522"/>
            <a:ext cx="15994078" cy="5517957"/>
          </a:xfrm>
          <a:custGeom>
            <a:avLst/>
            <a:gdLst/>
            <a:ahLst/>
            <a:cxnLst/>
            <a:rect r="r" b="b" t="t" l="l"/>
            <a:pathLst>
              <a:path h="5517957" w="15994078">
                <a:moveTo>
                  <a:pt x="0" y="0"/>
                </a:moveTo>
                <a:lnTo>
                  <a:pt x="15994078" y="0"/>
                </a:lnTo>
                <a:lnTo>
                  <a:pt x="15994078" y="5517956"/>
                </a:lnTo>
                <a:lnTo>
                  <a:pt x="0" y="5517956"/>
                </a:lnTo>
                <a:lnTo>
                  <a:pt x="0" y="0"/>
                </a:lnTo>
                <a:close/>
              </a:path>
            </a:pathLst>
          </a:custGeom>
          <a:blipFill>
            <a:blip r:embed="rId4"/>
            <a:stretch>
              <a:fillRect l="0" t="0" r="0" b="0"/>
            </a:stretch>
          </a:blipFill>
          <a:ln w="38100" cap="sq">
            <a:solidFill>
              <a:srgbClr val="000000"/>
            </a:solid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DE85"/>
        </a:solidFill>
      </p:bgPr>
    </p:bg>
    <p:spTree>
      <p:nvGrpSpPr>
        <p:cNvPr id="1" name=""/>
        <p:cNvGrpSpPr/>
        <p:nvPr/>
      </p:nvGrpSpPr>
      <p:grpSpPr>
        <a:xfrm>
          <a:off x="0" y="0"/>
          <a:ext cx="0" cy="0"/>
          <a:chOff x="0" y="0"/>
          <a:chExt cx="0" cy="0"/>
        </a:xfrm>
      </p:grpSpPr>
      <p:grpSp>
        <p:nvGrpSpPr>
          <p:cNvPr name="Group 2" id="2"/>
          <p:cNvGrpSpPr/>
          <p:nvPr/>
        </p:nvGrpSpPr>
        <p:grpSpPr>
          <a:xfrm rot="0">
            <a:off x="285060" y="294612"/>
            <a:ext cx="17717880" cy="9697775"/>
            <a:chOff x="0" y="0"/>
            <a:chExt cx="51415043" cy="28141715"/>
          </a:xfrm>
        </p:grpSpPr>
        <p:sp>
          <p:nvSpPr>
            <p:cNvPr name="Freeform 3" id="3"/>
            <p:cNvSpPr/>
            <p:nvPr/>
          </p:nvSpPr>
          <p:spPr>
            <a:xfrm flipH="false" flipV="false" rot="0">
              <a:off x="72390" y="72390"/>
              <a:ext cx="51270262" cy="27996935"/>
            </a:xfrm>
            <a:custGeom>
              <a:avLst/>
              <a:gdLst/>
              <a:ahLst/>
              <a:cxnLst/>
              <a:rect r="r" b="b" t="t" l="l"/>
              <a:pathLst>
                <a:path h="27996935" w="51270262">
                  <a:moveTo>
                    <a:pt x="0" y="0"/>
                  </a:moveTo>
                  <a:lnTo>
                    <a:pt x="51270262" y="0"/>
                  </a:lnTo>
                  <a:lnTo>
                    <a:pt x="51270262" y="27996935"/>
                  </a:lnTo>
                  <a:lnTo>
                    <a:pt x="0" y="27996935"/>
                  </a:lnTo>
                  <a:lnTo>
                    <a:pt x="0" y="0"/>
                  </a:lnTo>
                  <a:close/>
                </a:path>
              </a:pathLst>
            </a:custGeom>
            <a:solidFill>
              <a:srgbClr val="FFFFFF"/>
            </a:solidFill>
          </p:spPr>
        </p:sp>
        <p:sp>
          <p:nvSpPr>
            <p:cNvPr name="Freeform 4" id="4"/>
            <p:cNvSpPr/>
            <p:nvPr/>
          </p:nvSpPr>
          <p:spPr>
            <a:xfrm flipH="false" flipV="false" rot="0">
              <a:off x="0" y="0"/>
              <a:ext cx="51415045" cy="28141715"/>
            </a:xfrm>
            <a:custGeom>
              <a:avLst/>
              <a:gdLst/>
              <a:ahLst/>
              <a:cxnLst/>
              <a:rect r="r" b="b" t="t" l="l"/>
              <a:pathLst>
                <a:path h="28141715" w="51415045">
                  <a:moveTo>
                    <a:pt x="51270263" y="27996936"/>
                  </a:moveTo>
                  <a:lnTo>
                    <a:pt x="51415045" y="27996936"/>
                  </a:lnTo>
                  <a:lnTo>
                    <a:pt x="51415045" y="28141715"/>
                  </a:lnTo>
                  <a:lnTo>
                    <a:pt x="51270263" y="28141715"/>
                  </a:lnTo>
                  <a:lnTo>
                    <a:pt x="51270263" y="27996936"/>
                  </a:lnTo>
                  <a:close/>
                  <a:moveTo>
                    <a:pt x="0" y="144780"/>
                  </a:moveTo>
                  <a:lnTo>
                    <a:pt x="144780" y="144780"/>
                  </a:lnTo>
                  <a:lnTo>
                    <a:pt x="144780" y="27996936"/>
                  </a:lnTo>
                  <a:lnTo>
                    <a:pt x="0" y="27996936"/>
                  </a:lnTo>
                  <a:lnTo>
                    <a:pt x="0" y="144780"/>
                  </a:lnTo>
                  <a:close/>
                  <a:moveTo>
                    <a:pt x="0" y="27996936"/>
                  </a:moveTo>
                  <a:lnTo>
                    <a:pt x="144780" y="27996936"/>
                  </a:lnTo>
                  <a:lnTo>
                    <a:pt x="144780" y="28141715"/>
                  </a:lnTo>
                  <a:lnTo>
                    <a:pt x="0" y="28141715"/>
                  </a:lnTo>
                  <a:lnTo>
                    <a:pt x="0" y="27996936"/>
                  </a:lnTo>
                  <a:close/>
                  <a:moveTo>
                    <a:pt x="51270263" y="144780"/>
                  </a:moveTo>
                  <a:lnTo>
                    <a:pt x="51415045" y="144780"/>
                  </a:lnTo>
                  <a:lnTo>
                    <a:pt x="51415045" y="27996936"/>
                  </a:lnTo>
                  <a:lnTo>
                    <a:pt x="51270263" y="27996936"/>
                  </a:lnTo>
                  <a:lnTo>
                    <a:pt x="51270263" y="144780"/>
                  </a:lnTo>
                  <a:close/>
                  <a:moveTo>
                    <a:pt x="144780" y="27996936"/>
                  </a:moveTo>
                  <a:lnTo>
                    <a:pt x="51270263" y="27996936"/>
                  </a:lnTo>
                  <a:lnTo>
                    <a:pt x="51270263" y="28141715"/>
                  </a:lnTo>
                  <a:lnTo>
                    <a:pt x="144780" y="28141715"/>
                  </a:lnTo>
                  <a:lnTo>
                    <a:pt x="144780" y="27996936"/>
                  </a:lnTo>
                  <a:close/>
                  <a:moveTo>
                    <a:pt x="51270263" y="0"/>
                  </a:moveTo>
                  <a:lnTo>
                    <a:pt x="51415045" y="0"/>
                  </a:lnTo>
                  <a:lnTo>
                    <a:pt x="51415045" y="144780"/>
                  </a:lnTo>
                  <a:lnTo>
                    <a:pt x="51270263" y="144780"/>
                  </a:lnTo>
                  <a:lnTo>
                    <a:pt x="51270263" y="0"/>
                  </a:lnTo>
                  <a:close/>
                  <a:moveTo>
                    <a:pt x="0" y="0"/>
                  </a:moveTo>
                  <a:lnTo>
                    <a:pt x="144780" y="0"/>
                  </a:lnTo>
                  <a:lnTo>
                    <a:pt x="144780" y="144780"/>
                  </a:lnTo>
                  <a:lnTo>
                    <a:pt x="0" y="144780"/>
                  </a:lnTo>
                  <a:lnTo>
                    <a:pt x="0" y="0"/>
                  </a:lnTo>
                  <a:close/>
                  <a:moveTo>
                    <a:pt x="144780" y="0"/>
                  </a:moveTo>
                  <a:lnTo>
                    <a:pt x="51270263" y="0"/>
                  </a:lnTo>
                  <a:lnTo>
                    <a:pt x="51270263" y="144780"/>
                  </a:lnTo>
                  <a:lnTo>
                    <a:pt x="144780" y="144780"/>
                  </a:lnTo>
                  <a:lnTo>
                    <a:pt x="144780" y="0"/>
                  </a:lnTo>
                  <a:close/>
                </a:path>
              </a:pathLst>
            </a:custGeom>
            <a:solidFill>
              <a:srgbClr val="000000"/>
            </a:solidFill>
          </p:spPr>
        </p:sp>
      </p:grpSp>
      <p:sp>
        <p:nvSpPr>
          <p:cNvPr name="Freeform 5" id="5"/>
          <p:cNvSpPr/>
          <p:nvPr/>
        </p:nvSpPr>
        <p:spPr>
          <a:xfrm flipH="false" flipV="false" rot="-10800000">
            <a:off x="6863690"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3601569"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6855387" y="307889"/>
            <a:ext cx="3251409" cy="3157891"/>
          </a:xfrm>
          <a:custGeom>
            <a:avLst/>
            <a:gdLst/>
            <a:ahLst/>
            <a:cxnLst/>
            <a:rect r="r" b="b" t="t" l="l"/>
            <a:pathLst>
              <a:path h="3157891" w="3251409">
                <a:moveTo>
                  <a:pt x="0" y="0"/>
                </a:moveTo>
                <a:lnTo>
                  <a:pt x="3251409" y="0"/>
                </a:lnTo>
                <a:lnTo>
                  <a:pt x="3251409" y="3157891"/>
                </a:lnTo>
                <a:lnTo>
                  <a:pt x="0" y="3157891"/>
                </a:lnTo>
                <a:lnTo>
                  <a:pt x="0" y="0"/>
                </a:lnTo>
                <a:close/>
              </a:path>
            </a:pathLst>
          </a:custGeom>
          <a:blipFill>
            <a:blip r:embed="rId2">
              <a:extLst>
                <a:ext uri="{96DAC541-7B7A-43D3-8B79-37D633B846F1}">
                  <asvg:svgBlip xmlns:asvg="http://schemas.microsoft.com/office/drawing/2016/SVG/main" r:embed="rId3"/>
                </a:ext>
              </a:extLst>
            </a:blip>
            <a:stretch>
              <a:fillRect l="-329" t="0" r="0" b="-3300"/>
            </a:stretch>
          </a:blipFill>
        </p:spPr>
      </p:sp>
      <p:sp>
        <p:nvSpPr>
          <p:cNvPr name="Freeform 8" id="8"/>
          <p:cNvSpPr/>
          <p:nvPr/>
        </p:nvSpPr>
        <p:spPr>
          <a:xfrm flipH="false" flipV="false" rot="-10800000">
            <a:off x="3593266" y="354227"/>
            <a:ext cx="3262121" cy="3111553"/>
          </a:xfrm>
          <a:custGeom>
            <a:avLst/>
            <a:gdLst/>
            <a:ahLst/>
            <a:cxnLst/>
            <a:rect r="r" b="b" t="t" l="l"/>
            <a:pathLst>
              <a:path h="3111553" w="3262121">
                <a:moveTo>
                  <a:pt x="0" y="0"/>
                </a:moveTo>
                <a:lnTo>
                  <a:pt x="3262121" y="0"/>
                </a:lnTo>
                <a:lnTo>
                  <a:pt x="3262121" y="3111553"/>
                </a:lnTo>
                <a:lnTo>
                  <a:pt x="0" y="3111553"/>
                </a:lnTo>
                <a:lnTo>
                  <a:pt x="0" y="0"/>
                </a:lnTo>
                <a:close/>
              </a:path>
            </a:pathLst>
          </a:custGeom>
          <a:blipFill>
            <a:blip r:embed="rId2">
              <a:extLst>
                <a:ext uri="{96DAC541-7B7A-43D3-8B79-37D633B846F1}">
                  <asvg:svgBlip xmlns:asvg="http://schemas.microsoft.com/office/drawing/2016/SVG/main" r:embed="rId3"/>
                </a:ext>
              </a:extLst>
            </a:blip>
            <a:stretch>
              <a:fillRect l="0" t="0" r="0" b="-4839"/>
            </a:stretch>
          </a:blipFill>
        </p:spPr>
      </p:sp>
      <p:sp>
        <p:nvSpPr>
          <p:cNvPr name="Freeform 9" id="9"/>
          <p:cNvSpPr/>
          <p:nvPr/>
        </p:nvSpPr>
        <p:spPr>
          <a:xfrm flipH="false" flipV="false" rot="-10800000">
            <a:off x="331144" y="323335"/>
            <a:ext cx="3262121" cy="3142445"/>
          </a:xfrm>
          <a:custGeom>
            <a:avLst/>
            <a:gdLst/>
            <a:ahLst/>
            <a:cxnLst/>
            <a:rect r="r" b="b" t="t" l="l"/>
            <a:pathLst>
              <a:path h="3142445" w="3262121">
                <a:moveTo>
                  <a:pt x="0" y="0"/>
                </a:moveTo>
                <a:lnTo>
                  <a:pt x="3262122" y="0"/>
                </a:lnTo>
                <a:lnTo>
                  <a:pt x="3262122" y="3142445"/>
                </a:lnTo>
                <a:lnTo>
                  <a:pt x="0" y="3142445"/>
                </a:lnTo>
                <a:lnTo>
                  <a:pt x="0" y="0"/>
                </a:lnTo>
                <a:close/>
              </a:path>
            </a:pathLst>
          </a:custGeom>
          <a:blipFill>
            <a:blip r:embed="rId2">
              <a:extLst>
                <a:ext uri="{96DAC541-7B7A-43D3-8B79-37D633B846F1}">
                  <asvg:svgBlip xmlns:asvg="http://schemas.microsoft.com/office/drawing/2016/SVG/main" r:embed="rId3"/>
                </a:ext>
              </a:extLst>
            </a:blip>
            <a:stretch>
              <a:fillRect l="0" t="0" r="0" b="-3808"/>
            </a:stretch>
          </a:blipFill>
        </p:spPr>
      </p:sp>
      <p:sp>
        <p:nvSpPr>
          <p:cNvPr name="Freeform 10" id="10"/>
          <p:cNvSpPr/>
          <p:nvPr/>
        </p:nvSpPr>
        <p:spPr>
          <a:xfrm flipH="false" flipV="false" rot="-10800000">
            <a:off x="16650054" y="3463414"/>
            <a:ext cx="1323157" cy="3262121"/>
          </a:xfrm>
          <a:custGeom>
            <a:avLst/>
            <a:gdLst/>
            <a:ahLst/>
            <a:cxnLst/>
            <a:rect r="r" b="b" t="t" l="l"/>
            <a:pathLst>
              <a:path h="3262121" w="1323157">
                <a:moveTo>
                  <a:pt x="0" y="0"/>
                </a:moveTo>
                <a:lnTo>
                  <a:pt x="1323157" y="0"/>
                </a:lnTo>
                <a:lnTo>
                  <a:pt x="1323157"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146540" t="0" r="0" b="0"/>
            </a:stretch>
          </a:blipFill>
        </p:spPr>
      </p:sp>
      <p:sp>
        <p:nvSpPr>
          <p:cNvPr name="Freeform 11" id="11"/>
          <p:cNvSpPr/>
          <p:nvPr/>
        </p:nvSpPr>
        <p:spPr>
          <a:xfrm flipH="false" flipV="false" rot="-10800000">
            <a:off x="10125811" y="3463414"/>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16641751" y="323335"/>
            <a:ext cx="1311585" cy="3140079"/>
          </a:xfrm>
          <a:custGeom>
            <a:avLst/>
            <a:gdLst/>
            <a:ahLst/>
            <a:cxnLst/>
            <a:rect r="r" b="b" t="t" l="l"/>
            <a:pathLst>
              <a:path h="3140079" w="1311585">
                <a:moveTo>
                  <a:pt x="0" y="0"/>
                </a:moveTo>
                <a:lnTo>
                  <a:pt x="1311585" y="0"/>
                </a:lnTo>
                <a:lnTo>
                  <a:pt x="1311585"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148715" t="0" r="0" b="-3886"/>
            </a:stretch>
          </a:blipFill>
        </p:spPr>
      </p:sp>
      <p:sp>
        <p:nvSpPr>
          <p:cNvPr name="Freeform 13" id="13"/>
          <p:cNvSpPr/>
          <p:nvPr/>
        </p:nvSpPr>
        <p:spPr>
          <a:xfrm flipH="false" flipV="false" rot="-10800000">
            <a:off x="13379629" y="323335"/>
            <a:ext cx="3262121" cy="3140079"/>
          </a:xfrm>
          <a:custGeom>
            <a:avLst/>
            <a:gdLst/>
            <a:ahLst/>
            <a:cxnLst/>
            <a:rect r="r" b="b" t="t" l="l"/>
            <a:pathLst>
              <a:path h="3140079" w="3262121">
                <a:moveTo>
                  <a:pt x="0" y="0"/>
                </a:moveTo>
                <a:lnTo>
                  <a:pt x="3262122" y="0"/>
                </a:lnTo>
                <a:lnTo>
                  <a:pt x="3262122" y="3140079"/>
                </a:lnTo>
                <a:lnTo>
                  <a:pt x="0" y="3140079"/>
                </a:lnTo>
                <a:lnTo>
                  <a:pt x="0" y="0"/>
                </a:lnTo>
                <a:close/>
              </a:path>
            </a:pathLst>
          </a:custGeom>
          <a:blipFill>
            <a:blip r:embed="rId2">
              <a:extLst>
                <a:ext uri="{96DAC541-7B7A-43D3-8B79-37D633B846F1}">
                  <asvg:svgBlip xmlns:asvg="http://schemas.microsoft.com/office/drawing/2016/SVG/main" r:embed="rId3"/>
                </a:ext>
              </a:extLst>
            </a:blip>
            <a:stretch>
              <a:fillRect l="0" t="0" r="0" b="-3886"/>
            </a:stretch>
          </a:blipFill>
        </p:spPr>
      </p:sp>
      <p:sp>
        <p:nvSpPr>
          <p:cNvPr name="Freeform 14" id="14"/>
          <p:cNvSpPr/>
          <p:nvPr/>
        </p:nvSpPr>
        <p:spPr>
          <a:xfrm flipH="false" flipV="false" rot="-10800000">
            <a:off x="10117508" y="354227"/>
            <a:ext cx="3262121" cy="3109187"/>
          </a:xfrm>
          <a:custGeom>
            <a:avLst/>
            <a:gdLst/>
            <a:ahLst/>
            <a:cxnLst/>
            <a:rect r="r" b="b" t="t" l="l"/>
            <a:pathLst>
              <a:path h="3109187" w="3262121">
                <a:moveTo>
                  <a:pt x="0" y="0"/>
                </a:moveTo>
                <a:lnTo>
                  <a:pt x="3262121" y="0"/>
                </a:lnTo>
                <a:lnTo>
                  <a:pt x="3262121" y="3109187"/>
                </a:lnTo>
                <a:lnTo>
                  <a:pt x="0" y="3109187"/>
                </a:lnTo>
                <a:lnTo>
                  <a:pt x="0" y="0"/>
                </a:lnTo>
                <a:close/>
              </a:path>
            </a:pathLst>
          </a:custGeom>
          <a:blipFill>
            <a:blip r:embed="rId2">
              <a:extLst>
                <a:ext uri="{96DAC541-7B7A-43D3-8B79-37D633B846F1}">
                  <asvg:svgBlip xmlns:asvg="http://schemas.microsoft.com/office/drawing/2016/SVG/main" r:embed="rId3"/>
                </a:ext>
              </a:extLst>
            </a:blip>
            <a:stretch>
              <a:fillRect l="0" t="0" r="0" b="-4918"/>
            </a:stretch>
          </a:blipFill>
        </p:spPr>
      </p:sp>
      <p:sp>
        <p:nvSpPr>
          <p:cNvPr name="Freeform 15" id="15"/>
          <p:cNvSpPr/>
          <p:nvPr/>
        </p:nvSpPr>
        <p:spPr>
          <a:xfrm flipH="false" flipV="false" rot="-10800000">
            <a:off x="339448" y="3465780"/>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13387933" y="3463414"/>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0800000">
            <a:off x="6855387"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800000">
            <a:off x="3593266" y="6730266"/>
            <a:ext cx="3262121" cy="3262121"/>
          </a:xfrm>
          <a:custGeom>
            <a:avLst/>
            <a:gdLst/>
            <a:ahLst/>
            <a:cxnLst/>
            <a:rect r="r" b="b" t="t" l="l"/>
            <a:pathLst>
              <a:path h="3262121" w="3262121">
                <a:moveTo>
                  <a:pt x="0" y="0"/>
                </a:moveTo>
                <a:lnTo>
                  <a:pt x="3262121" y="0"/>
                </a:lnTo>
                <a:lnTo>
                  <a:pt x="3262121"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10800000">
            <a:off x="16641751" y="6727901"/>
            <a:ext cx="1316014" cy="3262121"/>
          </a:xfrm>
          <a:custGeom>
            <a:avLst/>
            <a:gdLst/>
            <a:ahLst/>
            <a:cxnLst/>
            <a:rect r="r" b="b" t="t" l="l"/>
            <a:pathLst>
              <a:path h="3262121" w="1316014">
                <a:moveTo>
                  <a:pt x="0" y="0"/>
                </a:moveTo>
                <a:lnTo>
                  <a:pt x="1316014" y="0"/>
                </a:lnTo>
                <a:lnTo>
                  <a:pt x="1316014"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147878" t="0" r="0" b="0"/>
            </a:stretch>
          </a:blipFill>
        </p:spPr>
      </p:sp>
      <p:sp>
        <p:nvSpPr>
          <p:cNvPr name="Freeform 20" id="20"/>
          <p:cNvSpPr/>
          <p:nvPr/>
        </p:nvSpPr>
        <p:spPr>
          <a:xfrm flipH="false" flipV="false" rot="-10800000">
            <a:off x="10117508" y="6727901"/>
            <a:ext cx="3262121" cy="3262121"/>
          </a:xfrm>
          <a:custGeom>
            <a:avLst/>
            <a:gdLst/>
            <a:ahLst/>
            <a:cxnLst/>
            <a:rect r="r" b="b" t="t" l="l"/>
            <a:pathLst>
              <a:path h="3262121" w="3262121">
                <a:moveTo>
                  <a:pt x="0" y="0"/>
                </a:moveTo>
                <a:lnTo>
                  <a:pt x="3262121" y="0"/>
                </a:lnTo>
                <a:lnTo>
                  <a:pt x="3262121"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0800000">
            <a:off x="331144" y="6730266"/>
            <a:ext cx="3262121" cy="3262121"/>
          </a:xfrm>
          <a:custGeom>
            <a:avLst/>
            <a:gdLst/>
            <a:ahLst/>
            <a:cxnLst/>
            <a:rect r="r" b="b" t="t" l="l"/>
            <a:pathLst>
              <a:path h="3262121" w="3262121">
                <a:moveTo>
                  <a:pt x="0" y="0"/>
                </a:moveTo>
                <a:lnTo>
                  <a:pt x="3262122" y="0"/>
                </a:lnTo>
                <a:lnTo>
                  <a:pt x="3262122" y="3262122"/>
                </a:lnTo>
                <a:lnTo>
                  <a:pt x="0" y="3262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0800000">
            <a:off x="13379629" y="6727901"/>
            <a:ext cx="3262121" cy="3262121"/>
          </a:xfrm>
          <a:custGeom>
            <a:avLst/>
            <a:gdLst/>
            <a:ahLst/>
            <a:cxnLst/>
            <a:rect r="r" b="b" t="t" l="l"/>
            <a:pathLst>
              <a:path h="3262121" w="3262121">
                <a:moveTo>
                  <a:pt x="0" y="0"/>
                </a:moveTo>
                <a:lnTo>
                  <a:pt x="3262122" y="0"/>
                </a:lnTo>
                <a:lnTo>
                  <a:pt x="3262122" y="3262121"/>
                </a:lnTo>
                <a:lnTo>
                  <a:pt x="0" y="3262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028700" y="659727"/>
            <a:ext cx="16230082" cy="8947048"/>
            <a:chOff x="0" y="0"/>
            <a:chExt cx="47097642" cy="25963199"/>
          </a:xfrm>
        </p:grpSpPr>
        <p:sp>
          <p:nvSpPr>
            <p:cNvPr name="Freeform 24" id="24"/>
            <p:cNvSpPr/>
            <p:nvPr/>
          </p:nvSpPr>
          <p:spPr>
            <a:xfrm flipH="false" flipV="false" rot="0">
              <a:off x="72390" y="72390"/>
              <a:ext cx="46952861" cy="25818419"/>
            </a:xfrm>
            <a:custGeom>
              <a:avLst/>
              <a:gdLst/>
              <a:ahLst/>
              <a:cxnLst/>
              <a:rect r="r" b="b" t="t" l="l"/>
              <a:pathLst>
                <a:path h="25818419" w="46952861">
                  <a:moveTo>
                    <a:pt x="0" y="0"/>
                  </a:moveTo>
                  <a:lnTo>
                    <a:pt x="46952861" y="0"/>
                  </a:lnTo>
                  <a:lnTo>
                    <a:pt x="46952861" y="25818419"/>
                  </a:lnTo>
                  <a:lnTo>
                    <a:pt x="0" y="25818419"/>
                  </a:lnTo>
                  <a:lnTo>
                    <a:pt x="0" y="0"/>
                  </a:lnTo>
                  <a:close/>
                </a:path>
              </a:pathLst>
            </a:custGeom>
            <a:solidFill>
              <a:srgbClr val="FFFFFF"/>
            </a:solidFill>
          </p:spPr>
        </p:sp>
        <p:sp>
          <p:nvSpPr>
            <p:cNvPr name="Freeform 25" id="25"/>
            <p:cNvSpPr/>
            <p:nvPr/>
          </p:nvSpPr>
          <p:spPr>
            <a:xfrm flipH="false" flipV="false" rot="0">
              <a:off x="0" y="0"/>
              <a:ext cx="47097643" cy="25963198"/>
            </a:xfrm>
            <a:custGeom>
              <a:avLst/>
              <a:gdLst/>
              <a:ahLst/>
              <a:cxnLst/>
              <a:rect r="r" b="b" t="t" l="l"/>
              <a:pathLst>
                <a:path h="25963198" w="47097643">
                  <a:moveTo>
                    <a:pt x="46952861" y="25818419"/>
                  </a:moveTo>
                  <a:lnTo>
                    <a:pt x="47097643" y="25818419"/>
                  </a:lnTo>
                  <a:lnTo>
                    <a:pt x="47097643" y="25963198"/>
                  </a:lnTo>
                  <a:lnTo>
                    <a:pt x="46952861" y="25963198"/>
                  </a:lnTo>
                  <a:lnTo>
                    <a:pt x="46952861" y="25818419"/>
                  </a:lnTo>
                  <a:close/>
                  <a:moveTo>
                    <a:pt x="0" y="144780"/>
                  </a:moveTo>
                  <a:lnTo>
                    <a:pt x="144780" y="144780"/>
                  </a:lnTo>
                  <a:lnTo>
                    <a:pt x="144780" y="25818419"/>
                  </a:lnTo>
                  <a:lnTo>
                    <a:pt x="0" y="25818419"/>
                  </a:lnTo>
                  <a:lnTo>
                    <a:pt x="0" y="144780"/>
                  </a:lnTo>
                  <a:close/>
                  <a:moveTo>
                    <a:pt x="0" y="25818419"/>
                  </a:moveTo>
                  <a:lnTo>
                    <a:pt x="144780" y="25818419"/>
                  </a:lnTo>
                  <a:lnTo>
                    <a:pt x="144780" y="25963198"/>
                  </a:lnTo>
                  <a:lnTo>
                    <a:pt x="0" y="25963198"/>
                  </a:lnTo>
                  <a:lnTo>
                    <a:pt x="0" y="25818419"/>
                  </a:lnTo>
                  <a:close/>
                  <a:moveTo>
                    <a:pt x="46952861" y="144780"/>
                  </a:moveTo>
                  <a:lnTo>
                    <a:pt x="47097643" y="144780"/>
                  </a:lnTo>
                  <a:lnTo>
                    <a:pt x="47097643" y="25818419"/>
                  </a:lnTo>
                  <a:lnTo>
                    <a:pt x="46952861" y="25818419"/>
                  </a:lnTo>
                  <a:lnTo>
                    <a:pt x="46952861" y="144780"/>
                  </a:lnTo>
                  <a:close/>
                  <a:moveTo>
                    <a:pt x="144780" y="25818419"/>
                  </a:moveTo>
                  <a:lnTo>
                    <a:pt x="46952861" y="25818419"/>
                  </a:lnTo>
                  <a:lnTo>
                    <a:pt x="46952861" y="25963198"/>
                  </a:lnTo>
                  <a:lnTo>
                    <a:pt x="144780" y="25963198"/>
                  </a:lnTo>
                  <a:lnTo>
                    <a:pt x="144780" y="25818419"/>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6" id="26"/>
          <p:cNvGrpSpPr/>
          <p:nvPr/>
        </p:nvGrpSpPr>
        <p:grpSpPr>
          <a:xfrm rot="0">
            <a:off x="1028700" y="659727"/>
            <a:ext cx="16230082" cy="1566021"/>
            <a:chOff x="0" y="0"/>
            <a:chExt cx="47097642" cy="4544396"/>
          </a:xfrm>
        </p:grpSpPr>
        <p:sp>
          <p:nvSpPr>
            <p:cNvPr name="Freeform 27" id="27"/>
            <p:cNvSpPr/>
            <p:nvPr/>
          </p:nvSpPr>
          <p:spPr>
            <a:xfrm flipH="false" flipV="false" rot="0">
              <a:off x="72390" y="72390"/>
              <a:ext cx="46952861" cy="4399616"/>
            </a:xfrm>
            <a:custGeom>
              <a:avLst/>
              <a:gdLst/>
              <a:ahLst/>
              <a:cxnLst/>
              <a:rect r="r" b="b" t="t" l="l"/>
              <a:pathLst>
                <a:path h="4399616" w="46952861">
                  <a:moveTo>
                    <a:pt x="0" y="0"/>
                  </a:moveTo>
                  <a:lnTo>
                    <a:pt x="46952861" y="0"/>
                  </a:lnTo>
                  <a:lnTo>
                    <a:pt x="46952861" y="4399616"/>
                  </a:lnTo>
                  <a:lnTo>
                    <a:pt x="0" y="4399616"/>
                  </a:lnTo>
                  <a:lnTo>
                    <a:pt x="0" y="0"/>
                  </a:lnTo>
                  <a:close/>
                </a:path>
              </a:pathLst>
            </a:custGeom>
            <a:solidFill>
              <a:srgbClr val="FCB1D4"/>
            </a:solidFill>
          </p:spPr>
        </p:sp>
        <p:sp>
          <p:nvSpPr>
            <p:cNvPr name="Freeform 28" id="28"/>
            <p:cNvSpPr/>
            <p:nvPr/>
          </p:nvSpPr>
          <p:spPr>
            <a:xfrm flipH="false" flipV="false" rot="0">
              <a:off x="0" y="0"/>
              <a:ext cx="47097643" cy="4544395"/>
            </a:xfrm>
            <a:custGeom>
              <a:avLst/>
              <a:gdLst/>
              <a:ahLst/>
              <a:cxnLst/>
              <a:rect r="r" b="b" t="t" l="l"/>
              <a:pathLst>
                <a:path h="4544395" w="47097643">
                  <a:moveTo>
                    <a:pt x="46952861" y="4399616"/>
                  </a:moveTo>
                  <a:lnTo>
                    <a:pt x="47097643" y="4399616"/>
                  </a:lnTo>
                  <a:lnTo>
                    <a:pt x="47097643" y="4544395"/>
                  </a:lnTo>
                  <a:lnTo>
                    <a:pt x="46952861" y="4544395"/>
                  </a:lnTo>
                  <a:lnTo>
                    <a:pt x="46952861" y="4399616"/>
                  </a:lnTo>
                  <a:close/>
                  <a:moveTo>
                    <a:pt x="0" y="144780"/>
                  </a:moveTo>
                  <a:lnTo>
                    <a:pt x="144780" y="144780"/>
                  </a:lnTo>
                  <a:lnTo>
                    <a:pt x="144780" y="4399616"/>
                  </a:lnTo>
                  <a:lnTo>
                    <a:pt x="0" y="4399616"/>
                  </a:lnTo>
                  <a:lnTo>
                    <a:pt x="0" y="144780"/>
                  </a:lnTo>
                  <a:close/>
                  <a:moveTo>
                    <a:pt x="0" y="4399616"/>
                  </a:moveTo>
                  <a:lnTo>
                    <a:pt x="144780" y="4399616"/>
                  </a:lnTo>
                  <a:lnTo>
                    <a:pt x="144780" y="4544395"/>
                  </a:lnTo>
                  <a:lnTo>
                    <a:pt x="0" y="4544395"/>
                  </a:lnTo>
                  <a:lnTo>
                    <a:pt x="0" y="4399616"/>
                  </a:lnTo>
                  <a:close/>
                  <a:moveTo>
                    <a:pt x="46952861" y="144780"/>
                  </a:moveTo>
                  <a:lnTo>
                    <a:pt x="47097643" y="144780"/>
                  </a:lnTo>
                  <a:lnTo>
                    <a:pt x="47097643" y="4399616"/>
                  </a:lnTo>
                  <a:lnTo>
                    <a:pt x="46952861" y="4399616"/>
                  </a:lnTo>
                  <a:lnTo>
                    <a:pt x="46952861" y="144780"/>
                  </a:lnTo>
                  <a:close/>
                  <a:moveTo>
                    <a:pt x="144780" y="4399616"/>
                  </a:moveTo>
                  <a:lnTo>
                    <a:pt x="46952861" y="4399616"/>
                  </a:lnTo>
                  <a:lnTo>
                    <a:pt x="46952861" y="4544395"/>
                  </a:lnTo>
                  <a:lnTo>
                    <a:pt x="144780" y="4544395"/>
                  </a:lnTo>
                  <a:lnTo>
                    <a:pt x="144780" y="4399616"/>
                  </a:lnTo>
                  <a:close/>
                  <a:moveTo>
                    <a:pt x="46952861" y="0"/>
                  </a:moveTo>
                  <a:lnTo>
                    <a:pt x="47097643" y="0"/>
                  </a:lnTo>
                  <a:lnTo>
                    <a:pt x="47097643" y="144780"/>
                  </a:lnTo>
                  <a:lnTo>
                    <a:pt x="46952861" y="144780"/>
                  </a:lnTo>
                  <a:lnTo>
                    <a:pt x="46952861" y="0"/>
                  </a:lnTo>
                  <a:close/>
                  <a:moveTo>
                    <a:pt x="0" y="0"/>
                  </a:moveTo>
                  <a:lnTo>
                    <a:pt x="144780" y="0"/>
                  </a:lnTo>
                  <a:lnTo>
                    <a:pt x="144780" y="144780"/>
                  </a:lnTo>
                  <a:lnTo>
                    <a:pt x="0" y="144780"/>
                  </a:lnTo>
                  <a:lnTo>
                    <a:pt x="0" y="0"/>
                  </a:lnTo>
                  <a:close/>
                  <a:moveTo>
                    <a:pt x="144780" y="0"/>
                  </a:moveTo>
                  <a:lnTo>
                    <a:pt x="46952861" y="0"/>
                  </a:lnTo>
                  <a:lnTo>
                    <a:pt x="46952861" y="144780"/>
                  </a:lnTo>
                  <a:lnTo>
                    <a:pt x="144780" y="144780"/>
                  </a:lnTo>
                  <a:lnTo>
                    <a:pt x="144780" y="0"/>
                  </a:lnTo>
                  <a:close/>
                </a:path>
              </a:pathLst>
            </a:custGeom>
            <a:solidFill>
              <a:srgbClr val="000000"/>
            </a:solidFill>
          </p:spPr>
        </p:sp>
      </p:grpSp>
      <p:grpSp>
        <p:nvGrpSpPr>
          <p:cNvPr name="Group 29" id="29"/>
          <p:cNvGrpSpPr/>
          <p:nvPr/>
        </p:nvGrpSpPr>
        <p:grpSpPr>
          <a:xfrm rot="0">
            <a:off x="3593266" y="2664145"/>
            <a:ext cx="5089801" cy="2758150"/>
            <a:chOff x="0" y="0"/>
            <a:chExt cx="1340524" cy="726426"/>
          </a:xfrm>
        </p:grpSpPr>
        <p:sp>
          <p:nvSpPr>
            <p:cNvPr name="Freeform 30" id="30"/>
            <p:cNvSpPr/>
            <p:nvPr/>
          </p:nvSpPr>
          <p:spPr>
            <a:xfrm flipH="false" flipV="false" rot="0">
              <a:off x="0" y="0"/>
              <a:ext cx="1340524" cy="726426"/>
            </a:xfrm>
            <a:custGeom>
              <a:avLst/>
              <a:gdLst/>
              <a:ahLst/>
              <a:cxnLst/>
              <a:rect r="r" b="b" t="t" l="l"/>
              <a:pathLst>
                <a:path h="726426" w="1340524">
                  <a:moveTo>
                    <a:pt x="38027" y="0"/>
                  </a:moveTo>
                  <a:lnTo>
                    <a:pt x="1302497" y="0"/>
                  </a:lnTo>
                  <a:cubicBezTo>
                    <a:pt x="1323499" y="0"/>
                    <a:pt x="1340524" y="17025"/>
                    <a:pt x="1340524" y="38027"/>
                  </a:cubicBezTo>
                  <a:lnTo>
                    <a:pt x="1340524" y="688400"/>
                  </a:lnTo>
                  <a:cubicBezTo>
                    <a:pt x="1340524" y="709401"/>
                    <a:pt x="1323499" y="726426"/>
                    <a:pt x="1302497" y="726426"/>
                  </a:cubicBezTo>
                  <a:lnTo>
                    <a:pt x="38027" y="726426"/>
                  </a:lnTo>
                  <a:cubicBezTo>
                    <a:pt x="17025" y="726426"/>
                    <a:pt x="0" y="709401"/>
                    <a:pt x="0" y="688400"/>
                  </a:cubicBezTo>
                  <a:lnTo>
                    <a:pt x="0" y="38027"/>
                  </a:lnTo>
                  <a:cubicBezTo>
                    <a:pt x="0" y="17025"/>
                    <a:pt x="17025" y="0"/>
                    <a:pt x="38027" y="0"/>
                  </a:cubicBezTo>
                  <a:close/>
                </a:path>
              </a:pathLst>
            </a:custGeom>
            <a:solidFill>
              <a:srgbClr val="1C6037"/>
            </a:solidFill>
          </p:spPr>
        </p:sp>
        <p:sp>
          <p:nvSpPr>
            <p:cNvPr name="TextBox 31" id="31"/>
            <p:cNvSpPr txBox="true"/>
            <p:nvPr/>
          </p:nvSpPr>
          <p:spPr>
            <a:xfrm>
              <a:off x="0" y="-38100"/>
              <a:ext cx="1340524" cy="764526"/>
            </a:xfrm>
            <a:prstGeom prst="rect">
              <a:avLst/>
            </a:prstGeom>
          </p:spPr>
          <p:txBody>
            <a:bodyPr anchor="ctr" rtlCol="false" tIns="50800" lIns="50800" bIns="50800" rIns="50800"/>
            <a:lstStyle/>
            <a:p>
              <a:pPr algn="ctr">
                <a:lnSpc>
                  <a:spcPts val="3455"/>
                </a:lnSpc>
              </a:pPr>
              <a:r>
                <a:rPr lang="en-US" sz="2467" b="true">
                  <a:solidFill>
                    <a:srgbClr val="FFFFFF"/>
                  </a:solidFill>
                  <a:latin typeface="Canva Sans Bold"/>
                  <a:ea typeface="Canva Sans Bold"/>
                  <a:cs typeface="Canva Sans Bold"/>
                  <a:sym typeface="Canva Sans Bold"/>
                </a:rPr>
                <a:t>Anticipated Results</a:t>
              </a:r>
            </a:p>
            <a:p>
              <a:pPr algn="ctr">
                <a:lnSpc>
                  <a:spcPts val="2478"/>
                </a:lnSpc>
              </a:pPr>
            </a:p>
            <a:p>
              <a:pPr algn="l" marL="381696" indent="-190848" lvl="1">
                <a:lnSpc>
                  <a:spcPts val="2475"/>
                </a:lnSpc>
                <a:buFont typeface="Arial"/>
                <a:buChar char="•"/>
              </a:pPr>
              <a:r>
                <a:rPr lang="en-US" sz="1767">
                  <a:solidFill>
                    <a:srgbClr val="FFFFFF"/>
                  </a:solidFill>
                  <a:latin typeface="Canva Sans"/>
                  <a:ea typeface="Canva Sans"/>
                  <a:cs typeface="Canva Sans"/>
                  <a:sym typeface="Canva Sans"/>
                </a:rPr>
                <a:t>A Fully Functional Android Application</a:t>
              </a:r>
            </a:p>
            <a:p>
              <a:pPr algn="l">
                <a:lnSpc>
                  <a:spcPts val="2475"/>
                </a:lnSpc>
              </a:pPr>
            </a:p>
            <a:p>
              <a:pPr algn="l" marL="381696" indent="-190848" lvl="1">
                <a:lnSpc>
                  <a:spcPts val="2475"/>
                </a:lnSpc>
                <a:buFont typeface="Arial"/>
                <a:buChar char="•"/>
              </a:pPr>
              <a:r>
                <a:rPr lang="en-US" sz="1767">
                  <a:solidFill>
                    <a:srgbClr val="FFFFFF"/>
                  </a:solidFill>
                  <a:latin typeface="Canva Sans"/>
                  <a:ea typeface="Canva Sans"/>
                  <a:cs typeface="Canva Sans"/>
                  <a:sym typeface="Canva Sans"/>
                </a:rPr>
                <a:t>Seamless NFC-Based Access Control</a:t>
              </a:r>
            </a:p>
            <a:p>
              <a:pPr algn="l">
                <a:lnSpc>
                  <a:spcPts val="2475"/>
                </a:lnSpc>
              </a:pPr>
            </a:p>
            <a:p>
              <a:pPr algn="l" marL="381696" indent="-190848" lvl="1">
                <a:lnSpc>
                  <a:spcPts val="2475"/>
                </a:lnSpc>
                <a:buFont typeface="Arial"/>
                <a:buChar char="•"/>
              </a:pPr>
              <a:r>
                <a:rPr lang="en-US" sz="1767">
                  <a:solidFill>
                    <a:srgbClr val="FFFFFF"/>
                  </a:solidFill>
                  <a:latin typeface="Canva Sans"/>
                  <a:ea typeface="Canva Sans"/>
                  <a:cs typeface="Canva Sans"/>
                  <a:sym typeface="Canva Sans"/>
                </a:rPr>
                <a:t>Enhanced Security Model</a:t>
              </a:r>
            </a:p>
            <a:p>
              <a:pPr algn="ctr">
                <a:lnSpc>
                  <a:spcPts val="2475"/>
                </a:lnSpc>
              </a:pPr>
            </a:p>
          </p:txBody>
        </p:sp>
      </p:grpSp>
      <p:sp>
        <p:nvSpPr>
          <p:cNvPr name="TextBox 32" id="32"/>
          <p:cNvSpPr txBox="true"/>
          <p:nvPr/>
        </p:nvSpPr>
        <p:spPr>
          <a:xfrm rot="0">
            <a:off x="2540227" y="981075"/>
            <a:ext cx="13207029" cy="1046479"/>
          </a:xfrm>
          <a:prstGeom prst="rect">
            <a:avLst/>
          </a:prstGeom>
        </p:spPr>
        <p:txBody>
          <a:bodyPr anchor="t" rtlCol="false" tIns="0" lIns="0" bIns="0" rIns="0">
            <a:spAutoFit/>
          </a:bodyPr>
          <a:lstStyle/>
          <a:p>
            <a:pPr algn="ctr">
              <a:lnSpc>
                <a:spcPts val="6954"/>
              </a:lnSpc>
            </a:pPr>
            <a:r>
              <a:rPr lang="en-US" b="true" sz="6499" spc="-64">
                <a:solidFill>
                  <a:srgbClr val="000000"/>
                </a:solidFill>
                <a:latin typeface="ITC Benguiat Condensed Bold"/>
                <a:ea typeface="ITC Benguiat Condensed Bold"/>
                <a:cs typeface="ITC Benguiat Condensed Bold"/>
                <a:sym typeface="ITC Benguiat Condensed Bold"/>
              </a:rPr>
              <a:t>Expected Outcome and Significance</a:t>
            </a:r>
          </a:p>
        </p:txBody>
      </p:sp>
      <p:grpSp>
        <p:nvGrpSpPr>
          <p:cNvPr name="Group 33" id="33"/>
          <p:cNvGrpSpPr/>
          <p:nvPr/>
        </p:nvGrpSpPr>
        <p:grpSpPr>
          <a:xfrm rot="0">
            <a:off x="3593266" y="5595390"/>
            <a:ext cx="10618388" cy="3024850"/>
            <a:chOff x="0" y="0"/>
            <a:chExt cx="2796612" cy="796668"/>
          </a:xfrm>
        </p:grpSpPr>
        <p:sp>
          <p:nvSpPr>
            <p:cNvPr name="Freeform 34" id="34"/>
            <p:cNvSpPr/>
            <p:nvPr/>
          </p:nvSpPr>
          <p:spPr>
            <a:xfrm flipH="false" flipV="false" rot="0">
              <a:off x="0" y="0"/>
              <a:ext cx="2796612" cy="796668"/>
            </a:xfrm>
            <a:custGeom>
              <a:avLst/>
              <a:gdLst/>
              <a:ahLst/>
              <a:cxnLst/>
              <a:rect r="r" b="b" t="t" l="l"/>
              <a:pathLst>
                <a:path h="796668" w="2796612">
                  <a:moveTo>
                    <a:pt x="18228" y="0"/>
                  </a:moveTo>
                  <a:lnTo>
                    <a:pt x="2778385" y="0"/>
                  </a:lnTo>
                  <a:cubicBezTo>
                    <a:pt x="2783219" y="0"/>
                    <a:pt x="2787855" y="1920"/>
                    <a:pt x="2791274" y="5339"/>
                  </a:cubicBezTo>
                  <a:cubicBezTo>
                    <a:pt x="2794692" y="8757"/>
                    <a:pt x="2796612" y="13393"/>
                    <a:pt x="2796612" y="18228"/>
                  </a:cubicBezTo>
                  <a:lnTo>
                    <a:pt x="2796612" y="778441"/>
                  </a:lnTo>
                  <a:cubicBezTo>
                    <a:pt x="2796612" y="783275"/>
                    <a:pt x="2794692" y="787911"/>
                    <a:pt x="2791274" y="791330"/>
                  </a:cubicBezTo>
                  <a:cubicBezTo>
                    <a:pt x="2787855" y="794748"/>
                    <a:pt x="2783219" y="796668"/>
                    <a:pt x="2778385" y="796668"/>
                  </a:cubicBezTo>
                  <a:lnTo>
                    <a:pt x="18228" y="796668"/>
                  </a:lnTo>
                  <a:cubicBezTo>
                    <a:pt x="13393" y="796668"/>
                    <a:pt x="8757" y="794748"/>
                    <a:pt x="5339" y="791330"/>
                  </a:cubicBezTo>
                  <a:cubicBezTo>
                    <a:pt x="1920" y="787911"/>
                    <a:pt x="0" y="783275"/>
                    <a:pt x="0" y="778441"/>
                  </a:cubicBezTo>
                  <a:lnTo>
                    <a:pt x="0" y="18228"/>
                  </a:lnTo>
                  <a:cubicBezTo>
                    <a:pt x="0" y="13393"/>
                    <a:pt x="1920" y="8757"/>
                    <a:pt x="5339" y="5339"/>
                  </a:cubicBezTo>
                  <a:cubicBezTo>
                    <a:pt x="8757" y="1920"/>
                    <a:pt x="13393" y="0"/>
                    <a:pt x="18228" y="0"/>
                  </a:cubicBezTo>
                  <a:close/>
                </a:path>
              </a:pathLst>
            </a:custGeom>
            <a:solidFill>
              <a:srgbClr val="FF3131"/>
            </a:solidFill>
          </p:spPr>
        </p:sp>
        <p:sp>
          <p:nvSpPr>
            <p:cNvPr name="TextBox 35" id="35"/>
            <p:cNvSpPr txBox="true"/>
            <p:nvPr/>
          </p:nvSpPr>
          <p:spPr>
            <a:xfrm>
              <a:off x="0" y="-38100"/>
              <a:ext cx="2796612" cy="834768"/>
            </a:xfrm>
            <a:prstGeom prst="rect">
              <a:avLst/>
            </a:prstGeom>
          </p:spPr>
          <p:txBody>
            <a:bodyPr anchor="ctr" rtlCol="false" tIns="50800" lIns="50800" bIns="50800" rIns="50800"/>
            <a:lstStyle/>
            <a:p>
              <a:pPr algn="ctr">
                <a:lnSpc>
                  <a:spcPts val="3455"/>
                </a:lnSpc>
              </a:pPr>
              <a:r>
                <a:rPr lang="en-US" sz="2467" b="true">
                  <a:solidFill>
                    <a:srgbClr val="FFFFFF"/>
                  </a:solidFill>
                  <a:latin typeface="Canva Sans Bold"/>
                  <a:ea typeface="Canva Sans Bold"/>
                  <a:cs typeface="Canva Sans Bold"/>
                  <a:sym typeface="Canva Sans Bold"/>
                </a:rPr>
                <a:t>Contributions &amp; Significance</a:t>
              </a:r>
            </a:p>
            <a:p>
              <a:pPr algn="ctr">
                <a:lnSpc>
                  <a:spcPts val="3455"/>
                </a:lnSpc>
              </a:pPr>
            </a:p>
            <a:p>
              <a:pPr algn="l" marL="424875" indent="-212438" lvl="1">
                <a:lnSpc>
                  <a:spcPts val="2755"/>
                </a:lnSpc>
                <a:buFont typeface="Arial"/>
                <a:buChar char="•"/>
              </a:pPr>
              <a:r>
                <a:rPr lang="en-US" b="true" sz="1967">
                  <a:solidFill>
                    <a:srgbClr val="FFFFFF"/>
                  </a:solidFill>
                  <a:latin typeface="Canva Sans Bold"/>
                  <a:ea typeface="Canva Sans Bold"/>
                  <a:cs typeface="Canva Sans Bold"/>
                  <a:sym typeface="Canva Sans Bold"/>
                </a:rPr>
                <a:t>Academic Contributions</a:t>
              </a:r>
              <a:r>
                <a:rPr lang="en-US" sz="1967">
                  <a:solidFill>
                    <a:srgbClr val="FFFFFF"/>
                  </a:solidFill>
                  <a:latin typeface="Canva Sans"/>
                  <a:ea typeface="Canva Sans"/>
                  <a:cs typeface="Canva Sans"/>
                  <a:sym typeface="Canva Sans"/>
                </a:rPr>
                <a:t>: Advancement in Mobile Computing and Security</a:t>
              </a:r>
            </a:p>
            <a:p>
              <a:pPr algn="l">
                <a:lnSpc>
                  <a:spcPts val="2755"/>
                </a:lnSpc>
              </a:pPr>
            </a:p>
            <a:p>
              <a:pPr algn="l" marL="424875" indent="-212438" lvl="1">
                <a:lnSpc>
                  <a:spcPts val="2755"/>
                </a:lnSpc>
                <a:buFont typeface="Arial"/>
                <a:buChar char="•"/>
              </a:pPr>
              <a:r>
                <a:rPr lang="en-US" b="true" sz="1967">
                  <a:solidFill>
                    <a:srgbClr val="FFFFFF"/>
                  </a:solidFill>
                  <a:latin typeface="Canva Sans Bold"/>
                  <a:ea typeface="Canva Sans Bold"/>
                  <a:cs typeface="Canva Sans Bold"/>
                  <a:sym typeface="Canva Sans Bold"/>
                </a:rPr>
                <a:t>Industrial &amp; Practical Contributions</a:t>
              </a:r>
              <a:r>
                <a:rPr lang="en-US" sz="1967">
                  <a:solidFill>
                    <a:srgbClr val="FFFFFF"/>
                  </a:solidFill>
                  <a:latin typeface="Canva Sans"/>
                  <a:ea typeface="Canva Sans"/>
                  <a:cs typeface="Canva Sans"/>
                  <a:sym typeface="Canva Sans"/>
                </a:rPr>
                <a:t>: Modernization of Campus Infrastructure</a:t>
              </a:r>
            </a:p>
            <a:p>
              <a:pPr algn="l">
                <a:lnSpc>
                  <a:spcPts val="2755"/>
                </a:lnSpc>
              </a:pPr>
            </a:p>
            <a:p>
              <a:pPr algn="l" marL="424875" indent="-212438" lvl="1">
                <a:lnSpc>
                  <a:spcPts val="2755"/>
                </a:lnSpc>
                <a:buFont typeface="Arial"/>
                <a:buChar char="•"/>
              </a:pPr>
              <a:r>
                <a:rPr lang="en-US" b="true" sz="1967">
                  <a:solidFill>
                    <a:srgbClr val="FFFFFF"/>
                  </a:solidFill>
                  <a:latin typeface="Canva Sans Bold"/>
                  <a:ea typeface="Canva Sans Bold"/>
                  <a:cs typeface="Canva Sans Bold"/>
                  <a:sym typeface="Canva Sans Bold"/>
                </a:rPr>
                <a:t>Societal Contributions &amp; Benefits</a:t>
              </a:r>
              <a:r>
                <a:rPr lang="en-US" sz="1967">
                  <a:solidFill>
                    <a:srgbClr val="FFFFFF"/>
                  </a:solidFill>
                  <a:latin typeface="Canva Sans"/>
                  <a:ea typeface="Canva Sans"/>
                  <a:cs typeface="Canva Sans"/>
                  <a:sym typeface="Canva Sans"/>
                </a:rPr>
                <a:t>: Enhanced User Convenience and Inclusivity</a:t>
              </a:r>
            </a:p>
            <a:p>
              <a:pPr algn="ctr">
                <a:lnSpc>
                  <a:spcPts val="2475"/>
                </a:lnSpc>
              </a:pPr>
            </a:p>
          </p:txBody>
        </p:sp>
      </p:grpSp>
      <p:grpSp>
        <p:nvGrpSpPr>
          <p:cNvPr name="Group 36" id="36"/>
          <p:cNvGrpSpPr/>
          <p:nvPr/>
        </p:nvGrpSpPr>
        <p:grpSpPr>
          <a:xfrm rot="0">
            <a:off x="8902460" y="2664145"/>
            <a:ext cx="5309194" cy="2758150"/>
            <a:chOff x="0" y="0"/>
            <a:chExt cx="1398306" cy="726426"/>
          </a:xfrm>
        </p:grpSpPr>
        <p:sp>
          <p:nvSpPr>
            <p:cNvPr name="Freeform 37" id="37"/>
            <p:cNvSpPr/>
            <p:nvPr/>
          </p:nvSpPr>
          <p:spPr>
            <a:xfrm flipH="false" flipV="false" rot="0">
              <a:off x="0" y="0"/>
              <a:ext cx="1398306" cy="726426"/>
            </a:xfrm>
            <a:custGeom>
              <a:avLst/>
              <a:gdLst/>
              <a:ahLst/>
              <a:cxnLst/>
              <a:rect r="r" b="b" t="t" l="l"/>
              <a:pathLst>
                <a:path h="726426" w="1398306">
                  <a:moveTo>
                    <a:pt x="36455" y="0"/>
                  </a:moveTo>
                  <a:lnTo>
                    <a:pt x="1361851" y="0"/>
                  </a:lnTo>
                  <a:cubicBezTo>
                    <a:pt x="1371519" y="0"/>
                    <a:pt x="1380792" y="3841"/>
                    <a:pt x="1387629" y="10677"/>
                  </a:cubicBezTo>
                  <a:cubicBezTo>
                    <a:pt x="1394465" y="17514"/>
                    <a:pt x="1398306" y="26787"/>
                    <a:pt x="1398306" y="36455"/>
                  </a:cubicBezTo>
                  <a:lnTo>
                    <a:pt x="1398306" y="689971"/>
                  </a:lnTo>
                  <a:cubicBezTo>
                    <a:pt x="1398306" y="699640"/>
                    <a:pt x="1394465" y="708912"/>
                    <a:pt x="1387629" y="715749"/>
                  </a:cubicBezTo>
                  <a:cubicBezTo>
                    <a:pt x="1380792" y="722585"/>
                    <a:pt x="1371519" y="726426"/>
                    <a:pt x="1361851" y="726426"/>
                  </a:cubicBezTo>
                  <a:lnTo>
                    <a:pt x="36455" y="726426"/>
                  </a:lnTo>
                  <a:cubicBezTo>
                    <a:pt x="26787" y="726426"/>
                    <a:pt x="17514" y="722585"/>
                    <a:pt x="10677" y="715749"/>
                  </a:cubicBezTo>
                  <a:cubicBezTo>
                    <a:pt x="3841" y="708912"/>
                    <a:pt x="0" y="699640"/>
                    <a:pt x="0" y="689971"/>
                  </a:cubicBezTo>
                  <a:lnTo>
                    <a:pt x="0" y="36455"/>
                  </a:lnTo>
                  <a:cubicBezTo>
                    <a:pt x="0" y="26787"/>
                    <a:pt x="3841" y="17514"/>
                    <a:pt x="10677" y="10677"/>
                  </a:cubicBezTo>
                  <a:cubicBezTo>
                    <a:pt x="17514" y="3841"/>
                    <a:pt x="26787" y="0"/>
                    <a:pt x="36455" y="0"/>
                  </a:cubicBezTo>
                  <a:close/>
                </a:path>
              </a:pathLst>
            </a:custGeom>
            <a:solidFill>
              <a:srgbClr val="401268"/>
            </a:solidFill>
          </p:spPr>
        </p:sp>
        <p:sp>
          <p:nvSpPr>
            <p:cNvPr name="TextBox 38" id="38"/>
            <p:cNvSpPr txBox="true"/>
            <p:nvPr/>
          </p:nvSpPr>
          <p:spPr>
            <a:xfrm>
              <a:off x="0" y="-38100"/>
              <a:ext cx="1398306" cy="764526"/>
            </a:xfrm>
            <a:prstGeom prst="rect">
              <a:avLst/>
            </a:prstGeom>
          </p:spPr>
          <p:txBody>
            <a:bodyPr anchor="ctr" rtlCol="false" tIns="50800" lIns="50800" bIns="50800" rIns="50800"/>
            <a:lstStyle/>
            <a:p>
              <a:pPr algn="ctr">
                <a:lnSpc>
                  <a:spcPts val="3175"/>
                </a:lnSpc>
              </a:pPr>
              <a:r>
                <a:rPr lang="en-US" sz="2267" b="true">
                  <a:solidFill>
                    <a:srgbClr val="FFFFFF"/>
                  </a:solidFill>
                  <a:latin typeface="Canva Sans Bold"/>
                  <a:ea typeface="Canva Sans Bold"/>
                  <a:cs typeface="Canva Sans Bold"/>
                  <a:sym typeface="Canva Sans Bold"/>
                </a:rPr>
                <a:t>Beneficiaries</a:t>
              </a:r>
            </a:p>
            <a:p>
              <a:pPr algn="just">
                <a:lnSpc>
                  <a:spcPts val="2475"/>
                </a:lnSpc>
              </a:pPr>
            </a:p>
            <a:p>
              <a:pPr algn="l" marL="381696" indent="-190848" lvl="1">
                <a:lnSpc>
                  <a:spcPts val="2475"/>
                </a:lnSpc>
                <a:buFont typeface="Arial"/>
                <a:buChar char="•"/>
              </a:pPr>
              <a:r>
                <a:rPr lang="en-US" sz="1767">
                  <a:solidFill>
                    <a:srgbClr val="FFFFFF"/>
                  </a:solidFill>
                  <a:latin typeface="Canva Sans"/>
                  <a:ea typeface="Canva Sans"/>
                  <a:cs typeface="Canva Sans"/>
                  <a:sym typeface="Canva Sans"/>
                </a:rPr>
                <a:t>Th</a:t>
              </a:r>
              <a:r>
                <a:rPr lang="en-US" sz="1767">
                  <a:solidFill>
                    <a:srgbClr val="FFFFFF"/>
                  </a:solidFill>
                  <a:latin typeface="Canva Sans"/>
                  <a:ea typeface="Canva Sans"/>
                  <a:cs typeface="Canva Sans"/>
                  <a:sym typeface="Canva Sans"/>
                </a:rPr>
                <a:t>e </a:t>
              </a:r>
              <a:r>
                <a:rPr lang="en-US" sz="1767">
                  <a:solidFill>
                    <a:srgbClr val="FFFFFF"/>
                  </a:solidFill>
                  <a:latin typeface="Canva Sans"/>
                  <a:ea typeface="Canva Sans"/>
                  <a:cs typeface="Canva Sans"/>
                  <a:sym typeface="Canva Sans"/>
                </a:rPr>
                <a:t>f</a:t>
              </a:r>
              <a:r>
                <a:rPr lang="en-US" sz="1767">
                  <a:solidFill>
                    <a:srgbClr val="FFFFFF"/>
                  </a:solidFill>
                  <a:latin typeface="Canva Sans"/>
                  <a:ea typeface="Canva Sans"/>
                  <a:cs typeface="Canva Sans"/>
                  <a:sym typeface="Canva Sans"/>
                </a:rPr>
                <a:t>o</a:t>
              </a:r>
              <a:r>
                <a:rPr lang="en-US" sz="1767">
                  <a:solidFill>
                    <a:srgbClr val="FFFFFF"/>
                  </a:solidFill>
                  <a:latin typeface="Canva Sans"/>
                  <a:ea typeface="Canva Sans"/>
                  <a:cs typeface="Canva Sans"/>
                  <a:sym typeface="Canva Sans"/>
                </a:rPr>
                <a:t>llowing gro</a:t>
              </a:r>
              <a:r>
                <a:rPr lang="en-US" sz="1767">
                  <a:solidFill>
                    <a:srgbClr val="FFFFFF"/>
                  </a:solidFill>
                  <a:latin typeface="Canva Sans"/>
                  <a:ea typeface="Canva Sans"/>
                  <a:cs typeface="Canva Sans"/>
                  <a:sym typeface="Canva Sans"/>
                </a:rPr>
                <a:t>u</a:t>
              </a:r>
              <a:r>
                <a:rPr lang="en-US" sz="1767">
                  <a:solidFill>
                    <a:srgbClr val="FFFFFF"/>
                  </a:solidFill>
                  <a:latin typeface="Canva Sans"/>
                  <a:ea typeface="Canva Sans"/>
                  <a:cs typeface="Canva Sans"/>
                  <a:sym typeface="Canva Sans"/>
                </a:rPr>
                <a:t>p</a:t>
              </a:r>
              <a:r>
                <a:rPr lang="en-US" sz="1767">
                  <a:solidFill>
                    <a:srgbClr val="FFFFFF"/>
                  </a:solidFill>
                  <a:latin typeface="Canva Sans"/>
                  <a:ea typeface="Canva Sans"/>
                  <a:cs typeface="Canva Sans"/>
                  <a:sym typeface="Canva Sans"/>
                </a:rPr>
                <a:t>s</a:t>
              </a:r>
              <a:r>
                <a:rPr lang="en-US" sz="1767">
                  <a:solidFill>
                    <a:srgbClr val="FFFFFF"/>
                  </a:solidFill>
                  <a:latin typeface="Canva Sans"/>
                  <a:ea typeface="Canva Sans"/>
                  <a:cs typeface="Canva Sans"/>
                  <a:sym typeface="Canva Sans"/>
                </a:rPr>
                <a:t> w</a:t>
              </a:r>
              <a:r>
                <a:rPr lang="en-US" sz="1767">
                  <a:solidFill>
                    <a:srgbClr val="FFFFFF"/>
                  </a:solidFill>
                  <a:latin typeface="Canva Sans"/>
                  <a:ea typeface="Canva Sans"/>
                  <a:cs typeface="Canva Sans"/>
                  <a:sym typeface="Canva Sans"/>
                </a:rPr>
                <a:t>i</a:t>
              </a:r>
              <a:r>
                <a:rPr lang="en-US" sz="1767">
                  <a:solidFill>
                    <a:srgbClr val="FFFFFF"/>
                  </a:solidFill>
                  <a:latin typeface="Canva Sans"/>
                  <a:ea typeface="Canva Sans"/>
                  <a:cs typeface="Canva Sans"/>
                  <a:sym typeface="Canva Sans"/>
                </a:rPr>
                <a:t>l</a:t>
              </a:r>
              <a:r>
                <a:rPr lang="en-US" sz="1767">
                  <a:solidFill>
                    <a:srgbClr val="FFFFFF"/>
                  </a:solidFill>
                  <a:latin typeface="Canva Sans"/>
                  <a:ea typeface="Canva Sans"/>
                  <a:cs typeface="Canva Sans"/>
                  <a:sym typeface="Canva Sans"/>
                </a:rPr>
                <a:t>l </a:t>
              </a:r>
              <a:r>
                <a:rPr lang="en-US" sz="1767">
                  <a:solidFill>
                    <a:srgbClr val="FFFFFF"/>
                  </a:solidFill>
                  <a:latin typeface="Canva Sans"/>
                  <a:ea typeface="Canva Sans"/>
                  <a:cs typeface="Canva Sans"/>
                  <a:sym typeface="Canva Sans"/>
                </a:rPr>
                <a:t>di</a:t>
              </a:r>
              <a:r>
                <a:rPr lang="en-US" sz="1767">
                  <a:solidFill>
                    <a:srgbClr val="FFFFFF"/>
                  </a:solidFill>
                  <a:latin typeface="Canva Sans"/>
                  <a:ea typeface="Canva Sans"/>
                  <a:cs typeface="Canva Sans"/>
                  <a:sym typeface="Canva Sans"/>
                </a:rPr>
                <a:t>r</a:t>
              </a:r>
              <a:r>
                <a:rPr lang="en-US" sz="1767">
                  <a:solidFill>
                    <a:srgbClr val="FFFFFF"/>
                  </a:solidFill>
                  <a:latin typeface="Canva Sans"/>
                  <a:ea typeface="Canva Sans"/>
                  <a:cs typeface="Canva Sans"/>
                  <a:sym typeface="Canva Sans"/>
                </a:rPr>
                <a:t>e</a:t>
              </a:r>
              <a:r>
                <a:rPr lang="en-US" sz="1767">
                  <a:solidFill>
                    <a:srgbClr val="FFFFFF"/>
                  </a:solidFill>
                  <a:latin typeface="Canva Sans"/>
                  <a:ea typeface="Canva Sans"/>
                  <a:cs typeface="Canva Sans"/>
                  <a:sym typeface="Canva Sans"/>
                </a:rPr>
                <a:t>ctl</a:t>
              </a:r>
              <a:r>
                <a:rPr lang="en-US" sz="1767">
                  <a:solidFill>
                    <a:srgbClr val="FFFFFF"/>
                  </a:solidFill>
                  <a:latin typeface="Canva Sans"/>
                  <a:ea typeface="Canva Sans"/>
                  <a:cs typeface="Canva Sans"/>
                  <a:sym typeface="Canva Sans"/>
                </a:rPr>
                <a:t>y</a:t>
              </a:r>
              <a:r>
                <a:rPr lang="en-US" sz="1767">
                  <a:solidFill>
                    <a:srgbClr val="FFFFFF"/>
                  </a:solidFill>
                  <a:latin typeface="Canva Sans"/>
                  <a:ea typeface="Canva Sans"/>
                  <a:cs typeface="Canva Sans"/>
                  <a:sym typeface="Canva Sans"/>
                </a:rPr>
                <a:t> </a:t>
              </a:r>
              <a:r>
                <a:rPr lang="en-US" sz="1767">
                  <a:solidFill>
                    <a:srgbClr val="FFFFFF"/>
                  </a:solidFill>
                  <a:latin typeface="Canva Sans"/>
                  <a:ea typeface="Canva Sans"/>
                  <a:cs typeface="Canva Sans"/>
                  <a:sym typeface="Canva Sans"/>
                </a:rPr>
                <a:t>be</a:t>
              </a:r>
              <a:r>
                <a:rPr lang="en-US" sz="1767">
                  <a:solidFill>
                    <a:srgbClr val="FFFFFF"/>
                  </a:solidFill>
                  <a:latin typeface="Canva Sans"/>
                  <a:ea typeface="Canva Sans"/>
                  <a:cs typeface="Canva Sans"/>
                  <a:sym typeface="Canva Sans"/>
                </a:rPr>
                <a:t>n</a:t>
              </a:r>
              <a:r>
                <a:rPr lang="en-US" sz="1767">
                  <a:solidFill>
                    <a:srgbClr val="FFFFFF"/>
                  </a:solidFill>
                  <a:latin typeface="Canva Sans"/>
                  <a:ea typeface="Canva Sans"/>
                  <a:cs typeface="Canva Sans"/>
                  <a:sym typeface="Canva Sans"/>
                </a:rPr>
                <a:t>ef</a:t>
              </a:r>
              <a:r>
                <a:rPr lang="en-US" sz="1767">
                  <a:solidFill>
                    <a:srgbClr val="FFFFFF"/>
                  </a:solidFill>
                  <a:latin typeface="Canva Sans"/>
                  <a:ea typeface="Canva Sans"/>
                  <a:cs typeface="Canva Sans"/>
                  <a:sym typeface="Canva Sans"/>
                </a:rPr>
                <a:t>it</a:t>
              </a:r>
              <a:r>
                <a:rPr lang="en-US" sz="1767">
                  <a:solidFill>
                    <a:srgbClr val="FFFFFF"/>
                  </a:solidFill>
                  <a:latin typeface="Canva Sans"/>
                  <a:ea typeface="Canva Sans"/>
                  <a:cs typeface="Canva Sans"/>
                  <a:sym typeface="Canva Sans"/>
                </a:rPr>
                <a:t> from the NFCampus project:</a:t>
              </a:r>
            </a:p>
            <a:p>
              <a:pPr algn="l" marL="763392" indent="-254464" lvl="2">
                <a:lnSpc>
                  <a:spcPts val="2475"/>
                </a:lnSpc>
                <a:buFont typeface="Arial"/>
                <a:buChar char="⚬"/>
              </a:pPr>
              <a:r>
                <a:rPr lang="en-US" sz="1767">
                  <a:solidFill>
                    <a:srgbClr val="FFFFFF"/>
                  </a:solidFill>
                  <a:latin typeface="Canva Sans"/>
                  <a:ea typeface="Canva Sans"/>
                  <a:cs typeface="Canva Sans"/>
                  <a:sym typeface="Canva Sans"/>
                </a:rPr>
                <a:t>Stu</a:t>
              </a:r>
              <a:r>
                <a:rPr lang="en-US" sz="1767">
                  <a:solidFill>
                    <a:srgbClr val="FFFFFF"/>
                  </a:solidFill>
                  <a:latin typeface="Canva Sans"/>
                  <a:ea typeface="Canva Sans"/>
                  <a:cs typeface="Canva Sans"/>
                  <a:sym typeface="Canva Sans"/>
                </a:rPr>
                <a:t>d</a:t>
              </a:r>
              <a:r>
                <a:rPr lang="en-US" sz="1767">
                  <a:solidFill>
                    <a:srgbClr val="FFFFFF"/>
                  </a:solidFill>
                  <a:latin typeface="Canva Sans"/>
                  <a:ea typeface="Canva Sans"/>
                  <a:cs typeface="Canva Sans"/>
                  <a:sym typeface="Canva Sans"/>
                </a:rPr>
                <a:t>ents</a:t>
              </a:r>
            </a:p>
            <a:p>
              <a:pPr algn="l" marL="763392" indent="-254464" lvl="2">
                <a:lnSpc>
                  <a:spcPts val="2475"/>
                </a:lnSpc>
                <a:buFont typeface="Arial"/>
                <a:buChar char="⚬"/>
              </a:pPr>
              <a:r>
                <a:rPr lang="en-US" sz="1767">
                  <a:solidFill>
                    <a:srgbClr val="FFFFFF"/>
                  </a:solidFill>
                  <a:latin typeface="Canva Sans"/>
                  <a:ea typeface="Canva Sans"/>
                  <a:cs typeface="Canva Sans"/>
                  <a:sym typeface="Canva Sans"/>
                </a:rPr>
                <a:t>The Developer Team and Academic Institution</a:t>
              </a:r>
            </a:p>
            <a:p>
              <a:pPr algn="ctr">
                <a:lnSpc>
                  <a:spcPts val="2475"/>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DAG5kqByvb4</dc:identifier>
  <dcterms:modified xsi:type="dcterms:W3CDTF">2011-08-01T06:04:30Z</dcterms:modified>
  <cp:revision>1</cp:revision>
  <dc:title>CGP Presentation (Video Recording)</dc:title>
</cp:coreProperties>
</file>